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76" r:id="rId7"/>
    <p:sldId id="274" r:id="rId8"/>
    <p:sldId id="275" r:id="rId9"/>
    <p:sldId id="261" r:id="rId10"/>
    <p:sldId id="262" r:id="rId11"/>
    <p:sldId id="263" r:id="rId12"/>
    <p:sldId id="264" r:id="rId13"/>
    <p:sldId id="277" r:id="rId14"/>
    <p:sldId id="278" r:id="rId15"/>
    <p:sldId id="265" r:id="rId16"/>
    <p:sldId id="266" r:id="rId17"/>
    <p:sldId id="267" r:id="rId18"/>
    <p:sldId id="279" r:id="rId19"/>
    <p:sldId id="280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BDB4"/>
    <a:srgbClr val="2384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412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실제 토큰 저장에 쓰인 비율 (%)</c:v>
                </c:pt>
              </c:strCache>
            </c:strRef>
          </c:tx>
          <c:spPr>
            <a:solidFill>
              <a:srgbClr val="CF53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938-004C-84FB-D5FB2A4209C1}"/>
              </c:ext>
            </c:extLst>
          </c:dPt>
          <c:dPt>
            <c:idx val="1"/>
            <c:invertIfNegative val="0"/>
            <c:bubble3D val="0"/>
            <c:spPr>
              <a:solidFill>
                <a:srgbClr val="D98E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938-004C-84FB-D5FB2A4209C1}"/>
              </c:ext>
            </c:extLst>
          </c:dPt>
          <c:dPt>
            <c:idx val="2"/>
            <c:invertIfNegative val="0"/>
            <c:bubble3D val="0"/>
            <c:spPr>
              <a:solidFill>
                <a:srgbClr val="B98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938-004C-84FB-D5FB2A4209C1}"/>
              </c:ext>
            </c:extLst>
          </c:dPt>
          <c:dPt>
            <c:idx val="3"/>
            <c:invertIfNegative val="0"/>
            <c:bubble3D val="0"/>
            <c:spPr>
              <a:solidFill>
                <a:srgbClr val="2E9E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938-004C-84FB-D5FB2A4209C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A1F2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Orca (Max)</c:v>
                </c:pt>
                <c:pt idx="1">
                  <c:v>Orca (Pow2)</c:v>
                </c:pt>
                <c:pt idx="2">
                  <c:v>Orca (Oracle)</c:v>
                </c:pt>
                <c:pt idx="3">
                  <c:v>vLLM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20.399999999999999</c:v>
                </c:pt>
                <c:pt idx="1">
                  <c:v>38.200000000000003</c:v>
                </c:pt>
                <c:pt idx="2">
                  <c:v>26.8</c:v>
                </c:pt>
                <c:pt idx="3">
                  <c:v>96.3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938-004C-84FB-D5FB2A4209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E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동시 배치 요청 수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346-3C44-A118-15EE67CD35BE}"/>
              </c:ext>
            </c:extLst>
          </c:dPt>
          <c:dPt>
            <c:idx val="1"/>
            <c:invertIfNegative val="0"/>
            <c:bubble3D val="0"/>
            <c:spPr>
              <a:solidFill>
                <a:srgbClr val="B98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346-3C44-A118-15EE67CD35BE}"/>
              </c:ext>
            </c:extLst>
          </c:dPt>
          <c:dPt>
            <c:idx val="2"/>
            <c:invertIfNegative val="0"/>
            <c:bubble3D val="0"/>
            <c:spPr>
              <a:solidFill>
                <a:srgbClr val="2E9E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346-3C44-A118-15EE67CD35BE}"/>
              </c:ext>
            </c:extLst>
          </c:dPt>
          <c:dLbls>
            <c:numFmt formatCode="0.0&quot;개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A1F2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Orca (Max)</c:v>
                </c:pt>
                <c:pt idx="1">
                  <c:v>Orca (Oracle)</c:v>
                </c:pt>
                <c:pt idx="2">
                  <c:v>vLLM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10.5</c:v>
                </c:pt>
                <c:pt idx="2">
                  <c:v>30.4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346-3C44-A118-15EE67CD35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"/>
          <c:min val="0"/>
        </c:scaling>
        <c:delete val="0"/>
        <c:axPos val="l"/>
        <c:majorGridlines>
          <c:spPr>
            <a:ln w="12700" cap="flat">
              <a:solidFill>
                <a:srgbClr val="EE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73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[0:00-0:20]
인사 + 논문 소개. SOSP는 운영체제 분야 최고 학회 중 하나라는 점을 한 번 짚어주면, '왜 OS 아이디어가 나오는지'가 뒤에서 자연스러워진다.
한 줄 요약을 먼저 던지고 시작: 'OS 수업에서 배운 페이징을 LLM 서빙 메모리에 그대로 갖다 붙였더니 처리량이 2~4배가 됐다.'
이 문장이 오늘 발표를 관통하는 축이라고 예고할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[0:20-1:30]
숫자 세 개만 남기면 된다. 배경지식 없는 사람도 '아 낭비구나'까지는 여기서 따라온다.
- 7~8개: A100 40GB에 13B 모델을 올리면 파라미터가 26GB, 남는 12GB가 KV 캐시용. 요청 하나가 최대 1.6GB를 먹으니 7~8개.
- 20.4%: 그 12GB조차 실제 토큰 저장에 쓰이는 건 5분의 1 (논문 Figure 2).
- 96.3%: vLLM의 수치. 결론을 미리 보여주고 '어떻게?'로 끌고 간다.
마지막 줄을 소리내서 읽고 다음 장으로.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[1:30-2:20]
예시 문장으로 흐름만 보여준다. '서울의 수도는'까지는 한꺼번에(prefill), 그 뒤는 한 글자씩(decode).
Prefill/Decode 구분은 여기서는 한 줄만 깔고 넘어간다. 대신 마지막 파트(후속 연구)에서 이게 다시 나온다고 예고해두면 회수될 때 청중이 좋아한다.
맨 아래 문장이 이 장의 전부. 이것만 남기면 다음 장이 자동으로 이해된다.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[2:20-3:00]
왼쪽 그림(논문 Figure 1)이 이 장의 전부. 26GB는 상수, 우리가 만질 수 있는 건 12GB짜리 KV 캐시 한 칸뿐이다.
오른쪽 나눗셈을 손가락으로 짚으면서 읽어준다 — 12GB를 1.6GB로 나누면 7~8개. 2번 슬라이드에서 던진 숫자의 출처가 여기다.
즉 'KV 캐시를 절반으로 아끼면 처리량이 두 배'라는 구조. 이 등식을 청중 머리에 박고 다음 장으로.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[3:00-3:40]
이 장의 이야기는 딱 하나: '연속(contiguous)'이라는 전제가 범인이다.
왼쪽 — 지금까지 딥러닝 추론은 텐서 모양이 실행 전에 다 정해져 있었다. 그래서 PyTorch가 요구하는 연속 할당이 아무 문제가 안 됐다.
오른쪽 — LLM 디코딩만 예외다. 출력 길이를 모르니까, 연속을 유지하려면 최대치를 미리 잡는 것 말고 방법이 없다.
즉 기존 시스템이 멍청해서가 아니라, 프레임워크의 전제 때문에 강제된 선택이었다는 점을 짚어주면 다음 장이 훨씬 설득력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DCDC-6399-4F52-5DF5-4BFE8A81F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B46BB-7F34-668E-9FFE-F3067E838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336D8-7C89-627A-D322-C12D730B6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[3:00-3:40]
이 장의 이야기는 딱 하나: '연속(contiguous)'이라는 전제가 범인이다.
왼쪽 — 지금까지 딥러닝 추론은 텐서 모양이 실행 전에 다 정해져 있었다. 그래서 PyTorch가 요구하는 연속 할당이 아무 문제가 안 됐다.
오른쪽 — LLM 디코딩만 예외다. 출력 길이를 모르니까, 연속을 유지하려면 최대치를 미리 잡는 것 말고 방법이 없다.
즉 기존 시스템이 멍청해서가 아니라, 프레임워크의 전제 때문에 강제된 선택이었다는 점을 짚어주면 다음 장이 훨씬 설득력 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C8706-D958-F6EF-567E-19AB50F645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45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00028-2653-98B8-56CB-36BF589BD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BE69F-2FBA-F90D-461F-A1B321ACC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65D23-500B-13DB-C921-47D576759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[3:00-3:40]
이 장의 이야기는 딱 하나: '연속(contiguous)'이라는 전제가 범인이다.
왼쪽 — 지금까지 딥러닝 추론은 텐서 모양이 실행 전에 다 정해져 있었다. 그래서 PyTorch가 요구하는 연속 할당이 아무 문제가 안 됐다.
오른쪽 — LLM 디코딩만 예외다. 출력 길이를 모르니까, 연속을 유지하려면 최대치를 미리 잡는 것 말고 방법이 없다.
즉 기존 시스템이 멍청해서가 아니라, 프레임워크의 전제 때문에 강제된 선택이었다는 점을 짚어주면 다음 장이 훨씬 설득력 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BB7B3-453A-3BDB-F557-DD1BAC3A18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37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A0DB5-A8B5-2726-84AE-35CB5E988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F3717-BE4E-0EB4-8AEC-36149BBE1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54127-0291-EFDA-342E-B3E816526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[3:00-3:40]
이 장의 이야기는 딱 하나: '연속(contiguous)'이라는 전제가 범인이다.
왼쪽 — 지금까지 딥러닝 추론은 텐서 모양이 실행 전에 다 정해져 있었다. 그래서 PyTorch가 요구하는 연속 할당이 아무 문제가 안 됐다.
오른쪽 — LLM 디코딩만 예외다. 출력 길이를 모르니까, 연속을 유지하려면 최대치를 미리 잡는 것 말고 방법이 없다.
즉 기존 시스템이 멍청해서가 아니라, 프레임워크의 전제 때문에 강제된 선택이었다는 점을 짚어주면 다음 장이 훨씬 설득력 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8B192-E129-F6ED-3A34-F2B5090635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2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[3:40-4:30]
논문의 심장. 이 그림 하나만 이해시키면 나머지는 다 따라온다.
요청 A는 최대 2048토큰까지 갈 수 있으니 2048칸을 통째로 예약한다. 지금 실제로 쓰는 건 8칸.
요청 B는 최대치가 512라 더 짧게 잡는다 → 요청마다 예약 크기가 달라서 사이사이 자투리가 남는다.
비율은 과장해서 그렸다고 한마디 해줄 것. 실제로는 훨씬 더 심하다.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[4:30-5:10]
맨 위 막대가 이 장의 그림. 기존 시스템 메모리를 성분별로 쪼개면 실제 사용은 20%뿐.
이름은 헷갈리니까 한국어 한 마디로 붙여서 설명한다 — 미리 잡아뒀다 / 안이 비었다 / 사이가 비었다.
여기서 시간 끌지 말 것. 각 20초씩.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[5:10-5:40]
차트 한 장. 특히 Oracle(출력 길이를 미리 안다고 가정한 이론적 최선)이 26.8%밖에 안 된다는 점을 강조.
즉 '길이를 잘 예측하자'는 방향으로는 답이 안 나온다 → 메모리를 잡는 방식 자체를 바꿔야 한다. 이게 다음 파트로 넘어가는 논리.
vLLM 96.3%은 여기서 결과만 보여주고, 어떻게 했는지는 바로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[5:40-6:20]
발표 전체의 하이라이트. 여기서 톤을 한 번 올린다.
OS가 겪은 문제와 지금 문제가 완전히 같다는 걸 먼저 말하고(크기를 모르는 것들 + 연속 배치 요구 = 단편화), 표를 한 줄씩 읽어준다.
'프로세스가 자기 메모리를 연속이라고 믿지만 물리적으로는 흩어져 있다' — 이 한 문장이 다음 장 그림의 예고편.
표를 다 읽고 나서 마지막 줄을 천천히.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54074-E5A8-F14E-9D17-9C0789C74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BC40E-317C-B847-AC13-4A4EC87B1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4E885-6F1D-D12F-06DC-98C916BA1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[5:40-6:20]
발표 전체의 하이라이트. 여기서 톤을 한 번 올린다.
OS가 겪은 문제와 지금 문제가 완전히 같다는 걸 먼저 말하고(크기를 모르는 것들 + 연속 배치 요구 = 단편화), 표를 한 줄씩 읽어준다.
'프로세스가 자기 메모리를 연속이라고 믿지만 물리적으로는 흩어져 있다' — 이 한 문장이 다음 장 그림의 예고편.
표를 다 읽고 나서 마지막 줄을 천천히.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03647-19B7-AC22-38A9-74A50AACB0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3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1F2D2-C16B-E59B-67A2-E5594165F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A1515-2A28-F04C-F080-A046804D8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B6A0F-B01D-B291-C3B3-BC4664EE9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[5:40-6:20]
발표 전체의 하이라이트. 여기서 톤을 한 번 올린다.
OS가 겪은 문제와 지금 문제가 완전히 같다는 걸 먼저 말하고(크기를 모르는 것들 + 연속 배치 요구 = 단편화), 표를 한 줄씩 읽어준다.
'프로세스가 자기 메모리를 연속이라고 믿지만 물리적으로는 흩어져 있다' — 이 한 문장이 다음 장 그림의 예고편.
표를 다 읽고 나서 마지막 줄을 천천히.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A0866-F0EA-08CB-E59D-DDE962103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233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[6:20-7:10]
이 장의 그림이 논문 전체에서 가장 중요한 그림이다.
위: 요청 A는 자기 KV가 블록 0-1-2로 쭉 이어져 있다고 믿는다.
아래: 실제로는 물리 메모리 7번, 1번, 3번에 흩어져 있다. 순서도 뒤죽박죽.
그래도 아무 문제가 없다 — 블록 테이블이 매핑을 들고 있으니까. OS의 페이지 테이블과 완전히 같은 역할.
질문 대비: attention 계산은 블록 단위로 쪼개서 하고, 수학적으로 결과가 완전히 동일하다(논문 Eq.4). 정확도 손해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[7:10-7:50]
말로 설명하면 안 들어오고, 이 3단계를 손으로 짚으면 바로 이해된다.
②가 핵심 — 새 토큰이 생겼는데 새 블록을 안 잡는다. 블록 테이블의 '채워진 수'만 3에서 4로 바뀐다.
③에서야 비로소 블록 하나를 더 잡는다. 이게 on-demand 할당.
그래서 낭비가 '마지막 블록 하나 안쪽'으로 갇힌다 →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[7:50-8:20]
위아래 막대 두 개를 나란히 보여주는 게 전부. 20.4% → 96.3%.
아래 세 칸은 '왜 사라졌는지'를 한 단어씩. 특히 Internal이 '최대 15슬롯'으로 갇힌다는 게 블록 크기 16의 의미다.
여기까지가 논문의 본론. 다음은 보너스.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3A859-E017-0DEF-5942-3257B47E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1C8FC-16AE-8F21-9D07-193CA8611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026AD-62A8-5841-EF45-7E0533563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[7:50-8:20]
위아래 막대 두 개를 나란히 보여주는 게 전부. 20.4% → 96.3%.
아래 세 칸은 '왜 사라졌는지'를 한 단어씩. 특히 Internal이 '최대 15슬롯'으로 갇힌다는 게 블록 크기 16의 의미다.
여기까지가 논문의 본론. 다음은 보너스.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09390-A355-A587-C946-A319806E3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89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E2EDB-CAEF-77FE-DED5-24FAD960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C46DE-EA89-68A9-6403-BFAD57A64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CE520-5089-5ED2-67F2-C87F53963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[7:50-8:20]
위아래 막대 두 개를 나란히 보여주는 게 전부. 20.4% → 96.3%.
아래 세 칸은 '왜 사라졌는지'를 한 단어씩. 특히 Internal이 '최대 15슬롯'으로 갇힌다는 게 블록 크기 16의 의미다.
여기까지가 논문의 본론. 다음은 보너스.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E7BD0-3620-852F-DEEC-8C1D053A4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142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[8:20-9:10]
왼쪽 그림 한 장으로 설명한다. 같은 프롬프트로 여러 답을 만들 때(코드 자동완성처럼), 프롬프트 부분 KV는 하나만 있으면 된다.
기존 시스템은 출력 개수만큼 프롬프트 KV를 통째로 복사했다.
Copy-on-Write는 OS fork와 같다고만 말하고 넘어갈 것. 자세히 들어가면 시간 잡아먹는다.
Shared prefix는 지금 실제 서비스에서 제일 많이 쓰이는 형태라 뒤(후속 연구)에서 다시 나온다고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[9:10-9:50]
차트 하나 + 배수 세 개. 여기서 Figure를 여러 개 띄우지 말 것.
말할 것: '메모리를 아낀다'는 게 왜 '빨라진다'가 되는지의 연결고리 — 같은 GPU에 더 많은 요청을 동시에 올릴 수 있으니까.
Oracle 대비 1.7~2.7배라는 게 특히 의미 있다. 출력 길이를 미리 아는 이상적인 시스템보다도 빠르다.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[9:50-10:30]
이 장이 발표를 '요약'이 아니라 '리뷰'로 만들어준다. 논문의 좋은 점만 나열하지 않았다는 신호.
왼쪽 → 오른쪽 순서로 읽고, 마지막 줄을 강조. 국소 최적이 아니라 전체 최적을 봤다는 게 이 논문의 태도.
질문 대비: 블록 크기 16이 균형점인 이유 — 작으면 GPU 병렬성을 못 살리고 블록 수가 폭증, 크면 internal fragmentation이 되살아난다.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[10:30-11:40]
여기가 '논문 요약'과 '논문 리뷰'를 가르는 파트다. 여섯 칸을 다 읽지 말고, 지도를 보여준다는 느낌으로.
①만 조금 자세히: PagedAttention은 표준이 됐지만 반론도 있다. vAttention(MSR)은 'attention 커널을 전부 새로 짜게 만든 게 부채다'라고 지적하고, CUDA 가상 메모리 API로 가상 주소는 연속으로 두고 물리 페이지만 붙이는 방식을 제안한다. 커널을 안 고쳐도 된다는 게 장점. vLLM에 이슈는 올라와 있지만 기본 채택은 아직 아니다.
②③④는 이름만 짚고 넘어가고, ⑤⑥은 '이런 축도 있다' 정도로.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[11:40-12:40]
스택 그림 한 장. 아래에서 위로 읽으면서, 논문이 차지하는 칸(주황)을 손으로 짚는다.
메시지는 두 개: (1) 지금은 paged KV cache가 '논쟁거리'가 아니라 '전제'다. (2) 그 위에 캐시 재사용, P/D 분리 같은 층이 새로 얹혔다.
오른쪽 박스가 이 발표에서 가장 비평적인 부분 — 논문은 throughput을 최대화했지만, 실제 서비스는 TTFT/TPOT SLO로 평가한다. 배치를 키우는 전략은 지연시간을 희생하는 방향이라서, 그걸 되돌리려고 chunked prefill과 P/D 분리가 나왔다는 흐름.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[12:40-13:00] 그리고 Q&amp;A
한 줄 정리를 읽고, 아래 '남는 질문'은 토론을 열어두는 용도로 던진다.
예상 질문 준비:
1) 블록 크기 16은 왜? → 작으면 GPU 병렬성 손해 + 블록 수 폭증, 크면 internal fragmentation 부활. 균형점(논문 7.2).
2) 메모리가 부족하면? → FCFS로 처리하다 부족하면 가장 늦게 온 요청을 선점. KV 캐시는 CPU로 스왑하거나(swapping) 버리고 나중에 재계산(recomputation). 블록이 작으면 재계산이, 크면 스와핑이 유리하고 기본값 16에서는 비슷하다.
3) 블록 테이블 조회 오버헤드는? → 커널 20~26% 지연, 배치 이득이 압도(슬라이드 15).
4) 정확도 손해는? → 없다. 계산 순서만 바뀌고 결과값이 수학적으로 동일(논문 Eq.4).
5) 여러 GPU에서는? → 중앙 스케줄러가 블록 테이블 하나를 관리하고 모든 워커가 같은 매핑을 공유. 워커는 attention head 일부만 담당하므로 KV의 일부만 저장.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481328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339328" y="1481328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860536" y="1481328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381744" y="1481328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902952" y="1481328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24160" y="1481328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818120" y="2002536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339328" y="2002536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860536" y="2002536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381744" y="2002536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902952" y="2002536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424160" y="2002536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818120" y="2523744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339328" y="2523744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860536" y="2523744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381744" y="2523744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902952" y="2523744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424160" y="2523744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818120" y="3044952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339328" y="3044952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860536" y="3044952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381744" y="3044952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902952" y="3044952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424160" y="3044952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818120" y="3566160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339328" y="3566160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860536" y="3566160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381744" y="3566160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02952" y="3566160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424160" y="3566160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640080" y="15727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SOSP 2023  ·  PAPER REVIEW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1956816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</a:t>
            </a:r>
            <a:endParaRPr lang="en-US" sz="5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2852928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Memory Management for Large Language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Serving with PagedAttention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76732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운영체제의 페이징을 KV 캐시에 그대로 적용해서, 같은 GPU로 2~4배</a:t>
            </a:r>
            <a:r>
              <a:rPr lang="ko-KR" altLang="en-US" sz="1400" i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400" i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315968"/>
            <a:ext cx="1371600" cy="18288"/>
          </a:xfrm>
          <a:prstGeom prst="rect">
            <a:avLst/>
          </a:prstGeom>
          <a:solidFill>
            <a:srgbClr val="3A4356"/>
          </a:solidFill>
          <a:ln w="12700">
            <a:solidFill>
              <a:srgbClr val="3A43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640080" y="451713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Woosuk Kwon et al.  (UC Berkeley, Stanford)  ·  arXiv:2309.06180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CUAI</a:t>
            </a:r>
            <a:r>
              <a:rPr lang="ko-KR" altLang="en-US" sz="13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3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r>
              <a:rPr lang="ko-KR" altLang="en-US" sz="13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 이정우 </a:t>
            </a:r>
            <a:r>
              <a:rPr lang="en-US" sz="13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2026.09.08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논문인가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GPU는 비싸다. 그런데 그 비싼 메모리를 버리고 있었다.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GPU로 더 많은 요청을 처리한다 = 그대로 비용이 줄어든다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84248"/>
            <a:ext cx="3442076" cy="3108960"/>
          </a:xfrm>
          <a:prstGeom prst="roundRect">
            <a:avLst>
              <a:gd name="adj" fmla="val 1765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50976" y="2331720"/>
            <a:ext cx="28202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7~8개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3291840"/>
            <a:ext cx="2820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 40GB에서 13B 모델이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동시에 처리하던 요청 수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4160520"/>
            <a:ext cx="2820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26GB를 빼면 KV 캐시용은 12GB뿐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4764" y="1984248"/>
            <a:ext cx="3442076" cy="3108960"/>
          </a:xfrm>
          <a:prstGeom prst="roundRect">
            <a:avLst>
              <a:gd name="adj" fmla="val 1765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685660" y="2331720"/>
            <a:ext cx="28202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85660" y="3291840"/>
            <a:ext cx="2820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메모리 중 실제로 토큰을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저장하는 데 쓰이던 비율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85660" y="4160520"/>
            <a:ext cx="2820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79.6%는 그냥 낭비 (Orca-Max)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9448" y="1984248"/>
            <a:ext cx="3442076" cy="3108960"/>
          </a:xfrm>
          <a:prstGeom prst="roundRect">
            <a:avLst>
              <a:gd name="adj" fmla="val 1765"/>
            </a:avLst>
          </a:prstGeom>
          <a:solidFill>
            <a:srgbClr val="F0F8F7"/>
          </a:solidFill>
          <a:ln w="12700">
            <a:solidFill>
              <a:srgbClr val="C7E4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420344" y="2331720"/>
            <a:ext cx="28202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96.3%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420344" y="3291840"/>
            <a:ext cx="2820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vLLM이 끌어올린 비율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오늘 발표의 결론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20344" y="4160520"/>
            <a:ext cx="2820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처리량 2~4배의 정체가 이것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005840" y="539496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하나로 시작합니다.  </a:t>
            </a:r>
            <a:r>
              <a:rPr lang="en-US" sz="17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80%는 대체 어디로 갔을까?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①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LLM은 글자를 하나씩, 앞을 계속 다시 보면서 만든다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자기회귀(Autoregressive) 생성 — 만든 결과를 입력에 도로 </a:t>
            </a:r>
            <a:r>
              <a:rPr lang="en-US" sz="1400" dirty="0" err="1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붙여가며</a:t>
            </a: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서울의 수도는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874520"/>
            <a:ext cx="347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62072" y="187452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2700">
            <a:solidFill>
              <a:srgbClr val="F0DC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862072" y="18745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1874520"/>
            <a:ext cx="347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43984" y="187452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2700">
            <a:solidFill>
              <a:srgbClr val="F0DC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443984" y="18745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입니다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1874520"/>
            <a:ext cx="347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17336" y="18745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2700">
            <a:solidFill>
              <a:srgbClr val="F0DC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117336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94576" y="1874520"/>
            <a:ext cx="347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42048" y="1874520"/>
            <a:ext cx="960120" cy="77724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242048" y="18745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697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입력(프롬프트)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49640" y="1874520"/>
            <a:ext cx="3001975" cy="77724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8823960" y="1874520"/>
            <a:ext cx="2453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1번  →  decode N번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서비스 시간의 대부분은 decode에서 쓰인다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862072" y="2697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번에 하나씩 생성 — 매번 앞 전체를 다시 참조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200400"/>
            <a:ext cx="5286604" cy="1874520"/>
          </a:xfrm>
          <a:prstGeom prst="roundRect">
            <a:avLst>
              <a:gd name="adj" fmla="val 2927"/>
            </a:avLst>
          </a:prstGeom>
          <a:solidFill>
            <a:srgbClr val="F0F8F7"/>
          </a:solidFill>
          <a:ln w="12700">
            <a:solidFill>
              <a:srgbClr val="C7E4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950976" y="34381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" y="3913632"/>
            <a:ext cx="4664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전체를 한 번에 처리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0976" y="4334256"/>
            <a:ext cx="46648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행렬 × 행렬 연산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연산 능력(FLOPS)이 병목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65012" y="3200400"/>
            <a:ext cx="5286604" cy="1874520"/>
          </a:xfrm>
          <a:prstGeom prst="roundRect">
            <a:avLst>
              <a:gd name="adj" fmla="val 2927"/>
            </a:avLst>
          </a:prstGeom>
          <a:solidFill>
            <a:srgbClr val="FDF6EA"/>
          </a:solidFill>
          <a:ln w="12700">
            <a:solidFill>
              <a:srgbClr val="F0DC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6575908" y="34381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575908" y="3913632"/>
            <a:ext cx="4664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토큰을 하나씩 생성 (반복)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75908" y="4334256"/>
            <a:ext cx="46648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행렬 × 벡터 연산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메모리 대역폭이 병목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005840" y="539496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여기서 딱 하나만 기억: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토큰 하나를 만들 때마다, 앞에 나온 모든 토큰의 Key와 Value가 필요하다.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②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메모리에서 우리가 손댈 수 있는 건 KV 캐시뿐이다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파라미터는 고정이고 activation은 금방 버린다 — 남는 변수는 하나다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56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 40GB · OPT-13B 서빙 시 GPU 메모리 구성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203704"/>
            <a:ext cx="3519938" cy="1691640"/>
          </a:xfrm>
          <a:prstGeom prst="rect">
            <a:avLst/>
          </a:prstGeom>
          <a:solidFill>
            <a:srgbClr val="1E2534"/>
          </a:solidFill>
          <a:ln w="12700">
            <a:solidFill>
              <a:srgbClr val="1E25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932688" y="2203704"/>
            <a:ext cx="4443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파라미터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26GB · 65%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130552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— 건드릴 수 없음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950208"/>
            <a:ext cx="3519938" cy="9144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32688" y="3950208"/>
            <a:ext cx="4443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캐시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12GB · 30%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877056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요청마다 동적으로 할당 / 해제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919472"/>
            <a:ext cx="3519938" cy="310896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932688" y="4919472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 (Activations)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0" y="2203704"/>
            <a:ext cx="3322015" cy="2971800"/>
          </a:xfrm>
          <a:prstGeom prst="roundRect">
            <a:avLst>
              <a:gd name="adj" fmla="val 1846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595360" y="2441448"/>
            <a:ext cx="2590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12GB가 곧 처리량이다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788920"/>
            <a:ext cx="25904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12GB</a:t>
            </a:r>
            <a:endParaRPr lang="en-US" sz="3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캐시로 쓸 수 있는 공간</a:t>
            </a:r>
            <a:endParaRPr lang="en-US" sz="3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3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 1.6GB</a:t>
            </a:r>
            <a:endParaRPr lang="en-US" sz="3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하나가 최대로 먹는 양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595360" y="4361688"/>
            <a:ext cx="2590495" cy="18288"/>
          </a:xfrm>
          <a:prstGeom prst="rect">
            <a:avLst/>
          </a:prstGeom>
          <a:solidFill>
            <a:srgbClr val="3A4356"/>
          </a:solidFill>
          <a:ln w="12700">
            <a:solidFill>
              <a:srgbClr val="3A43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8595360" y="4453128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동시에 7~8개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005840" y="539496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캐시를 어떻게 </a:t>
            </a: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아낄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것인가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③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r>
              <a:rPr lang="ko-KR" alt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에서는 기존의 “연속 </a:t>
            </a:r>
            <a:r>
              <a:rPr lang="ko-KR" altLang="en-US" sz="300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할당”이</a:t>
            </a:r>
            <a:r>
              <a:rPr lang="ko-KR" alt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통하지 않음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프레임워크는 텐서를 연속된 메모리에 둔다 — 지금까지는 그게 당연했다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75D91-80CB-18BD-F93D-40E33D0B0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EE0009-BB57-4765-5D00-C475C897EB17}"/>
              </a:ext>
            </a:extLst>
          </p:cNvPr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763A4B-EDC1-192E-716E-B04F6712628C}"/>
              </a:ext>
            </a:extLst>
          </p:cNvPr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③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562B872-18C0-A553-E74F-A2D2B741A873}"/>
              </a:ext>
            </a:extLst>
          </p:cNvPr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LLM에서는</a:t>
            </a:r>
            <a:r>
              <a:rPr lang="ko-KR" alt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기존의 </a:t>
            </a:r>
            <a:r>
              <a:rPr lang="en-US" altLang="ko-KR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300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</a:t>
            </a: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</a:t>
            </a:r>
            <a:r>
              <a:rPr lang="en-US" altLang="ko-KR" sz="300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r>
              <a:rPr lang="en-US" sz="300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</a:t>
            </a: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통하지</a:t>
            </a: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않음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0CAAADE-CD03-A2D6-F276-CC8DC0D5BC84}"/>
              </a:ext>
            </a:extLst>
          </p:cNvPr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프레임워크는 텐서를 연속된 메모리에 둔다 — 지금까지는 그게 당연했다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C28B56F-62CB-4247-812D-BC9DC7803136}"/>
              </a:ext>
            </a:extLst>
          </p:cNvPr>
          <p:cNvSpPr/>
          <p:nvPr/>
        </p:nvSpPr>
        <p:spPr>
          <a:xfrm>
            <a:off x="640080" y="1874520"/>
            <a:ext cx="5286604" cy="2834640"/>
          </a:xfrm>
          <a:prstGeom prst="roundRect">
            <a:avLst>
              <a:gd name="adj" fmla="val 1935"/>
            </a:avLst>
          </a:prstGeom>
          <a:solidFill>
            <a:srgbClr val="F0F8F7"/>
          </a:solidFill>
          <a:ln w="12700">
            <a:solidFill>
              <a:srgbClr val="C7E4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E588C7-1EDA-1659-F9C9-0528FF1E555C}"/>
              </a:ext>
            </a:extLst>
          </p:cNvPr>
          <p:cNvSpPr txBox="1"/>
          <p:nvPr/>
        </p:nvSpPr>
        <p:spPr>
          <a:xfrm>
            <a:off x="969264" y="2112264"/>
            <a:ext cx="4628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지금까지의 딥러닝 추론</a:t>
            </a:r>
            <a:endParaRPr lang="en-US" sz="11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069C02-A7A2-3582-02C7-2D4549628587}"/>
              </a:ext>
            </a:extLst>
          </p:cNvPr>
          <p:cNvSpPr txBox="1"/>
          <p:nvPr/>
        </p:nvSpPr>
        <p:spPr>
          <a:xfrm>
            <a:off x="969264" y="2441448"/>
            <a:ext cx="4628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크기를 미리 안다</a:t>
            </a:r>
            <a:endParaRPr lang="en-US" sz="2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CF8A7B6-2F2A-5899-A477-3356F705A354}"/>
              </a:ext>
            </a:extLst>
          </p:cNvPr>
          <p:cNvSpPr/>
          <p:nvPr/>
        </p:nvSpPr>
        <p:spPr>
          <a:xfrm>
            <a:off x="969264" y="3008376"/>
            <a:ext cx="4628236" cy="457200"/>
          </a:xfrm>
          <a:prstGeom prst="rect">
            <a:avLst/>
          </a:prstGeom>
          <a:solidFill>
            <a:srgbClr val="2E9E96"/>
          </a:solidFill>
          <a:ln w="12700">
            <a:solidFill>
              <a:srgbClr val="2E9E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A87AFD6-CF94-ABD4-259E-2A1592E1B454}"/>
              </a:ext>
            </a:extLst>
          </p:cNvPr>
          <p:cNvSpPr txBox="1"/>
          <p:nvPr/>
        </p:nvSpPr>
        <p:spPr>
          <a:xfrm>
            <a:off x="969264" y="3008376"/>
            <a:ext cx="4628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만큼 = 잡은 만큼</a:t>
            </a:r>
            <a:endParaRPr lang="en-US" sz="11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970B630-A511-3124-D9A5-B860A8D0D1BF}"/>
              </a:ext>
            </a:extLst>
          </p:cNvPr>
          <p:cNvSpPr txBox="1"/>
          <p:nvPr/>
        </p:nvSpPr>
        <p:spPr>
          <a:xfrm>
            <a:off x="969264" y="3721608"/>
            <a:ext cx="4628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분류처럼 입력·출력 텐서 모양이 실행 전에 정해진다.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1259E6E-66A3-2042-03FC-DBB602DD71FB}"/>
              </a:ext>
            </a:extLst>
          </p:cNvPr>
          <p:cNvSpPr txBox="1"/>
          <p:nvPr/>
        </p:nvSpPr>
        <p:spPr>
          <a:xfrm>
            <a:off x="969264" y="4160520"/>
            <a:ext cx="4628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딱 맞게 연속으로 잡으면 끝. 낭비가 생길 자리가 없다.</a:t>
            </a:r>
            <a:endParaRPr lang="en-US" sz="13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9C80795-3719-DCE3-B255-E90931E50CE7}"/>
              </a:ext>
            </a:extLst>
          </p:cNvPr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97369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B8275-E505-C657-57A6-2547890D1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C400C1-28AD-4D08-F7F8-43B5E4EBAF4F}"/>
              </a:ext>
            </a:extLst>
          </p:cNvPr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09FA21-0632-8F9E-B789-802D7707DBC4}"/>
              </a:ext>
            </a:extLst>
          </p:cNvPr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③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D44F3C-AEDB-C3E6-A32B-0A99E147CC8D}"/>
              </a:ext>
            </a:extLst>
          </p:cNvPr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r>
              <a:rPr lang="ko-KR" alt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에서는 기존의 “연속 </a:t>
            </a:r>
            <a:r>
              <a:rPr lang="ko-KR" altLang="en-US" sz="300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할당”이</a:t>
            </a:r>
            <a:r>
              <a:rPr lang="ko-KR" alt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통하지 않음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8785B1-E1C4-D3C4-30D5-EE9390D6190B}"/>
              </a:ext>
            </a:extLst>
          </p:cNvPr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프레임워크는 텐서를 연속된 메모리에 둔다 — 지금까지는 그게 당연했다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B0AABCE-23F6-85D4-D6E7-AA1DAA999698}"/>
              </a:ext>
            </a:extLst>
          </p:cNvPr>
          <p:cNvSpPr/>
          <p:nvPr/>
        </p:nvSpPr>
        <p:spPr>
          <a:xfrm>
            <a:off x="640080" y="1874520"/>
            <a:ext cx="5286604" cy="2834640"/>
          </a:xfrm>
          <a:prstGeom prst="roundRect">
            <a:avLst>
              <a:gd name="adj" fmla="val 1935"/>
            </a:avLst>
          </a:prstGeom>
          <a:solidFill>
            <a:srgbClr val="F0F8F7"/>
          </a:solidFill>
          <a:ln w="12700">
            <a:solidFill>
              <a:srgbClr val="C7E4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ADE2E2-DD08-5FF7-AC1C-485A0E0F8CD5}"/>
              </a:ext>
            </a:extLst>
          </p:cNvPr>
          <p:cNvSpPr txBox="1"/>
          <p:nvPr/>
        </p:nvSpPr>
        <p:spPr>
          <a:xfrm>
            <a:off x="969264" y="2112264"/>
            <a:ext cx="4628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지금까지의 딥러닝 추론</a:t>
            </a:r>
            <a:endParaRPr lang="en-US" sz="11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6D8124D-9E47-308C-06BE-0DBEE6AB02F8}"/>
              </a:ext>
            </a:extLst>
          </p:cNvPr>
          <p:cNvSpPr txBox="1"/>
          <p:nvPr/>
        </p:nvSpPr>
        <p:spPr>
          <a:xfrm>
            <a:off x="969264" y="2441448"/>
            <a:ext cx="4628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크기를 미리 안다</a:t>
            </a:r>
            <a:endParaRPr lang="en-US" sz="2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32D59F3-31A7-90E5-73E4-B209DED62636}"/>
              </a:ext>
            </a:extLst>
          </p:cNvPr>
          <p:cNvSpPr/>
          <p:nvPr/>
        </p:nvSpPr>
        <p:spPr>
          <a:xfrm>
            <a:off x="969264" y="3008376"/>
            <a:ext cx="4628236" cy="457200"/>
          </a:xfrm>
          <a:prstGeom prst="rect">
            <a:avLst/>
          </a:prstGeom>
          <a:solidFill>
            <a:srgbClr val="2E9E96"/>
          </a:solidFill>
          <a:ln w="12700">
            <a:solidFill>
              <a:srgbClr val="2E9E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27DDC5-4EA2-7FD0-6AAC-24BB0D449AC9}"/>
              </a:ext>
            </a:extLst>
          </p:cNvPr>
          <p:cNvSpPr txBox="1"/>
          <p:nvPr/>
        </p:nvSpPr>
        <p:spPr>
          <a:xfrm>
            <a:off x="969264" y="3008376"/>
            <a:ext cx="4628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만큼 = 잡은 만큼</a:t>
            </a:r>
            <a:endParaRPr lang="en-US" sz="11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957D4D-1C40-149A-EFA9-03DD3EAB097E}"/>
              </a:ext>
            </a:extLst>
          </p:cNvPr>
          <p:cNvSpPr txBox="1"/>
          <p:nvPr/>
        </p:nvSpPr>
        <p:spPr>
          <a:xfrm>
            <a:off x="969264" y="3721608"/>
            <a:ext cx="4628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분류처럼 입력·출력 텐서 모양이 실행 전에 정해진다.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903934F-55D1-CEDA-65D2-4F86A66DE3B7}"/>
              </a:ext>
            </a:extLst>
          </p:cNvPr>
          <p:cNvSpPr txBox="1"/>
          <p:nvPr/>
        </p:nvSpPr>
        <p:spPr>
          <a:xfrm>
            <a:off x="969264" y="4160520"/>
            <a:ext cx="4628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딱 맞게 연속으로 잡으면 끝. 낭비가 생길 자리가 없다.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123C6A4-CA40-5D8E-BDBA-2C8228260D8C}"/>
              </a:ext>
            </a:extLst>
          </p:cNvPr>
          <p:cNvSpPr/>
          <p:nvPr/>
        </p:nvSpPr>
        <p:spPr>
          <a:xfrm>
            <a:off x="6265011" y="1874520"/>
            <a:ext cx="5431269" cy="2834640"/>
          </a:xfrm>
          <a:prstGeom prst="roundRect">
            <a:avLst>
              <a:gd name="adj" fmla="val 1935"/>
            </a:avLst>
          </a:prstGeom>
          <a:solidFill>
            <a:srgbClr val="FDECEB"/>
          </a:solidFill>
          <a:ln w="12700">
            <a:solidFill>
              <a:srgbClr val="F3C9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423FB37-5738-A0F2-8651-213EAA6F64F7}"/>
              </a:ext>
            </a:extLst>
          </p:cNvPr>
          <p:cNvSpPr txBox="1"/>
          <p:nvPr/>
        </p:nvSpPr>
        <p:spPr>
          <a:xfrm>
            <a:off x="6594196" y="2112264"/>
            <a:ext cx="4628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A83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디코딩</a:t>
            </a:r>
            <a:endParaRPr lang="en-US" sz="11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911B10-7A36-8055-4648-D814F881C5F9}"/>
              </a:ext>
            </a:extLst>
          </p:cNvPr>
          <p:cNvSpPr txBox="1"/>
          <p:nvPr/>
        </p:nvSpPr>
        <p:spPr>
          <a:xfrm>
            <a:off x="6594196" y="2441448"/>
            <a:ext cx="4628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크기를 알 수 없다</a:t>
            </a:r>
            <a:endParaRPr lang="en-US" sz="2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6D6F267-D746-FF6E-2695-7CE0EFCEA6D2}"/>
              </a:ext>
            </a:extLst>
          </p:cNvPr>
          <p:cNvSpPr/>
          <p:nvPr/>
        </p:nvSpPr>
        <p:spPr>
          <a:xfrm>
            <a:off x="6594196" y="3008376"/>
            <a:ext cx="555388" cy="457200"/>
          </a:xfrm>
          <a:prstGeom prst="rect">
            <a:avLst/>
          </a:prstGeom>
          <a:solidFill>
            <a:srgbClr val="1E2534"/>
          </a:solidFill>
          <a:ln w="12700">
            <a:solidFill>
              <a:srgbClr val="1E25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2E8F4B0-363F-F8F2-D5E1-F8530B368F65}"/>
              </a:ext>
            </a:extLst>
          </p:cNvPr>
          <p:cNvSpPr/>
          <p:nvPr/>
        </p:nvSpPr>
        <p:spPr>
          <a:xfrm>
            <a:off x="7149584" y="3008376"/>
            <a:ext cx="277694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A6E1E71-BD35-113E-662D-D57668691FE8}"/>
              </a:ext>
            </a:extLst>
          </p:cNvPr>
          <p:cNvSpPr/>
          <p:nvPr/>
        </p:nvSpPr>
        <p:spPr>
          <a:xfrm>
            <a:off x="7427278" y="3008376"/>
            <a:ext cx="3795153" cy="457200"/>
          </a:xfrm>
          <a:prstGeom prst="rect">
            <a:avLst/>
          </a:prstGeom>
          <a:solidFill>
            <a:srgbClr val="F1D3D1"/>
          </a:solidFill>
          <a:ln w="12700">
            <a:solidFill>
              <a:srgbClr val="E9BE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9630823-DBFF-4B17-FC3C-95E7BB4B87CE}"/>
              </a:ext>
            </a:extLst>
          </p:cNvPr>
          <p:cNvSpPr txBox="1"/>
          <p:nvPr/>
        </p:nvSpPr>
        <p:spPr>
          <a:xfrm>
            <a:off x="7427278" y="3008376"/>
            <a:ext cx="37951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83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예약만 해두고 비어 있는 공간</a:t>
            </a:r>
            <a:endParaRPr lang="en-US" sz="11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B93DBF2-B015-399D-09AA-A5AA09F9D665}"/>
              </a:ext>
            </a:extLst>
          </p:cNvPr>
          <p:cNvSpPr txBox="1"/>
          <p:nvPr/>
        </p:nvSpPr>
        <p:spPr>
          <a:xfrm>
            <a:off x="6594196" y="3502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쓴 만큼</a:t>
            </a: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3202081-3648-3420-E9B2-65A8438DD3DB}"/>
              </a:ext>
            </a:extLst>
          </p:cNvPr>
          <p:cNvSpPr txBox="1"/>
          <p:nvPr/>
        </p:nvSpPr>
        <p:spPr>
          <a:xfrm>
            <a:off x="6594195" y="3721608"/>
            <a:ext cx="49574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출력이 10토큰에서 끝날지 2000토큰까지 갈지, 요청이 끝나야 안다.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74A4B50-F9FC-AE84-E6A9-2530577217DC}"/>
              </a:ext>
            </a:extLst>
          </p:cNvPr>
          <p:cNvSpPr txBox="1"/>
          <p:nvPr/>
        </p:nvSpPr>
        <p:spPr>
          <a:xfrm>
            <a:off x="6594196" y="4160520"/>
            <a:ext cx="4628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C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연속으로 잡으려면 "최대 길이만큼" 예약하는 수밖에 없다.</a:t>
            </a:r>
            <a:endParaRPr lang="en-US" sz="13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A4F5061-6268-B417-F428-841B6BAB442C}"/>
              </a:ext>
            </a:extLst>
          </p:cNvPr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36418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E7C8E-806B-FB4B-349C-7A14917C3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1">
            <a:extLst>
              <a:ext uri="{FF2B5EF4-FFF2-40B4-BE49-F238E27FC236}">
                <a16:creationId xmlns:a16="http://schemas.microsoft.com/office/drawing/2014/main" id="{9DF333BE-D632-0CF3-3A0D-2A90EEFB2918}"/>
              </a:ext>
            </a:extLst>
          </p:cNvPr>
          <p:cNvSpPr/>
          <p:nvPr/>
        </p:nvSpPr>
        <p:spPr>
          <a:xfrm>
            <a:off x="6265011" y="1874520"/>
            <a:ext cx="5431269" cy="2834640"/>
          </a:xfrm>
          <a:prstGeom prst="roundRect">
            <a:avLst>
              <a:gd name="adj" fmla="val 1935"/>
            </a:avLst>
          </a:prstGeom>
          <a:solidFill>
            <a:srgbClr val="FDECEB"/>
          </a:solidFill>
          <a:ln w="12700">
            <a:solidFill>
              <a:srgbClr val="F3C9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CA24BFE-028D-4708-13A5-1CAB34D2BC23}"/>
              </a:ext>
            </a:extLst>
          </p:cNvPr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D7DF6D-4C8D-F1A4-13BF-4227B22716C0}"/>
              </a:ext>
            </a:extLst>
          </p:cNvPr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③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27DDFC-6E6D-ABA7-FD71-D69A56FC7B27}"/>
              </a:ext>
            </a:extLst>
          </p:cNvPr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r>
              <a:rPr lang="ko-KR" alt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에서는 기존의 “연속 </a:t>
            </a:r>
            <a:r>
              <a:rPr lang="ko-KR" altLang="en-US" sz="300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할당”이</a:t>
            </a:r>
            <a:r>
              <a:rPr lang="ko-KR" alt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통하지 않음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564745-5F20-90FB-96B7-DE44A325B10A}"/>
              </a:ext>
            </a:extLst>
          </p:cNvPr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프레임워크는 텐서를 연속된 메모리에 둔다 — 지금까지는 그게 당연했다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6D86B59-EBF6-9011-B12A-4E62EF1F0CED}"/>
              </a:ext>
            </a:extLst>
          </p:cNvPr>
          <p:cNvSpPr/>
          <p:nvPr/>
        </p:nvSpPr>
        <p:spPr>
          <a:xfrm>
            <a:off x="640080" y="1874520"/>
            <a:ext cx="5286604" cy="2834640"/>
          </a:xfrm>
          <a:prstGeom prst="roundRect">
            <a:avLst>
              <a:gd name="adj" fmla="val 1935"/>
            </a:avLst>
          </a:prstGeom>
          <a:solidFill>
            <a:srgbClr val="F0F8F7"/>
          </a:solidFill>
          <a:ln w="12700">
            <a:solidFill>
              <a:srgbClr val="C7E4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50D82EB-2FD2-1FDD-AF08-557B6A0ACBD5}"/>
              </a:ext>
            </a:extLst>
          </p:cNvPr>
          <p:cNvSpPr txBox="1"/>
          <p:nvPr/>
        </p:nvSpPr>
        <p:spPr>
          <a:xfrm>
            <a:off x="969264" y="2112264"/>
            <a:ext cx="4628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지금까지의 딥러닝 추론</a:t>
            </a:r>
            <a:endParaRPr lang="en-US" sz="11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D2E923-1C8C-60D7-8FB4-9F158519F4F1}"/>
              </a:ext>
            </a:extLst>
          </p:cNvPr>
          <p:cNvSpPr txBox="1"/>
          <p:nvPr/>
        </p:nvSpPr>
        <p:spPr>
          <a:xfrm>
            <a:off x="969264" y="2441448"/>
            <a:ext cx="4628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크기를 미리 안다</a:t>
            </a:r>
            <a:endParaRPr lang="en-US" sz="2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DB76867-DFD4-E9D0-A6F8-511BE4009D29}"/>
              </a:ext>
            </a:extLst>
          </p:cNvPr>
          <p:cNvSpPr/>
          <p:nvPr/>
        </p:nvSpPr>
        <p:spPr>
          <a:xfrm>
            <a:off x="969264" y="3008376"/>
            <a:ext cx="4628236" cy="457200"/>
          </a:xfrm>
          <a:prstGeom prst="rect">
            <a:avLst/>
          </a:prstGeom>
          <a:solidFill>
            <a:srgbClr val="2E9E96"/>
          </a:solidFill>
          <a:ln w="12700">
            <a:solidFill>
              <a:srgbClr val="2E9E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065232-D06C-0727-CF0B-6ABCD954BE6E}"/>
              </a:ext>
            </a:extLst>
          </p:cNvPr>
          <p:cNvSpPr txBox="1"/>
          <p:nvPr/>
        </p:nvSpPr>
        <p:spPr>
          <a:xfrm>
            <a:off x="969264" y="3008376"/>
            <a:ext cx="4628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만큼 = 잡은 만큼</a:t>
            </a:r>
            <a:endParaRPr lang="en-US" sz="11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4FB1CD5-A52E-E5F5-C360-724591F2FD7C}"/>
              </a:ext>
            </a:extLst>
          </p:cNvPr>
          <p:cNvSpPr txBox="1"/>
          <p:nvPr/>
        </p:nvSpPr>
        <p:spPr>
          <a:xfrm>
            <a:off x="969264" y="3721608"/>
            <a:ext cx="4628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분류처럼 입력·출력 텐서 모양이 실행 전에 정해진다.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1CDB333-6B32-0903-9643-412DBBC8B42B}"/>
              </a:ext>
            </a:extLst>
          </p:cNvPr>
          <p:cNvSpPr txBox="1"/>
          <p:nvPr/>
        </p:nvSpPr>
        <p:spPr>
          <a:xfrm>
            <a:off x="969264" y="4160520"/>
            <a:ext cx="4628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딱 맞게 연속으로 잡으면 끝. 낭비가 생길 자리가 없다.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7DB8CC1-6517-F8FA-43E5-29C972F1C2C5}"/>
              </a:ext>
            </a:extLst>
          </p:cNvPr>
          <p:cNvSpPr txBox="1"/>
          <p:nvPr/>
        </p:nvSpPr>
        <p:spPr>
          <a:xfrm>
            <a:off x="640080" y="491032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캐시가 매 토큰마다 자라는데, 자랄 자리를 연속으로 비워둬야 하기 때문이다.</a:t>
            </a:r>
            <a:endParaRPr lang="en-US" sz="13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557D137-5DC3-2FA7-5010-47B70BBE5955}"/>
              </a:ext>
            </a:extLst>
          </p:cNvPr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4C9054B-C267-1FB6-D7F3-9683775227E6}"/>
              </a:ext>
            </a:extLst>
          </p:cNvPr>
          <p:cNvSpPr txBox="1"/>
          <p:nvPr/>
        </p:nvSpPr>
        <p:spPr>
          <a:xfrm>
            <a:off x="1005840" y="539496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r>
              <a:rPr lang="ko-KR" alt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할당은 </a:t>
            </a:r>
            <a:r>
              <a:rPr lang="en-US" sz="1500" b="1" dirty="0" err="1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연속이어야</a:t>
            </a: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한다"는 전제가 최대 길이 예약을 강제한다.</a:t>
            </a:r>
            <a:endParaRPr lang="en-US" sz="15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8EEE732-C616-F655-4AFC-03F71BAD075F}"/>
              </a:ext>
            </a:extLst>
          </p:cNvPr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5D52E966-6F73-0822-2376-110489211AED}"/>
              </a:ext>
            </a:extLst>
          </p:cNvPr>
          <p:cNvSpPr txBox="1"/>
          <p:nvPr/>
        </p:nvSpPr>
        <p:spPr>
          <a:xfrm>
            <a:off x="6594196" y="2112264"/>
            <a:ext cx="4628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A83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디코딩</a:t>
            </a:r>
            <a:endParaRPr lang="en-US" sz="115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444677B4-F3FF-932B-FBD7-20B100026E32}"/>
              </a:ext>
            </a:extLst>
          </p:cNvPr>
          <p:cNvSpPr txBox="1"/>
          <p:nvPr/>
        </p:nvSpPr>
        <p:spPr>
          <a:xfrm>
            <a:off x="6594196" y="2441448"/>
            <a:ext cx="4628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크기를 알 수 없다</a:t>
            </a:r>
            <a:endParaRPr lang="en-US" sz="2200" dirty="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761C2095-9AA6-6802-E158-2940B2ED4A02}"/>
              </a:ext>
            </a:extLst>
          </p:cNvPr>
          <p:cNvSpPr/>
          <p:nvPr/>
        </p:nvSpPr>
        <p:spPr>
          <a:xfrm>
            <a:off x="6594196" y="3008376"/>
            <a:ext cx="555388" cy="457200"/>
          </a:xfrm>
          <a:prstGeom prst="rect">
            <a:avLst/>
          </a:prstGeom>
          <a:solidFill>
            <a:srgbClr val="1E2534"/>
          </a:solidFill>
          <a:ln w="12700">
            <a:solidFill>
              <a:srgbClr val="1E25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FB4CC14D-81AC-F041-469F-A4323780B35A}"/>
              </a:ext>
            </a:extLst>
          </p:cNvPr>
          <p:cNvSpPr/>
          <p:nvPr/>
        </p:nvSpPr>
        <p:spPr>
          <a:xfrm>
            <a:off x="7149584" y="3008376"/>
            <a:ext cx="277694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7B8A85D9-45CB-DCCE-19AA-A88DA5F1D66A}"/>
              </a:ext>
            </a:extLst>
          </p:cNvPr>
          <p:cNvSpPr/>
          <p:nvPr/>
        </p:nvSpPr>
        <p:spPr>
          <a:xfrm>
            <a:off x="7427278" y="3008376"/>
            <a:ext cx="3795153" cy="457200"/>
          </a:xfrm>
          <a:prstGeom prst="rect">
            <a:avLst/>
          </a:prstGeom>
          <a:solidFill>
            <a:srgbClr val="F1D3D1"/>
          </a:solidFill>
          <a:ln w="12700">
            <a:solidFill>
              <a:srgbClr val="E9BE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0C44ECC7-DFEE-BF98-341F-DE85D7A6000F}"/>
              </a:ext>
            </a:extLst>
          </p:cNvPr>
          <p:cNvSpPr txBox="1"/>
          <p:nvPr/>
        </p:nvSpPr>
        <p:spPr>
          <a:xfrm>
            <a:off x="7427278" y="3008376"/>
            <a:ext cx="37951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83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예약만 해두고 비어 있는 공간</a:t>
            </a:r>
            <a:endParaRPr lang="en-US" sz="115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B5E45004-CCD1-4762-D24A-1468E3AD7AFD}"/>
              </a:ext>
            </a:extLst>
          </p:cNvPr>
          <p:cNvSpPr txBox="1"/>
          <p:nvPr/>
        </p:nvSpPr>
        <p:spPr>
          <a:xfrm>
            <a:off x="6594196" y="3502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쓴 만큼</a:t>
            </a:r>
            <a:endParaRPr lang="en-US" sz="950" dirty="0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DE31FB5D-6CEE-AEEA-BCA6-BCFC728325AC}"/>
              </a:ext>
            </a:extLst>
          </p:cNvPr>
          <p:cNvSpPr txBox="1"/>
          <p:nvPr/>
        </p:nvSpPr>
        <p:spPr>
          <a:xfrm>
            <a:off x="6594195" y="3721608"/>
            <a:ext cx="49574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출력이 10토큰에서 끝날지 2000토큰까지 갈지, 요청이 끝나야 안다.</a:t>
            </a:r>
            <a:endParaRPr lang="en-US" sz="130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C4A83499-F71A-BA6C-1DD9-CDAE7C0924C1}"/>
              </a:ext>
            </a:extLst>
          </p:cNvPr>
          <p:cNvSpPr txBox="1"/>
          <p:nvPr/>
        </p:nvSpPr>
        <p:spPr>
          <a:xfrm>
            <a:off x="6594196" y="4160520"/>
            <a:ext cx="4628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C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연속으로 잡으려면 "최대 길이만큼" 예약하는 수밖에 없다.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39180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기존 시스템은, 쓰지도 않을 자리를 통째로 붙들고 있었다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Figure 3 — 요청이 들어오면 그 요청이 도달 가능한 최대 길이만큼 먼저 예약한다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A · 최대 2048 토큰까지 갈 수 있음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763807" cy="786384"/>
          </a:xfrm>
          <a:prstGeom prst="rect">
            <a:avLst/>
          </a:prstGeom>
          <a:solidFill>
            <a:srgbClr val="1E2534"/>
          </a:solidFill>
          <a:ln w="12700">
            <a:solidFill>
              <a:srgbClr val="1E25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167128"/>
            <a:ext cx="76380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7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403887" y="2167128"/>
            <a:ext cx="327346" cy="786384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731234" y="2167128"/>
            <a:ext cx="9820382" cy="786384"/>
          </a:xfrm>
          <a:prstGeom prst="rect">
            <a:avLst/>
          </a:prstGeom>
          <a:solidFill>
            <a:srgbClr val="F1D3D1"/>
          </a:solidFill>
          <a:ln w="12700">
            <a:solidFill>
              <a:srgbClr val="E9BE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731234" y="2167128"/>
            <a:ext cx="982038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3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공간 2,038 슬롯 — 예약만 해둔 상태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7296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B · 최대 512 토큰까지 갈 수 있음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504113" cy="786384"/>
          </a:xfrm>
          <a:prstGeom prst="rect">
            <a:avLst/>
          </a:prstGeom>
          <a:solidFill>
            <a:srgbClr val="1E2534"/>
          </a:solidFill>
          <a:ln w="12700">
            <a:solidFill>
              <a:srgbClr val="1E25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465576"/>
            <a:ext cx="50411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44193" y="3465576"/>
            <a:ext cx="229142" cy="786384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3335" y="3465576"/>
            <a:ext cx="3849590" cy="786384"/>
          </a:xfrm>
          <a:prstGeom prst="rect">
            <a:avLst/>
          </a:prstGeom>
          <a:solidFill>
            <a:srgbClr val="F1D3D1"/>
          </a:solidFill>
          <a:ln w="12700">
            <a:solidFill>
              <a:srgbClr val="E9BE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373335" y="3465576"/>
            <a:ext cx="384959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3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공간 507 슬롯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32653" y="3465576"/>
            <a:ext cx="6218962" cy="786384"/>
          </a:xfrm>
          <a:prstGeom prst="rect">
            <a:avLst/>
          </a:prstGeom>
          <a:solidFill>
            <a:srgbClr val="EEF1F5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332653" y="3465576"/>
            <a:ext cx="621896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요청마다 예약 크기가 달라서 남는 자리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48970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r>
              <a:rPr lang="en-US" sz="11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프롬프트 KV    </a:t>
            </a:r>
            <a:r>
              <a:rPr lang="en-US" sz="11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r>
              <a:rPr lang="en-US" sz="11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생성된 토큰    </a:t>
            </a:r>
            <a:r>
              <a:rPr lang="en-US" sz="1100" dirty="0">
                <a:solidFill>
                  <a:srgbClr val="F1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r>
              <a:rPr lang="en-US" sz="11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예약해둔 빈 공간        </a:t>
            </a:r>
            <a:r>
              <a:rPr lang="en-US" sz="1100" i="1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(그림은 비율을 과장했다 — 실제로는 8 / 2048)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005840" y="539496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쓰는 건 8칸인데, </a:t>
            </a: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2,048칸을 붙들고 있다.</a:t>
            </a:r>
            <a:r>
              <a:rPr 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그동안 다른 요청은 들어올 자리가 없다.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3000" b="1" dirty="0">
                <a:solidFill>
                  <a:srgbClr val="1A1F2B"/>
                </a:solidFill>
                <a:latin typeface="Arial" pitchFamily="34" charset="0"/>
                <a:cs typeface="Arial" pitchFamily="34" charset="-120"/>
              </a:rPr>
              <a:t>3</a:t>
            </a:r>
            <a:r>
              <a:rPr lang="ko-KR" altLang="en-US" sz="3000" b="1" dirty="0">
                <a:solidFill>
                  <a:srgbClr val="1A1F2B"/>
                </a:solidFill>
                <a:latin typeface="Arial" pitchFamily="34" charset="0"/>
                <a:cs typeface="Arial" pitchFamily="34" charset="-120"/>
              </a:rPr>
              <a:t>가지 종류의 메모리 낭비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"안이 비었느냐 / 사이가 비었느냐 / 미리 잡아뒀느냐"로 구분하면 헷갈리지 않는다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1" y="1874520"/>
            <a:ext cx="936488" cy="274320"/>
          </a:xfrm>
          <a:prstGeom prst="rect">
            <a:avLst/>
          </a:prstGeom>
          <a:solidFill>
            <a:srgbClr val="2E9E96"/>
          </a:solidFill>
          <a:ln w="12700">
            <a:solidFill>
              <a:srgbClr val="2E9E96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640081" y="1874520"/>
            <a:ext cx="936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76569" y="1874520"/>
            <a:ext cx="1966626" cy="2743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1576569" y="1874520"/>
            <a:ext cx="1966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43195" y="1874520"/>
            <a:ext cx="1217435" cy="274320"/>
          </a:xfrm>
          <a:prstGeom prst="rect">
            <a:avLst/>
          </a:prstGeom>
          <a:solidFill>
            <a:srgbClr val="CF5350"/>
          </a:solidFill>
          <a:ln w="12700">
            <a:solidFill>
              <a:srgbClr val="CF535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3543195" y="1874520"/>
            <a:ext cx="12174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60630" y="1874520"/>
            <a:ext cx="749191" cy="274320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3" name="Text 11"/>
          <p:cNvSpPr txBox="1"/>
          <p:nvPr/>
        </p:nvSpPr>
        <p:spPr>
          <a:xfrm>
            <a:off x="4760630" y="1874520"/>
            <a:ext cx="749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8072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시스템의 KV 캐시 메모리를 성분별로 쪼개면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172968"/>
            <a:ext cx="3442106" cy="18288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50976" y="3483864"/>
            <a:ext cx="201168" cy="20116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280160" y="3410712"/>
            <a:ext cx="25277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3849624"/>
            <a:ext cx="2820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4197096"/>
            <a:ext cx="28203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생성 안 된 토큰용으로 </a:t>
            </a:r>
            <a:r>
              <a:rPr lang="en-US" sz="1250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예약한</a:t>
            </a: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74794" y="3172968"/>
            <a:ext cx="3442106" cy="18288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685690" y="3483864"/>
            <a:ext cx="201168" cy="201168"/>
          </a:xfrm>
          <a:prstGeom prst="rect">
            <a:avLst/>
          </a:prstGeom>
          <a:solidFill>
            <a:srgbClr val="CF5350"/>
          </a:solidFill>
          <a:ln w="12700">
            <a:solidFill>
              <a:srgbClr val="CF53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5014874" y="3410712"/>
            <a:ext cx="25277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rgbClr val="1A1F2B"/>
                </a:solidFill>
                <a:latin typeface="Arial" pitchFamily="34" charset="0"/>
                <a:cs typeface="Arial" pitchFamily="34" charset="-120"/>
              </a:rPr>
              <a:t>내부 단편화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685690" y="3849624"/>
            <a:ext cx="2820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fragmentation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85690" y="4197096"/>
            <a:ext cx="28203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ko-KR" altLang="en-US" sz="1250" dirty="0">
                <a:solidFill>
                  <a:srgbClr val="1A1F2B"/>
                </a:solidFill>
                <a:latin typeface="Arial" pitchFamily="34" charset="0"/>
                <a:cs typeface="Arial" pitchFamily="34" charset="-120"/>
              </a:rPr>
              <a:t>예약했지만 사용하지 않은 영역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09509" y="3172968"/>
            <a:ext cx="3442106" cy="18288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420405" y="3483864"/>
            <a:ext cx="201168" cy="201168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749588" y="3410712"/>
            <a:ext cx="27026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단편화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420405" y="3849624"/>
            <a:ext cx="2820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fragmentation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420405" y="4197096"/>
            <a:ext cx="28203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요청마다 예약 크기가 달라 생긴 구멍.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합치면 넉넉한데 하나하나는 너무 작다.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005840" y="539496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셋 다 원인은 하나다: 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연속된 공간을, 크기를 모른 채, </a:t>
            </a: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예약했음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0EDB25C4-5DB4-4AA5-E049-FFC1714C816C}"/>
              </a:ext>
            </a:extLst>
          </p:cNvPr>
          <p:cNvSpPr/>
          <p:nvPr/>
        </p:nvSpPr>
        <p:spPr>
          <a:xfrm>
            <a:off x="5509821" y="1874520"/>
            <a:ext cx="936488" cy="274320"/>
          </a:xfrm>
          <a:prstGeom prst="rect">
            <a:avLst/>
          </a:prstGeom>
          <a:solidFill>
            <a:srgbClr val="2E9E96"/>
          </a:solidFill>
          <a:ln w="12700">
            <a:solidFill>
              <a:srgbClr val="2E9E96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C772A7E9-32D0-83CC-C204-ABB281EC26A2}"/>
              </a:ext>
            </a:extLst>
          </p:cNvPr>
          <p:cNvSpPr txBox="1"/>
          <p:nvPr/>
        </p:nvSpPr>
        <p:spPr>
          <a:xfrm>
            <a:off x="5509821" y="1874520"/>
            <a:ext cx="936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사용</a:t>
            </a:r>
            <a:endParaRPr lang="en-US" sz="1100" dirty="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380F58C2-8960-8477-7603-3EAA70B460C8}"/>
              </a:ext>
            </a:extLst>
          </p:cNvPr>
          <p:cNvSpPr/>
          <p:nvPr/>
        </p:nvSpPr>
        <p:spPr>
          <a:xfrm>
            <a:off x="6446309" y="1874520"/>
            <a:ext cx="1966626" cy="2743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C7EC813D-D5D7-D862-36C7-B2675048CC39}"/>
              </a:ext>
            </a:extLst>
          </p:cNvPr>
          <p:cNvSpPr txBox="1"/>
          <p:nvPr/>
        </p:nvSpPr>
        <p:spPr>
          <a:xfrm>
            <a:off x="6446309" y="1874520"/>
            <a:ext cx="1966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11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9E1C4807-02E0-8218-1598-ED8F54E574B5}"/>
              </a:ext>
            </a:extLst>
          </p:cNvPr>
          <p:cNvSpPr/>
          <p:nvPr/>
        </p:nvSpPr>
        <p:spPr>
          <a:xfrm>
            <a:off x="8412935" y="1874520"/>
            <a:ext cx="1217435" cy="274320"/>
          </a:xfrm>
          <a:prstGeom prst="rect">
            <a:avLst/>
          </a:prstGeom>
          <a:solidFill>
            <a:srgbClr val="CF5350"/>
          </a:solidFill>
          <a:ln w="12700">
            <a:solidFill>
              <a:srgbClr val="CF535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12BCB951-E729-9DD9-618A-0555A34AF146}"/>
              </a:ext>
            </a:extLst>
          </p:cNvPr>
          <p:cNvSpPr txBox="1"/>
          <p:nvPr/>
        </p:nvSpPr>
        <p:spPr>
          <a:xfrm>
            <a:off x="8412935" y="1874520"/>
            <a:ext cx="12174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100" dirty="0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EF37810F-4F5B-ACF0-7695-C3425B56C68B}"/>
              </a:ext>
            </a:extLst>
          </p:cNvPr>
          <p:cNvSpPr/>
          <p:nvPr/>
        </p:nvSpPr>
        <p:spPr>
          <a:xfrm>
            <a:off x="9630370" y="1874520"/>
            <a:ext cx="749191" cy="274320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B7577983-5DF7-D76D-B2C7-CEA198826F29}"/>
              </a:ext>
            </a:extLst>
          </p:cNvPr>
          <p:cNvSpPr txBox="1"/>
          <p:nvPr/>
        </p:nvSpPr>
        <p:spPr>
          <a:xfrm>
            <a:off x="9630370" y="1874520"/>
            <a:ext cx="749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1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B0F014-61D6-413C-5389-737BC58D1893}"/>
              </a:ext>
            </a:extLst>
          </p:cNvPr>
          <p:cNvSpPr txBox="1"/>
          <p:nvPr/>
        </p:nvSpPr>
        <p:spPr>
          <a:xfrm>
            <a:off x="10432307" y="175662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....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숫자로 보면, 60~80%를 버리고 있었다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Figure 2 — KV 캐시 메모리 중 실제로 토큰을 저장하는 데 쓰인 비율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874520"/>
          <a:ext cx="6858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874520"/>
            <a:ext cx="3733495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8147304" y="2148840"/>
            <a:ext cx="3075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 err="1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</a:t>
            </a:r>
            <a:r>
              <a:rPr lang="en-US" sz="11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b="1" dirty="0" err="1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147304" y="2478024"/>
            <a:ext cx="3075127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 (Max)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길이만큼 예약 — 가장 단순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 (Pow2)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2의 거듭제곱 단위로 예약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 (Oracle)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길이를 미리 안다고 가정한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최선 — 현실엔 없는 시스템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b="1" dirty="0" err="1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05840" y="539496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최선(Oracle)조차 26.8%다.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예측을 잘하는 걸로는 이 문제가 안 풀린다는 뜻.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해법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운영체제는 40년 전에 똑같은 문제를 풀었다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크기를 모르는 것들을 연속 공간에 담으려니 단편화가 생긴다 — OS의 답은 페이징이었다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AB91D-FCB6-1DDD-6985-C21F4DA17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9A7463-0FD6-22A7-BA56-6545DB4229AE}"/>
              </a:ext>
            </a:extLst>
          </p:cNvPr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E4BD69-AEF4-0083-65F1-49888270E51E}"/>
              </a:ext>
            </a:extLst>
          </p:cNvPr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해법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F45E1D-2E26-8296-1495-3C54E06617C8}"/>
              </a:ext>
            </a:extLst>
          </p:cNvPr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운영체제는 40년 전에 똑같은 문제를 풀었다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C3224C-D475-774B-1DFA-B0B761ECF54B}"/>
              </a:ext>
            </a:extLst>
          </p:cNvPr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크기를 모르는 것들을 연속 공간에 담으려니 단편화가 생긴다 — OS의 답은 페이징이었다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7480BA-AA85-46DE-32E9-A028ED325280}"/>
              </a:ext>
            </a:extLst>
          </p:cNvPr>
          <p:cNvSpPr txBox="1"/>
          <p:nvPr/>
        </p:nvSpPr>
        <p:spPr>
          <a:xfrm>
            <a:off x="1600200" y="1755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개념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76A03FD-AB6A-FE2D-A6B6-DF0A24EBE401}"/>
              </a:ext>
            </a:extLst>
          </p:cNvPr>
          <p:cNvSpPr/>
          <p:nvPr/>
        </p:nvSpPr>
        <p:spPr>
          <a:xfrm>
            <a:off x="1600200" y="2084832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73C7B2C-4112-D9A4-3A02-59E8D31A5BF4}"/>
              </a:ext>
            </a:extLst>
          </p:cNvPr>
          <p:cNvSpPr txBox="1"/>
          <p:nvPr/>
        </p:nvSpPr>
        <p:spPr>
          <a:xfrm>
            <a:off x="1600200" y="20848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3C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(Page)</a:t>
            </a:r>
            <a:endParaRPr lang="en-US" sz="15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68253EF-6083-7166-50DE-EBAA326C02F4}"/>
              </a:ext>
            </a:extLst>
          </p:cNvPr>
          <p:cNvSpPr/>
          <p:nvPr/>
        </p:nvSpPr>
        <p:spPr>
          <a:xfrm>
            <a:off x="1600200" y="283464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53D9925-ABE8-44C8-671D-0A5ACE92F984}"/>
              </a:ext>
            </a:extLst>
          </p:cNvPr>
          <p:cNvSpPr txBox="1"/>
          <p:nvPr/>
        </p:nvSpPr>
        <p:spPr>
          <a:xfrm>
            <a:off x="1600200" y="28346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3C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바이트 (Byte)</a:t>
            </a:r>
            <a:endParaRPr lang="en-US" sz="15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E1D07CE-64EE-2801-E04B-33FBADAB06DF}"/>
              </a:ext>
            </a:extLst>
          </p:cNvPr>
          <p:cNvSpPr/>
          <p:nvPr/>
        </p:nvSpPr>
        <p:spPr>
          <a:xfrm>
            <a:off x="1600200" y="3584448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4BD4E59-BAFD-12AA-56CD-C4F6646B5528}"/>
              </a:ext>
            </a:extLst>
          </p:cNvPr>
          <p:cNvSpPr txBox="1"/>
          <p:nvPr/>
        </p:nvSpPr>
        <p:spPr>
          <a:xfrm>
            <a:off x="1600200" y="35844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3C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프로세스 (Process)</a:t>
            </a:r>
            <a:endParaRPr lang="en-US" sz="15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80C78F1-D3B3-4507-C2EB-8F8A4C07C6DE}"/>
              </a:ext>
            </a:extLst>
          </p:cNvPr>
          <p:cNvSpPr/>
          <p:nvPr/>
        </p:nvSpPr>
        <p:spPr>
          <a:xfrm>
            <a:off x="1600200" y="4334256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8230F87-576A-4451-1F25-971F526A0835}"/>
              </a:ext>
            </a:extLst>
          </p:cNvPr>
          <p:cNvSpPr txBox="1"/>
          <p:nvPr/>
        </p:nvSpPr>
        <p:spPr>
          <a:xfrm>
            <a:off x="1600200" y="433425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3C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테이블</a:t>
            </a:r>
            <a:endParaRPr lang="en-US" sz="15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FB50558-6106-72AF-1281-90F6AB5ABFC3}"/>
              </a:ext>
            </a:extLst>
          </p:cNvPr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8643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8D38E-7C5F-C663-191D-EDEF2272D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7CC090-45C6-B28C-340B-02BD2D3BE48F}"/>
              </a:ext>
            </a:extLst>
          </p:cNvPr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FD3447-BC7B-7A9C-F5E1-635E75109812}"/>
              </a:ext>
            </a:extLst>
          </p:cNvPr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해법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E41208-4B59-A5B5-75B2-1E4D4DDF27EA}"/>
              </a:ext>
            </a:extLst>
          </p:cNvPr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운영체제는 40년 전에 똑같은 문제를 풀었다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E9B5BC-9D2D-C20C-28B0-C0D4A94AEA28}"/>
              </a:ext>
            </a:extLst>
          </p:cNvPr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크기를 모르는 것들을 연속 공간에 담으려니 단편화가 생긴다 — OS의 답은 페이징이었다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64EEFA-C84D-B5A5-54EB-3F83E12ABBB5}"/>
              </a:ext>
            </a:extLst>
          </p:cNvPr>
          <p:cNvSpPr txBox="1"/>
          <p:nvPr/>
        </p:nvSpPr>
        <p:spPr>
          <a:xfrm>
            <a:off x="1600200" y="1755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개념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616507-9E8D-B6DB-F903-A78DC380A35A}"/>
              </a:ext>
            </a:extLst>
          </p:cNvPr>
          <p:cNvSpPr txBox="1"/>
          <p:nvPr/>
        </p:nvSpPr>
        <p:spPr>
          <a:xfrm>
            <a:off x="6766560" y="1755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F276BD7-9837-BEB3-42AD-E399FBA916F7}"/>
              </a:ext>
            </a:extLst>
          </p:cNvPr>
          <p:cNvSpPr/>
          <p:nvPr/>
        </p:nvSpPr>
        <p:spPr>
          <a:xfrm>
            <a:off x="1600200" y="2084832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725AFD2-8CB0-F144-2156-A7CA18A355C8}"/>
              </a:ext>
            </a:extLst>
          </p:cNvPr>
          <p:cNvSpPr txBox="1"/>
          <p:nvPr/>
        </p:nvSpPr>
        <p:spPr>
          <a:xfrm>
            <a:off x="1600200" y="20848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3C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(Page)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58170C6-8761-B543-4DF3-2EBC4F7DE010}"/>
              </a:ext>
            </a:extLst>
          </p:cNvPr>
          <p:cNvSpPr txBox="1"/>
          <p:nvPr/>
        </p:nvSpPr>
        <p:spPr>
          <a:xfrm>
            <a:off x="5532120" y="208483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1C96838-08C0-B893-B2C0-92FDA25E6895}"/>
              </a:ext>
            </a:extLst>
          </p:cNvPr>
          <p:cNvSpPr/>
          <p:nvPr/>
        </p:nvSpPr>
        <p:spPr>
          <a:xfrm>
            <a:off x="6766560" y="2084832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3A2A08"/>
          </a:solidFill>
          <a:ln w="12700">
            <a:solidFill>
              <a:srgbClr val="6B53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0BC21EF-2ADF-7579-6BA9-1D1770551474}"/>
              </a:ext>
            </a:extLst>
          </p:cNvPr>
          <p:cNvSpPr txBox="1"/>
          <p:nvPr/>
        </p:nvSpPr>
        <p:spPr>
          <a:xfrm>
            <a:off x="6766560" y="20848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블록 (KV Block)</a:t>
            </a:r>
            <a:endParaRPr lang="en-US" sz="15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30024DE-C83C-4ADD-55C1-36124D3BA975}"/>
              </a:ext>
            </a:extLst>
          </p:cNvPr>
          <p:cNvSpPr/>
          <p:nvPr/>
        </p:nvSpPr>
        <p:spPr>
          <a:xfrm>
            <a:off x="1600200" y="283464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34FBFF8-2596-9F10-7DB2-4C92167CF989}"/>
              </a:ext>
            </a:extLst>
          </p:cNvPr>
          <p:cNvSpPr txBox="1"/>
          <p:nvPr/>
        </p:nvSpPr>
        <p:spPr>
          <a:xfrm>
            <a:off x="1600200" y="28346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3C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바이트 (Byte)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68EB39-F711-010F-8E69-759A7896AF35}"/>
              </a:ext>
            </a:extLst>
          </p:cNvPr>
          <p:cNvSpPr txBox="1"/>
          <p:nvPr/>
        </p:nvSpPr>
        <p:spPr>
          <a:xfrm>
            <a:off x="5532120" y="28346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04A00CF-76EE-E963-7090-D507FC6C3F68}"/>
              </a:ext>
            </a:extLst>
          </p:cNvPr>
          <p:cNvSpPr/>
          <p:nvPr/>
        </p:nvSpPr>
        <p:spPr>
          <a:xfrm>
            <a:off x="6766560" y="283464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3A2A08"/>
          </a:solidFill>
          <a:ln w="12700">
            <a:solidFill>
              <a:srgbClr val="6B53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1F79109-8F11-9E48-B5A6-475AFBF57FD6}"/>
              </a:ext>
            </a:extLst>
          </p:cNvPr>
          <p:cNvSpPr txBox="1"/>
          <p:nvPr/>
        </p:nvSpPr>
        <p:spPr>
          <a:xfrm>
            <a:off x="6766560" y="28346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(Token)</a:t>
            </a:r>
            <a:endParaRPr lang="en-US" sz="15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8750C40-F2E8-2B18-DE38-40BC5250D56F}"/>
              </a:ext>
            </a:extLst>
          </p:cNvPr>
          <p:cNvSpPr/>
          <p:nvPr/>
        </p:nvSpPr>
        <p:spPr>
          <a:xfrm>
            <a:off x="1600200" y="3584448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7503860-F0F3-B39C-8D03-69F4196C1AC0}"/>
              </a:ext>
            </a:extLst>
          </p:cNvPr>
          <p:cNvSpPr txBox="1"/>
          <p:nvPr/>
        </p:nvSpPr>
        <p:spPr>
          <a:xfrm>
            <a:off x="1600200" y="35844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3C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프로세스 (Process)</a:t>
            </a:r>
            <a:endParaRPr lang="en-US" sz="15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083FAFD-8B46-F031-4909-71EDDC1C2C0D}"/>
              </a:ext>
            </a:extLst>
          </p:cNvPr>
          <p:cNvSpPr txBox="1"/>
          <p:nvPr/>
        </p:nvSpPr>
        <p:spPr>
          <a:xfrm>
            <a:off x="5532120" y="3584448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1C1FE64-E158-E6CE-665D-B76827EE13C2}"/>
              </a:ext>
            </a:extLst>
          </p:cNvPr>
          <p:cNvSpPr/>
          <p:nvPr/>
        </p:nvSpPr>
        <p:spPr>
          <a:xfrm>
            <a:off x="6766560" y="3584448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3A2A08"/>
          </a:solidFill>
          <a:ln w="12700">
            <a:solidFill>
              <a:srgbClr val="6B53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0D5784E-90A7-EBF8-4115-86FD7D7F9F09}"/>
              </a:ext>
            </a:extLst>
          </p:cNvPr>
          <p:cNvSpPr txBox="1"/>
          <p:nvPr/>
        </p:nvSpPr>
        <p:spPr>
          <a:xfrm>
            <a:off x="6766560" y="35844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(Request)</a:t>
            </a:r>
            <a:endParaRPr lang="en-US" sz="15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261DB44-3043-7F73-1DDC-C0AA9E03212D}"/>
              </a:ext>
            </a:extLst>
          </p:cNvPr>
          <p:cNvSpPr/>
          <p:nvPr/>
        </p:nvSpPr>
        <p:spPr>
          <a:xfrm>
            <a:off x="1600200" y="4334256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BE42082-3E27-33C8-B9F3-2A8FDFEF8790}"/>
              </a:ext>
            </a:extLst>
          </p:cNvPr>
          <p:cNvSpPr txBox="1"/>
          <p:nvPr/>
        </p:nvSpPr>
        <p:spPr>
          <a:xfrm>
            <a:off x="1600200" y="433425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3C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테이블</a:t>
            </a:r>
            <a:endParaRPr lang="en-US" sz="15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5F4AD67-BFA4-4BE2-029B-3F8C70141CD0}"/>
              </a:ext>
            </a:extLst>
          </p:cNvPr>
          <p:cNvSpPr txBox="1"/>
          <p:nvPr/>
        </p:nvSpPr>
        <p:spPr>
          <a:xfrm>
            <a:off x="5532120" y="433425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B04708D-E104-4A35-E6D3-5D6C15BAFF53}"/>
              </a:ext>
            </a:extLst>
          </p:cNvPr>
          <p:cNvSpPr/>
          <p:nvPr/>
        </p:nvSpPr>
        <p:spPr>
          <a:xfrm>
            <a:off x="6766560" y="4334256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3A2A08"/>
          </a:solidFill>
          <a:ln w="12700">
            <a:solidFill>
              <a:srgbClr val="6B53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9DE0231-7B4D-A1A2-43BF-64089765430C}"/>
              </a:ext>
            </a:extLst>
          </p:cNvPr>
          <p:cNvSpPr txBox="1"/>
          <p:nvPr/>
        </p:nvSpPr>
        <p:spPr>
          <a:xfrm>
            <a:off x="6766560" y="433425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테이블</a:t>
            </a:r>
            <a:endParaRPr lang="en-US" sz="15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2A525FD-AEB1-AA6C-F614-6095268130B8}"/>
              </a:ext>
            </a:extLst>
          </p:cNvPr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23171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캐시를 고정 크기 블록으로 자르면, 흩어놔도 된다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하나에 정해진 개수의 토큰(기본 16개)의 Key/Value가 들어간다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</a:t>
            </a: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DF6EA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16712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</a:t>
            </a:r>
            <a:r>
              <a:rPr lang="en-US" sz="1400" b="1" dirty="0" err="1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</a:t>
            </a:r>
            <a:r>
              <a:rPr lang="en-US" sz="140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78024" y="2167128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DF6EA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478024" y="216712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</a:t>
            </a:r>
            <a:r>
              <a:rPr lang="en-US" sz="1400" b="1" dirty="0" err="1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</a:t>
            </a:r>
            <a:r>
              <a:rPr lang="en-US" sz="140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5968" y="2167128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DF6EA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315968" y="216712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</a:t>
            </a:r>
            <a:r>
              <a:rPr lang="en-US" sz="1400" b="1" dirty="0" err="1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</a:t>
            </a:r>
            <a:r>
              <a:rPr lang="en-US" sz="140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2167128"/>
            <a:ext cx="52148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블록 테이블이 논리 블록을 물리 블록에 매핑한다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논리 0 → 물리 #7      논리 1 → 물리 #1      논리 2 → 물리 #3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099816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</a:t>
            </a:r>
            <a:r>
              <a:rPr 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</a:t>
            </a:r>
            <a:r>
              <a:rPr lang="ko-KR" altLang="en-US" sz="11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392424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1F4F8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339242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41448" y="3392424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2441448" y="339242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6B5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42816" y="3392424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1F4F8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242816" y="339242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44184" y="3392424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044184" y="339242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6B5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45552" y="3392424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1F4F8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845552" y="339242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46920" y="3392424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1F4F8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9646920" y="339242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160520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1F4F8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40080" y="416052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41448" y="4160520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2441448" y="416052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6B5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42816" y="4160520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1F4F8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4242816" y="416052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44184" y="4160520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1F4F8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6044184" y="416052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45552" y="4160520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1F4F8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7845552" y="416052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646920" y="4160520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1F4F8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9646920" y="416052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0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1005840" y="539496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핵심은 이 한 줄이다:  </a:t>
            </a: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블록들이 물리 메모리에서 연속일 필요가 없다.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223C451-FF64-37A1-F72C-549913E97411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485900" y="2825496"/>
            <a:ext cx="1458267" cy="1625924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48AA2853-E4B0-B510-A6A2-C063DC0A1D6B}"/>
              </a:ext>
            </a:extLst>
          </p:cNvPr>
          <p:cNvCxnSpPr>
            <a:cxnSpLocks/>
            <a:stCxn id="10" idx="2"/>
            <a:endCxn id="18" idx="0"/>
          </p:cNvCxnSpPr>
          <p:nvPr/>
        </p:nvCxnSpPr>
        <p:spPr>
          <a:xfrm flipH="1">
            <a:off x="3287268" y="2825496"/>
            <a:ext cx="36576" cy="56692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94DEA03E-E3A2-736B-C921-4D33D1BE54A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161788" y="2825496"/>
            <a:ext cx="1429931" cy="832104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블록은 "필요해지는 순간"에만 하나씩 붙는다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"Four score and seven years ago our" (7토큰), 블록 크기 4인 경우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42106" cy="2651760"/>
          </a:xfrm>
          <a:prstGeom prst="roundRect">
            <a:avLst>
              <a:gd name="adj" fmla="val 2069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32688" y="2112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112264"/>
            <a:ext cx="2399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2688" y="2697480"/>
            <a:ext cx="8412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32688" y="2697480"/>
            <a:ext cx="84124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32688" y="269748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33009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01952" y="2697480"/>
            <a:ext cx="8412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901952" y="2839212"/>
            <a:ext cx="841248" cy="42519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901952" y="269748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901952" y="33009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1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3593592"/>
            <a:ext cx="28568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7토큰 → 논리 블록 2개.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 #7, #1을 새로 할당.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74794" y="1874520"/>
            <a:ext cx="3442106" cy="2651760"/>
          </a:xfrm>
          <a:prstGeom prst="roundRect">
            <a:avLst>
              <a:gd name="adj" fmla="val 2069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4667402" y="2112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124602" y="2112264"/>
            <a:ext cx="2399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67402" y="2697480"/>
            <a:ext cx="8412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67402" y="2697480"/>
            <a:ext cx="84124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667402" y="269748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667402" y="33009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36666" y="2697480"/>
            <a:ext cx="8412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636666" y="2697480"/>
            <a:ext cx="84124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636666" y="269748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36666" y="33009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1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667402" y="3593592"/>
            <a:ext cx="28568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토큰 하나 생성.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1에 빈 칸이 있으니 거기에.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 없음 — 카운터만 3→4.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09509" y="1874520"/>
            <a:ext cx="3442106" cy="2651760"/>
          </a:xfrm>
          <a:prstGeom prst="roundRect">
            <a:avLst>
              <a:gd name="adj" fmla="val 2069"/>
            </a:avLst>
          </a:prstGeom>
          <a:solidFill>
            <a:srgbClr val="FDF6EA"/>
          </a:solidFill>
          <a:ln w="12700">
            <a:solidFill>
              <a:srgbClr val="F0DC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8402117" y="2112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859317" y="2112264"/>
            <a:ext cx="2399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2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402117" y="2697480"/>
            <a:ext cx="8412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402117" y="2697480"/>
            <a:ext cx="84124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8402117" y="269748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402117" y="33009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371381" y="2697480"/>
            <a:ext cx="8412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371381" y="2697480"/>
            <a:ext cx="84124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9371381" y="269748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371381" y="33009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340645" y="2697480"/>
            <a:ext cx="8412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0340645" y="3122676"/>
            <a:ext cx="841248" cy="14173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10340645" y="269748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340645" y="33009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 2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402117" y="3593592"/>
            <a:ext cx="28568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1이 꽉 찼다.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그제서야 논리 블록 2를 만들고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 #3을 새로 할당.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467258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안의 색칠된 부분 = 채워진 슬롯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05840" y="539496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 2,048칸을 잡지 않는다.  Block</a:t>
            </a:r>
            <a:r>
              <a:rPr lang="ko-KR" alt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찰 때마다 한 </a:t>
            </a:r>
            <a:r>
              <a:rPr lang="en-US" altLang="ko-KR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r>
              <a:rPr lang="ko-KR" alt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더 점유</a:t>
            </a:r>
            <a:r>
              <a:rPr lang="en-US" altLang="ko-KR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결과, 세 가지 낭비가 한꺼번에 사라진다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KV 캐시 메모리를 성분별로 다시 쪼개보면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(Orca-Max)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130552"/>
            <a:ext cx="2182307" cy="731520"/>
          </a:xfrm>
          <a:prstGeom prst="rect">
            <a:avLst/>
          </a:prstGeom>
          <a:solidFill>
            <a:srgbClr val="2E9E96"/>
          </a:solidFill>
          <a:ln w="12700">
            <a:solidFill>
              <a:srgbClr val="2E9E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130552"/>
            <a:ext cx="21823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사용 20.4%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22387" y="2130552"/>
            <a:ext cx="4582845" cy="7315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822387" y="2130552"/>
            <a:ext cx="45828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05232" y="2130552"/>
            <a:ext cx="2836999" cy="731520"/>
          </a:xfrm>
          <a:prstGeom prst="rect">
            <a:avLst/>
          </a:prstGeom>
          <a:solidFill>
            <a:srgbClr val="CF5350"/>
          </a:solidFill>
          <a:ln w="12700">
            <a:solidFill>
              <a:srgbClr val="CF53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405232" y="2130552"/>
            <a:ext cx="2836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242231" y="2130552"/>
            <a:ext cx="1309384" cy="731520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242231" y="2130552"/>
            <a:ext cx="130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798949-F083-3148-0868-0EABEA76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320E02-8B57-5D71-4BF0-864ABEBC3CC2}"/>
              </a:ext>
            </a:extLst>
          </p:cNvPr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223691-2CC3-E7D3-55C5-B81DA59150CF}"/>
              </a:ext>
            </a:extLst>
          </p:cNvPr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F5B9FF-70F2-6235-4ABA-C45656D2E464}"/>
              </a:ext>
            </a:extLst>
          </p:cNvPr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결과, 세 가지 낭비가 한꺼번에 사라진다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972B28-B609-6C11-2AD5-8BB2FD916452}"/>
              </a:ext>
            </a:extLst>
          </p:cNvPr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KV 캐시 메모리를 성분별로 다시 쪼개보면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76FF107-FE88-051C-C9EF-06ECA85E501D}"/>
              </a:ext>
            </a:extLst>
          </p:cNvPr>
          <p:cNvSpPr txBox="1"/>
          <p:nvPr/>
        </p:nvSpPr>
        <p:spPr>
          <a:xfrm>
            <a:off x="640080" y="1874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(Orca-Max)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D63D031-B72D-0442-7911-3ED7E49D8201}"/>
              </a:ext>
            </a:extLst>
          </p:cNvPr>
          <p:cNvSpPr/>
          <p:nvPr/>
        </p:nvSpPr>
        <p:spPr>
          <a:xfrm>
            <a:off x="640080" y="2130552"/>
            <a:ext cx="2182307" cy="731520"/>
          </a:xfrm>
          <a:prstGeom prst="rect">
            <a:avLst/>
          </a:prstGeom>
          <a:solidFill>
            <a:srgbClr val="2E9E96"/>
          </a:solidFill>
          <a:ln w="12700">
            <a:solidFill>
              <a:srgbClr val="2E9E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40108C1-912D-B478-E31A-023FCCB60C79}"/>
              </a:ext>
            </a:extLst>
          </p:cNvPr>
          <p:cNvSpPr txBox="1"/>
          <p:nvPr/>
        </p:nvSpPr>
        <p:spPr>
          <a:xfrm>
            <a:off x="640080" y="2130552"/>
            <a:ext cx="21823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사용 20.4%</a:t>
            </a:r>
            <a:endParaRPr lang="en-US" sz="12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46F1445-812F-5BA0-5846-8AE2DE5B4552}"/>
              </a:ext>
            </a:extLst>
          </p:cNvPr>
          <p:cNvSpPr/>
          <p:nvPr/>
        </p:nvSpPr>
        <p:spPr>
          <a:xfrm>
            <a:off x="2822387" y="2130552"/>
            <a:ext cx="4582845" cy="7315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99F625F-DA26-EFCE-4340-58CFD1A23361}"/>
              </a:ext>
            </a:extLst>
          </p:cNvPr>
          <p:cNvSpPr txBox="1"/>
          <p:nvPr/>
        </p:nvSpPr>
        <p:spPr>
          <a:xfrm>
            <a:off x="2822387" y="2130552"/>
            <a:ext cx="45828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12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ED0C8E9-8D9B-1414-6539-2704E05AFC02}"/>
              </a:ext>
            </a:extLst>
          </p:cNvPr>
          <p:cNvSpPr/>
          <p:nvPr/>
        </p:nvSpPr>
        <p:spPr>
          <a:xfrm>
            <a:off x="7405232" y="2130552"/>
            <a:ext cx="2836999" cy="731520"/>
          </a:xfrm>
          <a:prstGeom prst="rect">
            <a:avLst/>
          </a:prstGeom>
          <a:solidFill>
            <a:srgbClr val="CF5350"/>
          </a:solidFill>
          <a:ln w="12700">
            <a:solidFill>
              <a:srgbClr val="CF53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27E794F-0B87-EBE8-4DB8-BA7E6D5EE153}"/>
              </a:ext>
            </a:extLst>
          </p:cNvPr>
          <p:cNvSpPr txBox="1"/>
          <p:nvPr/>
        </p:nvSpPr>
        <p:spPr>
          <a:xfrm>
            <a:off x="7405232" y="2130552"/>
            <a:ext cx="2836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2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359D67C-152F-705C-A25D-62582EA29E9C}"/>
              </a:ext>
            </a:extLst>
          </p:cNvPr>
          <p:cNvSpPr/>
          <p:nvPr/>
        </p:nvSpPr>
        <p:spPr>
          <a:xfrm>
            <a:off x="10242231" y="2130552"/>
            <a:ext cx="1309384" cy="731520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2FC5517-1ED3-B537-5AFE-B3220A88A6B6}"/>
              </a:ext>
            </a:extLst>
          </p:cNvPr>
          <p:cNvSpPr txBox="1"/>
          <p:nvPr/>
        </p:nvSpPr>
        <p:spPr>
          <a:xfrm>
            <a:off x="10242231" y="2130552"/>
            <a:ext cx="130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228C49-E0DE-7DA7-7233-9F2FB9362839}"/>
              </a:ext>
            </a:extLst>
          </p:cNvPr>
          <p:cNvSpPr txBox="1"/>
          <p:nvPr/>
        </p:nvSpPr>
        <p:spPr>
          <a:xfrm>
            <a:off x="640080" y="3008376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</a:t>
            </a:r>
            <a:endParaRPr lang="en-US" sz="11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24E4E23-44BC-09D9-7131-DFD931699246}"/>
              </a:ext>
            </a:extLst>
          </p:cNvPr>
          <p:cNvSpPr/>
          <p:nvPr/>
        </p:nvSpPr>
        <p:spPr>
          <a:xfrm>
            <a:off x="640080" y="3264408"/>
            <a:ext cx="10507808" cy="731520"/>
          </a:xfrm>
          <a:prstGeom prst="rect">
            <a:avLst/>
          </a:prstGeom>
          <a:solidFill>
            <a:srgbClr val="2E9E96"/>
          </a:solidFill>
          <a:ln w="12700">
            <a:solidFill>
              <a:srgbClr val="2E9E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947FAC1-AC6F-7E68-B8EF-C4411FCE80B7}"/>
              </a:ext>
            </a:extLst>
          </p:cNvPr>
          <p:cNvSpPr txBox="1"/>
          <p:nvPr/>
        </p:nvSpPr>
        <p:spPr>
          <a:xfrm>
            <a:off x="640080" y="3264408"/>
            <a:ext cx="10507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사용 96.3%</a:t>
            </a:r>
            <a:endParaRPr lang="en-US" sz="1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214610E-E3F2-2BE0-B16E-C2BACAB509D5}"/>
              </a:ext>
            </a:extLst>
          </p:cNvPr>
          <p:cNvSpPr/>
          <p:nvPr/>
        </p:nvSpPr>
        <p:spPr>
          <a:xfrm>
            <a:off x="11147888" y="3264408"/>
            <a:ext cx="403727" cy="731520"/>
          </a:xfrm>
          <a:prstGeom prst="rect">
            <a:avLst/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D959533-1200-7C55-2562-7E2895F9B899}"/>
              </a:ext>
            </a:extLst>
          </p:cNvPr>
          <p:cNvSpPr txBox="1"/>
          <p:nvPr/>
        </p:nvSpPr>
        <p:spPr>
          <a:xfrm>
            <a:off x="8697992" y="3977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 err="1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마지막</a:t>
            </a: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블록의 남는 칸 (≤15슬롯)</a:t>
            </a:r>
            <a:r>
              <a:rPr lang="ko-KR" alt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r>
              <a:rPr lang="en-US" altLang="ko-KR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3698E48-104D-E30F-B1AB-1A7586590761}"/>
              </a:ext>
            </a:extLst>
          </p:cNvPr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8936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2866-9756-6395-B5F1-DC79AF450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76FA13-5F86-43A0-8565-EF02A804DC60}"/>
              </a:ext>
            </a:extLst>
          </p:cNvPr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5D8168-FCB8-167F-770C-21C2B512F9F5}"/>
              </a:ext>
            </a:extLst>
          </p:cNvPr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2837B9-A105-ED52-7679-435B9A5E77EF}"/>
              </a:ext>
            </a:extLst>
          </p:cNvPr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결과, 세 가지 낭비가 한꺼번에 사라진다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C6554F-1524-A388-5C01-DAF7611F324B}"/>
              </a:ext>
            </a:extLst>
          </p:cNvPr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KV 캐시 메모리를 성분별로 다시 쪼개보면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4D4B39B-4605-1839-6E68-E1004EC9E9D5}"/>
              </a:ext>
            </a:extLst>
          </p:cNvPr>
          <p:cNvSpPr txBox="1"/>
          <p:nvPr/>
        </p:nvSpPr>
        <p:spPr>
          <a:xfrm>
            <a:off x="640080" y="1874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(Orca-Max)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C2AC419-9331-4BCA-4EDE-FF38B9CF27B4}"/>
              </a:ext>
            </a:extLst>
          </p:cNvPr>
          <p:cNvSpPr/>
          <p:nvPr/>
        </p:nvSpPr>
        <p:spPr>
          <a:xfrm>
            <a:off x="640080" y="2130552"/>
            <a:ext cx="2182307" cy="731520"/>
          </a:xfrm>
          <a:prstGeom prst="rect">
            <a:avLst/>
          </a:prstGeom>
          <a:solidFill>
            <a:srgbClr val="2E9E96"/>
          </a:solidFill>
          <a:ln w="12700">
            <a:solidFill>
              <a:srgbClr val="2E9E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1AF83B-3036-4150-2197-EA8486EA2667}"/>
              </a:ext>
            </a:extLst>
          </p:cNvPr>
          <p:cNvSpPr txBox="1"/>
          <p:nvPr/>
        </p:nvSpPr>
        <p:spPr>
          <a:xfrm>
            <a:off x="640080" y="2130552"/>
            <a:ext cx="21823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사용 20.4%</a:t>
            </a:r>
            <a:endParaRPr lang="en-US" sz="12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C034CF3-AEF9-3978-F044-0A6D7B4FF0B6}"/>
              </a:ext>
            </a:extLst>
          </p:cNvPr>
          <p:cNvSpPr/>
          <p:nvPr/>
        </p:nvSpPr>
        <p:spPr>
          <a:xfrm>
            <a:off x="2822387" y="2130552"/>
            <a:ext cx="4582845" cy="7315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EB98D97-C1E4-2411-69B4-758716B1F67E}"/>
              </a:ext>
            </a:extLst>
          </p:cNvPr>
          <p:cNvSpPr txBox="1"/>
          <p:nvPr/>
        </p:nvSpPr>
        <p:spPr>
          <a:xfrm>
            <a:off x="2822387" y="2130552"/>
            <a:ext cx="45828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12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1080164-96AD-9A90-CF5E-FF8792608757}"/>
              </a:ext>
            </a:extLst>
          </p:cNvPr>
          <p:cNvSpPr/>
          <p:nvPr/>
        </p:nvSpPr>
        <p:spPr>
          <a:xfrm>
            <a:off x="7405232" y="2130552"/>
            <a:ext cx="2836999" cy="731520"/>
          </a:xfrm>
          <a:prstGeom prst="rect">
            <a:avLst/>
          </a:prstGeom>
          <a:solidFill>
            <a:srgbClr val="CF5350"/>
          </a:solidFill>
          <a:ln w="12700">
            <a:solidFill>
              <a:srgbClr val="CF53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C511DA7-B6C6-0AB7-1594-A12C323A97A6}"/>
              </a:ext>
            </a:extLst>
          </p:cNvPr>
          <p:cNvSpPr txBox="1"/>
          <p:nvPr/>
        </p:nvSpPr>
        <p:spPr>
          <a:xfrm>
            <a:off x="7405232" y="2130552"/>
            <a:ext cx="2836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2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19F5645-4D39-00A9-791C-C69F8DA7D22B}"/>
              </a:ext>
            </a:extLst>
          </p:cNvPr>
          <p:cNvSpPr/>
          <p:nvPr/>
        </p:nvSpPr>
        <p:spPr>
          <a:xfrm>
            <a:off x="10242231" y="2130552"/>
            <a:ext cx="1309384" cy="731520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B92A20C-4F07-D168-A630-4570448BDB92}"/>
              </a:ext>
            </a:extLst>
          </p:cNvPr>
          <p:cNvSpPr txBox="1"/>
          <p:nvPr/>
        </p:nvSpPr>
        <p:spPr>
          <a:xfrm>
            <a:off x="10242231" y="2130552"/>
            <a:ext cx="130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B32CE6B-9B08-ED76-6A36-AF767A7331C7}"/>
              </a:ext>
            </a:extLst>
          </p:cNvPr>
          <p:cNvSpPr txBox="1"/>
          <p:nvPr/>
        </p:nvSpPr>
        <p:spPr>
          <a:xfrm>
            <a:off x="640080" y="3008376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</a:t>
            </a:r>
            <a:endParaRPr lang="en-US" sz="11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34B2DBF-54A2-AB05-8978-CCD588A9BF00}"/>
              </a:ext>
            </a:extLst>
          </p:cNvPr>
          <p:cNvSpPr/>
          <p:nvPr/>
        </p:nvSpPr>
        <p:spPr>
          <a:xfrm>
            <a:off x="640080" y="3264408"/>
            <a:ext cx="10507808" cy="731520"/>
          </a:xfrm>
          <a:prstGeom prst="rect">
            <a:avLst/>
          </a:prstGeom>
          <a:solidFill>
            <a:srgbClr val="2E9E96"/>
          </a:solidFill>
          <a:ln w="12700">
            <a:solidFill>
              <a:srgbClr val="2E9E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9D30483-064F-A53B-A078-A6BE023D9FF3}"/>
              </a:ext>
            </a:extLst>
          </p:cNvPr>
          <p:cNvSpPr txBox="1"/>
          <p:nvPr/>
        </p:nvSpPr>
        <p:spPr>
          <a:xfrm>
            <a:off x="640080" y="3264408"/>
            <a:ext cx="10507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사용 96.3%</a:t>
            </a:r>
            <a:endParaRPr lang="en-US" sz="1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7DA6233-39B9-278B-956B-C039B850FBF5}"/>
              </a:ext>
            </a:extLst>
          </p:cNvPr>
          <p:cNvSpPr/>
          <p:nvPr/>
        </p:nvSpPr>
        <p:spPr>
          <a:xfrm>
            <a:off x="11147888" y="3264408"/>
            <a:ext cx="403727" cy="731520"/>
          </a:xfrm>
          <a:prstGeom prst="rect">
            <a:avLst/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D2172B6-3BAF-AA70-A495-A46E3F0AC0F2}"/>
              </a:ext>
            </a:extLst>
          </p:cNvPr>
          <p:cNvSpPr txBox="1"/>
          <p:nvPr/>
        </p:nvSpPr>
        <p:spPr>
          <a:xfrm>
            <a:off x="8697992" y="3977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 err="1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마지막</a:t>
            </a: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블록의 남는 칸 (≤15슬롯)</a:t>
            </a:r>
            <a:r>
              <a:rPr lang="ko-KR" alt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r>
              <a:rPr lang="en-US" altLang="ko-KR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6090713-17A2-EA66-0AFF-165F9D7CEA81}"/>
              </a:ext>
            </a:extLst>
          </p:cNvPr>
          <p:cNvSpPr/>
          <p:nvPr/>
        </p:nvSpPr>
        <p:spPr>
          <a:xfrm>
            <a:off x="640080" y="4233672"/>
            <a:ext cx="3442106" cy="1097280"/>
          </a:xfrm>
          <a:prstGeom prst="roundRect">
            <a:avLst>
              <a:gd name="adj" fmla="val 5000"/>
            </a:avLst>
          </a:prstGeom>
          <a:solidFill>
            <a:srgbClr val="F0F8F7"/>
          </a:solidFill>
          <a:ln w="12700">
            <a:solidFill>
              <a:srgbClr val="C7E4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CF7357A-0BD8-0C72-A11C-9A7FCA7433C0}"/>
              </a:ext>
            </a:extLst>
          </p:cNvPr>
          <p:cNvSpPr txBox="1"/>
          <p:nvPr/>
        </p:nvSpPr>
        <p:spPr>
          <a:xfrm>
            <a:off x="950976" y="4361688"/>
            <a:ext cx="2820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59E24B4-856D-EF36-C718-613F033B575E}"/>
              </a:ext>
            </a:extLst>
          </p:cNvPr>
          <p:cNvSpPr txBox="1"/>
          <p:nvPr/>
        </p:nvSpPr>
        <p:spPr>
          <a:xfrm>
            <a:off x="950976" y="4562856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A2019B6-C2FF-D2A5-CA2A-ABA1C7E11E2E}"/>
              </a:ext>
            </a:extLst>
          </p:cNvPr>
          <p:cNvSpPr txBox="1"/>
          <p:nvPr/>
        </p:nvSpPr>
        <p:spPr>
          <a:xfrm>
            <a:off x="950976" y="4873752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 예약하지 않으니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 낭비 자체가 없다</a:t>
            </a:r>
            <a:endParaRPr lang="en-US" sz="10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0422E39-7E90-EF16-623C-E4072B369CD8}"/>
              </a:ext>
            </a:extLst>
          </p:cNvPr>
          <p:cNvSpPr/>
          <p:nvPr/>
        </p:nvSpPr>
        <p:spPr>
          <a:xfrm>
            <a:off x="4374794" y="4233672"/>
            <a:ext cx="3442106" cy="1097280"/>
          </a:xfrm>
          <a:prstGeom prst="roundRect">
            <a:avLst>
              <a:gd name="adj" fmla="val 5000"/>
            </a:avLst>
          </a:prstGeom>
          <a:solidFill>
            <a:srgbClr val="F0F8F7"/>
          </a:solidFill>
          <a:ln w="12700">
            <a:solidFill>
              <a:srgbClr val="C7E4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78A01E3-925E-C0AC-DFE2-3A48D2DD0B8F}"/>
              </a:ext>
            </a:extLst>
          </p:cNvPr>
          <p:cNvSpPr txBox="1"/>
          <p:nvPr/>
        </p:nvSpPr>
        <p:spPr>
          <a:xfrm>
            <a:off x="4685690" y="4361688"/>
            <a:ext cx="2820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680A9E3-E8B8-2434-E972-51D5399FD403}"/>
              </a:ext>
            </a:extLst>
          </p:cNvPr>
          <p:cNvSpPr txBox="1"/>
          <p:nvPr/>
        </p:nvSpPr>
        <p:spPr>
          <a:xfrm>
            <a:off x="4685690" y="4562856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15 슬롯</a:t>
            </a:r>
            <a:endParaRPr lang="en-US" sz="2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DCB074F-2EF4-CD7D-DD75-C6A044FB6706}"/>
              </a:ext>
            </a:extLst>
          </p:cNvPr>
          <p:cNvSpPr txBox="1"/>
          <p:nvPr/>
        </p:nvSpPr>
        <p:spPr>
          <a:xfrm>
            <a:off x="4685690" y="4873752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블록이 16토큰짜리라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최악이라도 마지막 블록 안쪽뿐</a:t>
            </a:r>
            <a:endParaRPr lang="en-US" sz="10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9833E55-EF18-DD5F-FC16-87FC239907CA}"/>
              </a:ext>
            </a:extLst>
          </p:cNvPr>
          <p:cNvSpPr/>
          <p:nvPr/>
        </p:nvSpPr>
        <p:spPr>
          <a:xfrm>
            <a:off x="8109509" y="4233672"/>
            <a:ext cx="3442106" cy="1097280"/>
          </a:xfrm>
          <a:prstGeom prst="roundRect">
            <a:avLst>
              <a:gd name="adj" fmla="val 5000"/>
            </a:avLst>
          </a:prstGeom>
          <a:solidFill>
            <a:srgbClr val="F0F8F7"/>
          </a:solidFill>
          <a:ln w="12700">
            <a:solidFill>
              <a:srgbClr val="C7E4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1D948EE-6CEB-5749-4EEE-95A9F4001AC6}"/>
              </a:ext>
            </a:extLst>
          </p:cNvPr>
          <p:cNvSpPr txBox="1"/>
          <p:nvPr/>
        </p:nvSpPr>
        <p:spPr>
          <a:xfrm>
            <a:off x="8420405" y="4361688"/>
            <a:ext cx="2820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99B467F-80CD-A551-5EDF-45A2DD1932B8}"/>
              </a:ext>
            </a:extLst>
          </p:cNvPr>
          <p:cNvSpPr txBox="1"/>
          <p:nvPr/>
        </p:nvSpPr>
        <p:spPr>
          <a:xfrm>
            <a:off x="8420405" y="4562856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50E56B4-84ED-2F43-66FF-67E99AF7A48A}"/>
              </a:ext>
            </a:extLst>
          </p:cNvPr>
          <p:cNvSpPr txBox="1"/>
          <p:nvPr/>
        </p:nvSpPr>
        <p:spPr>
          <a:xfrm>
            <a:off x="8420405" y="4873752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블록 크기가 같아서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"구멍" 문제가 성립하지 않는다</a:t>
            </a:r>
            <a:endParaRPr lang="en-US" sz="10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4F76688-EC59-1341-B3E3-8F88F3F9111C}"/>
              </a:ext>
            </a:extLst>
          </p:cNvPr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D52049B-0BF9-85F4-F906-A036AFDAF353}"/>
              </a:ext>
            </a:extLst>
          </p:cNvPr>
          <p:cNvSpPr txBox="1"/>
          <p:nvPr/>
        </p:nvSpPr>
        <p:spPr>
          <a:xfrm>
            <a:off x="1005840" y="539496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낭비가 사라진 게 아니라,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마지막 블록 하나(≤16 토큰) 안쪽으로 갇힌 것이다.</a:t>
            </a:r>
            <a:endParaRPr lang="en-US" sz="15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05B017D-5B80-E8FC-5594-36219778508C}"/>
              </a:ext>
            </a:extLst>
          </p:cNvPr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94712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보너스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</a:t>
            </a:r>
            <a:r>
              <a:rPr lang="en-US" sz="300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</a:t>
            </a:r>
            <a:r>
              <a:rPr lang="ko-KR" alt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유에서의 장점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내용의 KV 블록이라면 여러 시퀀스가 같은 물리 블록을 가리키면 된다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8541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샘플 A1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2185416"/>
            <a:ext cx="1481328" cy="566928"/>
          </a:xfrm>
          <a:prstGeom prst="roundRect">
            <a:avLst>
              <a:gd name="adj" fmla="val 806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691640" y="218541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블록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2185416"/>
            <a:ext cx="1481328" cy="566928"/>
          </a:xfrm>
          <a:prstGeom prst="roundRect">
            <a:avLst>
              <a:gd name="adj" fmla="val 806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319272" y="218541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블록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46904" y="2185416"/>
            <a:ext cx="1481328" cy="566928"/>
          </a:xfrm>
          <a:prstGeom prst="roundRect">
            <a:avLst>
              <a:gd name="adj" fmla="val 8065"/>
            </a:avLst>
          </a:prstGeom>
          <a:solidFill>
            <a:srgbClr val="EEF1F5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946904" y="218541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 #2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11810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샘플 A2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91640" y="3118104"/>
            <a:ext cx="1481328" cy="566928"/>
          </a:xfrm>
          <a:prstGeom prst="roundRect">
            <a:avLst>
              <a:gd name="adj" fmla="val 806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691640" y="311810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블록 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9272" y="3118104"/>
            <a:ext cx="1481328" cy="566928"/>
          </a:xfrm>
          <a:prstGeom prst="roundRect">
            <a:avLst>
              <a:gd name="adj" fmla="val 806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319272" y="311810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블록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46904" y="3118104"/>
            <a:ext cx="1481328" cy="566928"/>
          </a:xfrm>
          <a:prstGeom prst="roundRect">
            <a:avLst>
              <a:gd name="adj" fmla="val 8065"/>
            </a:avLst>
          </a:prstGeom>
          <a:solidFill>
            <a:srgbClr val="EEF1F5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4946904" y="3118104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 #3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91640" y="2093976"/>
            <a:ext cx="3108960" cy="1755648"/>
          </a:xfrm>
          <a:prstGeom prst="roundRect">
            <a:avLst>
              <a:gd name="adj" fmla="val 3125"/>
            </a:avLst>
          </a:prstGeom>
          <a:solidFill>
            <a:srgbClr val="FFFFFF">
              <a:alpha val="0"/>
            </a:srgbClr>
          </a:solidFill>
          <a:ln w="19050">
            <a:solidFill>
              <a:srgbClr val="E8A33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691640" y="3904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물리 </a:t>
            </a:r>
            <a:r>
              <a:rPr lang="en-US" sz="1150" b="1" dirty="0" err="1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</a:t>
            </a:r>
            <a:r>
              <a:rPr lang="en-US" sz="115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b="1" dirty="0" err="1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</a:t>
            </a:r>
            <a:r>
              <a:rPr lang="ko-KR" altLang="en-US" sz="115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나로 여러 번 참조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946904" y="3904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갈라지는</a:t>
            </a:r>
            <a:r>
              <a:rPr lang="en-US" sz="10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지점부터만</a:t>
            </a:r>
            <a:endParaRPr lang="en-US" sz="1050" dirty="0">
              <a:solidFill>
                <a:srgbClr val="6E778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050" dirty="0" err="1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</a:t>
            </a:r>
            <a:r>
              <a:rPr lang="en-US" sz="10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블록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26680" y="1874520"/>
            <a:ext cx="3824935" cy="1024128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8019288" y="2020824"/>
            <a:ext cx="32397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Copy-on-Write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019288" y="2331720"/>
            <a:ext cx="32397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 블록에 서로 다른 값을 쓰려는 순간에만 복사한다. OS의 fork와 완전히 같은 기법.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26680" y="3044952"/>
            <a:ext cx="3824935" cy="1024128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019288" y="3191256"/>
            <a:ext cx="32397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Prefix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019288" y="3502152"/>
            <a:ext cx="32397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시스템 프롬프트를 미리 계산해두고, 새 요청은 그 블록을 참조만 한다.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26680" y="4215384"/>
            <a:ext cx="3824935" cy="822960"/>
          </a:xfrm>
          <a:prstGeom prst="roundRect">
            <a:avLst>
              <a:gd name="adj" fmla="val 6667"/>
            </a:avLst>
          </a:prstGeom>
          <a:solidFill>
            <a:srgbClr val="F0F8F7"/>
          </a:solidFill>
          <a:ln w="12700">
            <a:solidFill>
              <a:srgbClr val="C7E4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8019288" y="4215384"/>
            <a:ext cx="32397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search 메모리 최대 55% 절감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sampling은 6~10%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1005840" y="539496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통째로 복사하는 대신 포인터를 공유한다. 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블록으로 쪼개놨기 때문에 가능해진 일.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결과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아낀 메모리는 그대로 배치 크기가 된다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OPT-13B · ShareGPT 데이터셋 기준, 동시에 처리하는 요청 수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874520"/>
          <a:ext cx="63093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269480" y="1874520"/>
            <a:ext cx="4282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가능한 요청률 (throughput) 비교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269480" y="2203704"/>
            <a:ext cx="4282135" cy="804672"/>
          </a:xfrm>
          <a:prstGeom prst="roundRect">
            <a:avLst>
              <a:gd name="adj" fmla="val 6818"/>
            </a:avLst>
          </a:prstGeom>
          <a:solidFill>
            <a:srgbClr val="F0F8F7"/>
          </a:solidFill>
          <a:ln w="12700">
            <a:solidFill>
              <a:srgbClr val="C7E4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543800" y="2295144"/>
            <a:ext cx="3733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1.7~2.7×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2660904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Orca (Oracle) — 이론적 최선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69480" y="3136392"/>
            <a:ext cx="4282135" cy="804672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543800" y="3227832"/>
            <a:ext cx="3733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2.7~8×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3593592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Orca (Max)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269480" y="4069080"/>
            <a:ext cx="4282135" cy="804672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543800" y="4160520"/>
            <a:ext cx="3733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22×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7543800" y="4526280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FasterTransformer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005840" y="539496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배치가 7개에서 30.4개로. 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처리량 2~4배의 정체는 결국 이 숫자 하나다.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공짜는 아니다 — 커널 자체는 오히려 느려졌다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Section 7.1 — 블록 테이블을 따라가며 흩어진 메모리를 읽는 비용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137300"/>
            <a:ext cx="4709160" cy="2286000"/>
          </a:xfrm>
          <a:prstGeom prst="roundRect">
            <a:avLst>
              <a:gd name="adj" fmla="val 2400"/>
            </a:avLst>
          </a:prstGeom>
          <a:solidFill>
            <a:srgbClr val="FDECEB"/>
          </a:solidFill>
          <a:ln w="12700">
            <a:solidFill>
              <a:srgbClr val="F3C9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280160" y="24116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A83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치른 대가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74080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+20~26%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6003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커널 지연시간 증가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(FasterTransformer의 커널 대비)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2137300"/>
            <a:ext cx="9445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그런데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68135" y="2137300"/>
            <a:ext cx="4709160" cy="2286000"/>
          </a:xfrm>
          <a:prstGeom prst="roundRect">
            <a:avLst>
              <a:gd name="adj" fmla="val 2400"/>
            </a:avLst>
          </a:prstGeom>
          <a:solidFill>
            <a:srgbClr val="F0F8F7"/>
          </a:solidFill>
          <a:ln w="12700">
            <a:solidFill>
              <a:srgbClr val="C7E4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933895" y="24116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7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얻은 것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933895" y="274080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×2~4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933895" y="36003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처리량 증가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(배치 크기가 7 → 30.4개로 커지므로)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62446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attention은 전체 모델 연산의 일부일 뿐이고, Linear 레이어 등은 영향을 받지 않는다.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이후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사후 연구 흐름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지금의 최적화는 대략 여섯 갈래 — 서로 직교해서 같이 쓸 수 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54298" cy="1389888"/>
          </a:xfrm>
          <a:prstGeom prst="roundRect">
            <a:avLst>
              <a:gd name="adj" fmla="val 3947"/>
            </a:avLst>
          </a:prstGeom>
          <a:solidFill>
            <a:srgbClr val="FDF6EA"/>
          </a:solidFill>
          <a:ln w="12700">
            <a:solidFill>
              <a:srgbClr val="F0DC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0391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039112"/>
            <a:ext cx="25216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관리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29855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PagedAttention이 </a:t>
            </a:r>
            <a:r>
              <a:rPr lang="en-US" sz="1400" b="1" dirty="0" err="1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표준이</a:t>
            </a:r>
            <a:r>
              <a:rPr lang="en-US" sz="140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40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됨</a:t>
            </a:r>
            <a:endParaRPr lang="en-US" sz="1400" b="1" dirty="0"/>
          </a:p>
        </p:txBody>
      </p:sp>
      <p:sp>
        <p:nvSpPr>
          <p:cNvPr id="11" name="Shape 9"/>
          <p:cNvSpPr/>
          <p:nvPr/>
        </p:nvSpPr>
        <p:spPr>
          <a:xfrm>
            <a:off x="4368698" y="1874520"/>
            <a:ext cx="3454298" cy="1389888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643018" y="20391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7066" y="2039112"/>
            <a:ext cx="25216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배칭 · 스케줄링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43018" y="2386584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batching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chunked prefill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43018" y="2862072"/>
            <a:ext cx="29056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프롬프트가 다른 사람 토큰 생성을 끊지 않게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7317" y="1874520"/>
            <a:ext cx="3454298" cy="1389888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371637" y="20391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755685" y="2039112"/>
            <a:ext cx="25216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재사용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71637" y="2386584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prefix caching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RadixAttention · LMCache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71637" y="2862072"/>
            <a:ext cx="29056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6.3(shared prefix)의 자동화 + GPU 밖으로 계층화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502152"/>
            <a:ext cx="3454298" cy="1389888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914400" y="366674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3666744"/>
            <a:ext cx="25216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/ Decode 분리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014216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DistServe · Splitwise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NVIDIA Dynamo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489704"/>
            <a:ext cx="29056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성질이 다른 두 단계를 아예 다른 GPU 그룹에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68698" y="3502152"/>
            <a:ext cx="3454298" cy="1389888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4643018" y="366674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27066" y="3666744"/>
            <a:ext cx="25216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크기 자체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643018" y="4014216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GQA · MLA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/ INT8 양자화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643018" y="4489704"/>
            <a:ext cx="29056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논문이 "알뜰하게"라면 이쪽은 "작게"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7317" y="3502152"/>
            <a:ext cx="3454298" cy="1389888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8371637" y="366674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755685" y="3666744"/>
            <a:ext cx="25216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디코딩 방식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71637" y="4014216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 decoding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(EAGLE · Medusa · n-gram)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371637" y="4489704"/>
            <a:ext cx="29056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decode에서 놀고 있는 연산 능력을 쓰자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77824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LLM </a:t>
            </a:r>
            <a:r>
              <a:rPr lang="en-US" sz="300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서빙</a:t>
            </a: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93166"/>
            <a:ext cx="5941590" cy="493776"/>
          </a:xfrm>
          <a:prstGeom prst="roundRect">
            <a:avLst>
              <a:gd name="adj" fmla="val 9259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77824" y="159316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오케스트레이션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593166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P/D 분리 · 캐시 지역성 라우팅 (Dynamo)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169238"/>
            <a:ext cx="5941590" cy="493776"/>
          </a:xfrm>
          <a:prstGeom prst="roundRect">
            <a:avLst>
              <a:gd name="adj" fmla="val 9259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77824" y="216923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계층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69238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caching · KV 오프로딩 (LMCache)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745310"/>
            <a:ext cx="5941590" cy="493776"/>
          </a:xfrm>
          <a:prstGeom prst="roundRect">
            <a:avLst>
              <a:gd name="adj" fmla="val 9259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77824" y="274531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서빙 엔진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745310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 · SGLang · TensorRT-LLM + continuous batching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321382"/>
            <a:ext cx="5941590" cy="493776"/>
          </a:xfrm>
          <a:prstGeom prst="roundRect">
            <a:avLst>
              <a:gd name="adj" fmla="val 925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77824" y="332138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메모리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321382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 KV cache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897454"/>
            <a:ext cx="5941590" cy="493776"/>
          </a:xfrm>
          <a:prstGeom prst="roundRect">
            <a:avLst>
              <a:gd name="adj" fmla="val 9259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877824" y="389745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 · 실행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389745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 / FlashInfer · CUDA graph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473526"/>
            <a:ext cx="5941590" cy="493776"/>
          </a:xfrm>
          <a:prstGeom prst="roundRect">
            <a:avLst>
              <a:gd name="adj" fmla="val 9259"/>
            </a:avLst>
          </a:prstGeom>
          <a:solidFill>
            <a:srgbClr val="F5F7FA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877824" y="447352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아키텍처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4473526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GQA · MLA · FP8 양자화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787410" y="3298522"/>
            <a:ext cx="146962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 </a:t>
            </a:r>
            <a:r>
              <a:rPr lang="en-US" sz="1200" b="1" dirty="0" err="1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49640" y="1593166"/>
            <a:ext cx="3001975" cy="3456432"/>
          </a:xfrm>
          <a:prstGeom prst="roundRect">
            <a:avLst>
              <a:gd name="adj" fmla="val 1828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842248" y="1867486"/>
            <a:ext cx="2416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달라진 것 하나 더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842248" y="2196670"/>
            <a:ext cx="2416759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기준이 바뀌었다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논문은 처리량(throughput)만 봤다.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지금은 지연시간 SLO를 같이 본다.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TTFT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글자가 나오기까지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TPOT / ITL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글자가 이어져 나오는 속도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2161F"/>
          </a:solidFill>
          <a:ln w="12700">
            <a:solidFill>
              <a:srgbClr val="1216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005840" y="539496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배치를 키워 처리량을 올리는 전략은 지연시간을 희생한다. 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chunked prefill과 P/D 분리가 나온 이유가 그것.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1002975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783080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887968" y="1783080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09176" y="1783080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930384" y="1783080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451592" y="1783080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366760" y="2304288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887968" y="2304288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409176" y="2304288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30384" y="2304288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451592" y="2304288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366760" y="2825496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887968" y="2825496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409176" y="2825496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930384" y="2825496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451592" y="2825496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366760" y="3346704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887968" y="3346704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409176" y="3346704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930384" y="3346704"/>
            <a:ext cx="402336" cy="402336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451592" y="3346704"/>
            <a:ext cx="402336" cy="402336"/>
          </a:xfrm>
          <a:prstGeom prst="roundRect">
            <a:avLst>
              <a:gd name="adj" fmla="val 4545"/>
            </a:avLst>
          </a:prstGeom>
          <a:solidFill>
            <a:srgbClr val="1E2534"/>
          </a:solidFill>
          <a:ln w="12700">
            <a:solidFill>
              <a:srgbClr val="2C34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40080" y="2103120"/>
            <a:ext cx="7406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ko-KR" altLang="en-US" sz="2100" dirty="0">
                <a:solidFill>
                  <a:srgbClr val="C3C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논문 이전에는 </a:t>
            </a:r>
            <a:r>
              <a:rPr lang="en-US" sz="2100" dirty="0">
                <a:solidFill>
                  <a:srgbClr val="C3C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캐시의 60~80%를 버리고 있었다.
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PagedAttention은 OS의 페이징을 그대로 가져와</a:t>
            </a:r>
            <a:endParaRPr lang="en-US" sz="21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KV</a:t>
            </a:r>
            <a:r>
              <a:rPr lang="ko-KR" altLang="en-US" sz="2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캐시의 메모리 사용률을 최적화했다</a:t>
            </a:r>
            <a:r>
              <a:rPr lang="en-US" altLang="ko-KR" sz="2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.</a:t>
            </a:r>
          </a:p>
        </p:txBody>
      </p:sp>
      <p:sp>
        <p:nvSpPr>
          <p:cNvPr id="24" name="Shape 22"/>
          <p:cNvSpPr/>
          <p:nvPr/>
        </p:nvSpPr>
        <p:spPr>
          <a:xfrm>
            <a:off x="640080" y="4681728"/>
            <a:ext cx="1371600" cy="18288"/>
          </a:xfrm>
          <a:prstGeom prst="rect">
            <a:avLst/>
          </a:prstGeom>
          <a:solidFill>
            <a:srgbClr val="3A4356"/>
          </a:solidFill>
          <a:ln w="12700">
            <a:solidFill>
              <a:srgbClr val="3A43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40080" y="58521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3968</Words>
  <Application>Microsoft Macintosh PowerPoint</Application>
  <PresentationFormat>와이드스크린</PresentationFormat>
  <Paragraphs>478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PagedAttention 논문 리뷰</dc:title>
  <dc:subject>PptxGenJS Presentation</dc:subject>
  <dc:creator>CUAI</dc:creator>
  <cp:lastModifiedBy>이정우</cp:lastModifiedBy>
  <cp:revision>8</cp:revision>
  <dcterms:created xsi:type="dcterms:W3CDTF">2026-09-07T16:23:04Z</dcterms:created>
  <dcterms:modified xsi:type="dcterms:W3CDTF">2026-09-08T11:06:39Z</dcterms:modified>
</cp:coreProperties>
</file>