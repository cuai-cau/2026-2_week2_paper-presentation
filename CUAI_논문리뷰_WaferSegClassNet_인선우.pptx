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73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9144000" cy="5143500" type="screen16x9"/>
  <p:notesSz cx="6858000" cy="9144000"/>
  <p:embeddedFontLst>
    <p:embeddedFont>
      <p:font typeface="NanumGothic" panose="020D0604000000000000"/>
      <p:regular r:id="rId21"/>
      <p:bold r:id="rId22"/>
    </p:embeddedFont>
    <p:embeddedFont>
      <p:font typeface="맑은 고딕" panose="020B0503020000020004" pitchFamily="34" charset="-127"/>
      <p:regular r:id="rId23"/>
      <p:bold r:id="rId24"/>
    </p:embeddedFont>
    <p:embeddedFont>
      <p:font typeface="NanumGothicExtraBold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50"/>
    <p:restoredTop sz="94518"/>
  </p:normalViewPr>
  <p:slideViewPr>
    <p:cSldViewPr snapToGrid="0">
      <p:cViewPr varScale="1">
        <p:scale>
          <a:sx n="72" d="100"/>
          <a:sy n="72" d="100"/>
        </p:scale>
        <p:origin x="200" y="22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6accca8d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6accca8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여기부터는 스터디 발표에 쓰이는 PPT 슬라이드입니다!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6accca8d1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6accca8d1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6accca8d11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6accca8d11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176d744966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176d744966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-8275" y="-84750"/>
            <a:ext cx="9254700" cy="5231400"/>
          </a:xfrm>
          <a:prstGeom prst="rect">
            <a:avLst/>
          </a:prstGeom>
          <a:solidFill>
            <a:srgbClr val="19264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" name="Google Shape;45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1049750" y="3137425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0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0"/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0"/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9" name="Google Shape;49;p10"/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" name="Google Shape;50;p10"/>
          <p:cNvSpPr/>
          <p:nvPr/>
        </p:nvSpPr>
        <p:spPr>
          <a:xfrm>
            <a:off x="1060050" y="211800"/>
            <a:ext cx="7420500" cy="471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10"/>
          <p:cNvSpPr txBox="1"/>
          <p:nvPr/>
        </p:nvSpPr>
        <p:spPr>
          <a:xfrm>
            <a:off x="1469575" y="510025"/>
            <a:ext cx="14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0"/>
          <p:cNvSpPr txBox="1"/>
          <p:nvPr/>
        </p:nvSpPr>
        <p:spPr>
          <a:xfrm>
            <a:off x="146888" y="59400"/>
            <a:ext cx="1129500" cy="17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rgbClr val="9E9E9E"/>
                </a:solidFill>
                <a:latin typeface="NanumGothic"/>
                <a:ea typeface="NanumGothic"/>
                <a:cs typeface="NanumGothic"/>
                <a:sym typeface="Nanum Gothic"/>
              </a:rPr>
              <a:t>8기 활동 소개</a:t>
            </a:r>
            <a:endParaRPr sz="800">
              <a:solidFill>
                <a:srgbClr val="9E9E9E"/>
              </a:solidFill>
              <a:latin typeface="NanumGothic"/>
              <a:ea typeface="NanumGothic"/>
              <a:cs typeface="Nanum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 b="1">
                <a:solidFill>
                  <a:srgbClr val="777777"/>
                </a:solidFill>
                <a:latin typeface="NanumGothic"/>
                <a:ea typeface="NanumGothic"/>
                <a:cs typeface="NanumGothic"/>
                <a:sym typeface="Nanum Gothic"/>
              </a:rPr>
              <a:t>9기 활동 안내</a:t>
            </a:r>
            <a:endParaRPr sz="800">
              <a:solidFill>
                <a:srgbClr val="9E9E9E"/>
              </a:solidFill>
              <a:latin typeface="NanumGothic"/>
              <a:ea typeface="NanumGothic"/>
              <a:cs typeface="Nanum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rgbClr val="9E9E9E"/>
                </a:solidFill>
                <a:latin typeface="NanumGothic"/>
                <a:ea typeface="NanumGothic"/>
                <a:cs typeface="NanumGothic"/>
                <a:sym typeface="Nanum Gothic"/>
              </a:rPr>
              <a:t>정기세션</a:t>
            </a:r>
            <a:endParaRPr sz="800">
              <a:solidFill>
                <a:srgbClr val="9E9E9E"/>
              </a:solidFill>
              <a:latin typeface="NanumGothic"/>
              <a:ea typeface="NanumGothic"/>
              <a:cs typeface="Nanum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99999"/>
                </a:solidFill>
                <a:latin typeface="NanumGothic"/>
                <a:ea typeface="NanumGothic"/>
                <a:cs typeface="NanumGothic"/>
                <a:sym typeface="Nanum Gothic"/>
              </a:rPr>
              <a:t>CUAI Github</a:t>
            </a:r>
            <a:endParaRPr sz="800">
              <a:solidFill>
                <a:srgbClr val="999999"/>
              </a:solidFill>
              <a:latin typeface="NanumGothic"/>
              <a:ea typeface="NanumGothic"/>
              <a:cs typeface="Nanum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E9E9E"/>
                </a:solidFill>
                <a:latin typeface="NanumGothic"/>
                <a:ea typeface="NanumGothic"/>
                <a:cs typeface="NanumGothic"/>
                <a:sym typeface="Nanum Gothic"/>
              </a:rPr>
              <a:t>Basic Track</a:t>
            </a:r>
            <a:endParaRPr sz="800">
              <a:solidFill>
                <a:srgbClr val="9E9E9E"/>
              </a:solidFill>
              <a:latin typeface="NanumGothic"/>
              <a:ea typeface="NanumGothic"/>
              <a:cs typeface="Nanum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E9E9E"/>
                </a:solidFill>
                <a:latin typeface="NanumGothic"/>
                <a:ea typeface="NanumGothic"/>
                <a:cs typeface="NanumGothic"/>
                <a:sym typeface="Nanum Gothic"/>
              </a:rPr>
              <a:t>Advanced Track</a:t>
            </a:r>
            <a:endParaRPr sz="800">
              <a:solidFill>
                <a:srgbClr val="9E9E9E"/>
              </a:solidFill>
              <a:latin typeface="NanumGothic"/>
              <a:ea typeface="NanumGothic"/>
              <a:cs typeface="Nanum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9E9E9E"/>
                </a:solidFill>
                <a:latin typeface="NanumGothic"/>
                <a:ea typeface="NanumGothic"/>
                <a:cs typeface="NanumGothic"/>
                <a:sym typeface="Nanum Gothic"/>
              </a:rPr>
              <a:t>스터디 소개</a:t>
            </a:r>
            <a:endParaRPr sz="800" b="1">
              <a:solidFill>
                <a:srgbClr val="9E9E9E"/>
              </a:solidFill>
              <a:latin typeface="NanumGothic"/>
              <a:ea typeface="NanumGothic"/>
              <a:cs typeface="Nanum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9E9E9E"/>
                </a:solidFill>
                <a:latin typeface="NanumGothic"/>
                <a:ea typeface="NanumGothic"/>
                <a:cs typeface="NanumGothic"/>
                <a:sym typeface="Nanum Gothic"/>
              </a:rPr>
              <a:t>AI 세미나 소개</a:t>
            </a:r>
            <a:endParaRPr sz="800">
              <a:solidFill>
                <a:srgbClr val="999999"/>
              </a:solidFill>
              <a:latin typeface="NanumGothic"/>
              <a:ea typeface="NanumGothic"/>
              <a:cs typeface="Nanum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99999"/>
                </a:solidFill>
                <a:latin typeface="NanumGothic"/>
                <a:ea typeface="NanumGothic"/>
                <a:cs typeface="NanumGothic"/>
                <a:sym typeface="Nanum Gothic"/>
              </a:rPr>
              <a:t>CUAI 장학금</a:t>
            </a:r>
            <a:endParaRPr sz="800">
              <a:solidFill>
                <a:srgbClr val="999999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3"/>
          <p:cNvSpPr txBox="1"/>
          <p:nvPr/>
        </p:nvSpPr>
        <p:spPr>
          <a:xfrm>
            <a:off x="1339750" y="2280050"/>
            <a:ext cx="7200000" cy="21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b="1" dirty="0">
                <a:solidFill>
                  <a:srgbClr val="19264B"/>
                </a:solidFill>
              </a:rPr>
              <a:t>CUAI 논문리뷰 : WaferSegClassNet — A Light-weight Network for Classification and Segmentation of Semiconductor Wafer Defects</a:t>
            </a:r>
            <a:endParaRPr sz="1800" b="1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19264B"/>
                </a:solidFill>
              </a:rPr>
              <a:t>2026.0</a:t>
            </a:r>
            <a:r>
              <a:rPr lang="en-US" altLang="ko" dirty="0">
                <a:solidFill>
                  <a:srgbClr val="19264B"/>
                </a:solidFill>
              </a:rPr>
              <a:t>9</a:t>
            </a:r>
            <a:r>
              <a:rPr lang="ko" dirty="0">
                <a:solidFill>
                  <a:srgbClr val="19264B"/>
                </a:solidFill>
              </a:rPr>
              <a:t>.</a:t>
            </a:r>
            <a:r>
              <a:rPr lang="en-US" altLang="ko" dirty="0">
                <a:solidFill>
                  <a:srgbClr val="19264B"/>
                </a:solidFill>
              </a:rPr>
              <a:t>08</a:t>
            </a: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dirty="0">
                <a:solidFill>
                  <a:srgbClr val="19264B"/>
                </a:solidFill>
              </a:rPr>
              <a:t>발표자 : 인선우</a:t>
            </a:r>
            <a:endParaRPr sz="1100" dirty="0">
              <a:solidFill>
                <a:srgbClr val="19264B"/>
              </a:solidFill>
            </a:endParaRPr>
          </a:p>
        </p:txBody>
      </p:sp>
      <p:cxnSp>
        <p:nvCxnSpPr>
          <p:cNvPr id="65" name="Google Shape;65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6" name="Google Shape;6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2" name="Google Shape;82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목차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1001" name="TextBox 1002"/>
          <p:cNvSpPr txBox="1"/>
          <p:nvPr/>
        </p:nvSpPr>
        <p:spPr>
          <a:xfrm>
            <a:off x="1408975" y="1180000"/>
            <a:ext cx="62000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01</a:t>
            </a:r>
            <a:endParaRPr/>
          </a:p>
        </p:txBody>
      </p:sp>
      <p:sp>
        <p:nvSpPr>
          <p:cNvPr id="1003" name="TextBox 1004"/>
          <p:cNvSpPr txBox="1"/>
          <p:nvPr/>
        </p:nvSpPr>
        <p:spPr>
          <a:xfrm>
            <a:off x="2048975" y="1150000"/>
            <a:ext cx="22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 b="1">
                <a:solidFill>
                  <a:srgbClr val="19264B"/>
                </a:solidFill>
                <a:latin typeface="맑은 고딕"/>
                <a:ea typeface="맑은 고딕"/>
                <a:cs typeface="맑은 고딕"/>
                <a:sym typeface="맑은 고딕"/>
              </a:rPr>
              <a:t>Motivation</a:t>
            </a:r>
            <a:endParaRPr/>
          </a:p>
        </p:txBody>
      </p:sp>
      <p:sp>
        <p:nvSpPr>
          <p:cNvPr id="1005" name="TextBox 1006"/>
          <p:cNvSpPr txBox="1"/>
          <p:nvPr/>
        </p:nvSpPr>
        <p:spPr>
          <a:xfrm>
            <a:off x="2048975" y="1450000"/>
            <a:ext cx="56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  <a:sym typeface="맑은 고딕"/>
              </a:rPr>
              <a:t>웨이퍼 결함 검사와 기존 연구의 한계</a:t>
            </a:r>
            <a:endParaRPr dirty="0"/>
          </a:p>
        </p:txBody>
      </p:sp>
      <p:sp>
        <p:nvSpPr>
          <p:cNvPr id="1007" name="TextBox 1008"/>
          <p:cNvSpPr txBox="1"/>
          <p:nvPr/>
        </p:nvSpPr>
        <p:spPr>
          <a:xfrm>
            <a:off x="1408975" y="1870000"/>
            <a:ext cx="62000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02</a:t>
            </a:r>
            <a:endParaRPr/>
          </a:p>
        </p:txBody>
      </p:sp>
      <p:sp>
        <p:nvSpPr>
          <p:cNvPr id="1009" name="TextBox 1010"/>
          <p:cNvSpPr txBox="1"/>
          <p:nvPr/>
        </p:nvSpPr>
        <p:spPr>
          <a:xfrm>
            <a:off x="2048975" y="1840000"/>
            <a:ext cx="22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 b="1">
                <a:solidFill>
                  <a:srgbClr val="19264B"/>
                </a:solidFill>
                <a:latin typeface="맑은 고딕"/>
                <a:ea typeface="맑은 고딕"/>
                <a:cs typeface="맑은 고딕"/>
                <a:sym typeface="맑은 고딕"/>
              </a:rPr>
              <a:t>Background</a:t>
            </a:r>
            <a:endParaRPr/>
          </a:p>
        </p:txBody>
      </p:sp>
      <p:sp>
        <p:nvSpPr>
          <p:cNvPr id="1011" name="TextBox 1012"/>
          <p:cNvSpPr txBox="1"/>
          <p:nvPr/>
        </p:nvSpPr>
        <p:spPr>
          <a:xfrm>
            <a:off x="2048975" y="2140000"/>
            <a:ext cx="56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6B7280"/>
                </a:solidFill>
                <a:latin typeface="맑은 고딕"/>
                <a:ea typeface="맑은 고딕"/>
                <a:cs typeface="맑은 고딕"/>
                <a:sym typeface="맑은 고딕"/>
              </a:rPr>
              <a:t>MixedWM38 · Multi-Task Learning · Contrastive Loss</a:t>
            </a:r>
            <a:endParaRPr/>
          </a:p>
        </p:txBody>
      </p:sp>
      <p:sp>
        <p:nvSpPr>
          <p:cNvPr id="1013" name="TextBox 1014"/>
          <p:cNvSpPr txBox="1"/>
          <p:nvPr/>
        </p:nvSpPr>
        <p:spPr>
          <a:xfrm>
            <a:off x="1408975" y="2560000"/>
            <a:ext cx="62000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03</a:t>
            </a:r>
            <a:endParaRPr/>
          </a:p>
        </p:txBody>
      </p:sp>
      <p:sp>
        <p:nvSpPr>
          <p:cNvPr id="1015" name="TextBox 1016"/>
          <p:cNvSpPr txBox="1"/>
          <p:nvPr/>
        </p:nvSpPr>
        <p:spPr>
          <a:xfrm>
            <a:off x="2048975" y="2530000"/>
            <a:ext cx="22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 b="1">
                <a:solidFill>
                  <a:srgbClr val="19264B"/>
                </a:solidFill>
                <a:latin typeface="맑은 고딕"/>
                <a:ea typeface="맑은 고딕"/>
                <a:cs typeface="맑은 고딕"/>
                <a:sym typeface="맑은 고딕"/>
              </a:rPr>
              <a:t>Method</a:t>
            </a:r>
            <a:endParaRPr/>
          </a:p>
        </p:txBody>
      </p:sp>
      <p:sp>
        <p:nvSpPr>
          <p:cNvPr id="1017" name="TextBox 1018"/>
          <p:cNvSpPr txBox="1"/>
          <p:nvPr/>
        </p:nvSpPr>
        <p:spPr>
          <a:xfrm>
            <a:off x="2048975" y="2830000"/>
            <a:ext cx="56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6B7280"/>
                </a:solidFill>
                <a:latin typeface="맑은 고딕"/>
                <a:ea typeface="맑은 고딕"/>
                <a:cs typeface="맑은 고딕"/>
                <a:sym typeface="맑은 고딕"/>
              </a:rPr>
              <a:t>WaferSegClassNet 구조와 2단계 학습</a:t>
            </a:r>
            <a:endParaRPr/>
          </a:p>
        </p:txBody>
      </p:sp>
      <p:sp>
        <p:nvSpPr>
          <p:cNvPr id="1019" name="TextBox 1020"/>
          <p:cNvSpPr txBox="1"/>
          <p:nvPr/>
        </p:nvSpPr>
        <p:spPr>
          <a:xfrm>
            <a:off x="1408975" y="3250000"/>
            <a:ext cx="62000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04</a:t>
            </a:r>
            <a:endParaRPr/>
          </a:p>
        </p:txBody>
      </p:sp>
      <p:sp>
        <p:nvSpPr>
          <p:cNvPr id="1021" name="TextBox 1022"/>
          <p:cNvSpPr txBox="1"/>
          <p:nvPr/>
        </p:nvSpPr>
        <p:spPr>
          <a:xfrm>
            <a:off x="2048975" y="3220000"/>
            <a:ext cx="22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 b="1">
                <a:solidFill>
                  <a:srgbClr val="19264B"/>
                </a:solidFill>
                <a:latin typeface="맑은 고딕"/>
                <a:ea typeface="맑은 고딕"/>
                <a:cs typeface="맑은 고딕"/>
                <a:sym typeface="맑은 고딕"/>
              </a:rPr>
              <a:t>Result</a:t>
            </a:r>
            <a:endParaRPr/>
          </a:p>
        </p:txBody>
      </p:sp>
      <p:sp>
        <p:nvSpPr>
          <p:cNvPr id="1023" name="TextBox 1024"/>
          <p:cNvSpPr txBox="1"/>
          <p:nvPr/>
        </p:nvSpPr>
        <p:spPr>
          <a:xfrm>
            <a:off x="2048975" y="3520000"/>
            <a:ext cx="56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6B7280"/>
                </a:solidFill>
                <a:latin typeface="맑은 고딕"/>
                <a:ea typeface="맑은 고딕"/>
                <a:cs typeface="맑은 고딕"/>
                <a:sym typeface="맑은 고딕"/>
              </a:rPr>
              <a:t>분류 · 분할 성능과 오분류 분석</a:t>
            </a:r>
            <a:endParaRPr/>
          </a:p>
        </p:txBody>
      </p:sp>
      <p:sp>
        <p:nvSpPr>
          <p:cNvPr id="1025" name="TextBox 1026"/>
          <p:cNvSpPr txBox="1"/>
          <p:nvPr/>
        </p:nvSpPr>
        <p:spPr>
          <a:xfrm>
            <a:off x="1408975" y="3940000"/>
            <a:ext cx="62000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b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05</a:t>
            </a:r>
            <a:endParaRPr/>
          </a:p>
        </p:txBody>
      </p:sp>
      <p:sp>
        <p:nvSpPr>
          <p:cNvPr id="1027" name="TextBox 1028"/>
          <p:cNvSpPr txBox="1"/>
          <p:nvPr/>
        </p:nvSpPr>
        <p:spPr>
          <a:xfrm>
            <a:off x="2048975" y="3910000"/>
            <a:ext cx="22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 b="1">
                <a:solidFill>
                  <a:srgbClr val="19264B"/>
                </a:solidFill>
                <a:latin typeface="맑은 고딕"/>
                <a:ea typeface="맑은 고딕"/>
                <a:cs typeface="맑은 고딕"/>
                <a:sym typeface="맑은 고딕"/>
              </a:rPr>
              <a:t>Conclusion</a:t>
            </a:r>
            <a:endParaRPr/>
          </a:p>
        </p:txBody>
      </p:sp>
      <p:sp>
        <p:nvSpPr>
          <p:cNvPr id="1029" name="TextBox 1030"/>
          <p:cNvSpPr txBox="1"/>
          <p:nvPr/>
        </p:nvSpPr>
        <p:spPr>
          <a:xfrm>
            <a:off x="2048975" y="4210000"/>
            <a:ext cx="56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6B7280"/>
                </a:solidFill>
                <a:latin typeface="맑은 고딕"/>
                <a:ea typeface="맑은 고딕"/>
                <a:cs typeface="맑은 고딕"/>
                <a:sym typeface="맑은 고딕"/>
              </a:rPr>
              <a:t>Contribution과 한계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1408975" y="266875"/>
            <a:ext cx="71000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웨이퍼(Wafer)란?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5001" name="TextBox 5002"/>
          <p:cNvSpPr txBox="1"/>
          <p:nvPr/>
        </p:nvSpPr>
        <p:spPr>
          <a:xfrm>
            <a:off x="6500000" y="200000"/>
            <a:ext cx="21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6B7280"/>
                </a:solidFill>
                <a:latin typeface="맑은 고딕"/>
                <a:ea typeface="맑은 고딕"/>
                <a:cs typeface="맑은 고딕"/>
                <a:sym typeface="맑은 고딕"/>
              </a:rPr>
              <a:t>Motivation</a:t>
            </a:r>
            <a:endParaRPr/>
          </a:p>
        </p:txBody>
      </p:sp>
      <p:sp>
        <p:nvSpPr>
          <p:cNvPr id="5003" name="TextBox 5004"/>
          <p:cNvSpPr txBox="1"/>
          <p:nvPr/>
        </p:nvSpPr>
        <p:spPr>
          <a:xfrm>
            <a:off x="1408975" y="1100000"/>
            <a:ext cx="4700000" cy="2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430"/>
              </a:spcAft>
              <a:buSzPts val="900"/>
              <a:buChar char="•"/>
            </a:pPr>
            <a:r>
              <a:rPr lang="ko" sz="14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실리콘 원판 위에 반도체 회로를 새겨 만든 얇은 판</a:t>
            </a:r>
            <a:endParaRPr dirty="0"/>
          </a:p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430"/>
              </a:spcAft>
              <a:buSzPts val="900"/>
              <a:buChar char="•"/>
            </a:pPr>
            <a:r>
              <a:rPr lang="ko" sz="14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웨이퍼 한 장 위에 동일한 칩(다이, Die)이 수백~수천 개 반복 배치됨</a:t>
            </a:r>
            <a:endParaRPr dirty="0"/>
          </a:p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430"/>
              </a:spcAft>
              <a:buSzPts val="900"/>
              <a:buChar char="•"/>
            </a:pPr>
            <a:r>
              <a:rPr lang="ko" sz="14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각 다이를 잘라내면 우리가 아는 개별 반도체 칩 하나가 됨</a:t>
            </a:r>
            <a:endParaRPr dirty="0"/>
          </a:p>
        </p:txBody>
      </p:sp>
      <p:pic>
        <p:nvPicPr>
          <p:cNvPr id="5005" name="Picture 50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8975" y="1080000"/>
            <a:ext cx="2750000" cy="275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7" name="TextBox 5008"/>
          <p:cNvSpPr txBox="1"/>
          <p:nvPr/>
        </p:nvSpPr>
        <p:spPr>
          <a:xfrm>
            <a:off x="6308975" y="3890000"/>
            <a:ext cx="275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6B7280"/>
                </a:solidFill>
                <a:latin typeface="맑은 고딕"/>
                <a:ea typeface="맑은 고딕"/>
                <a:cs typeface="맑은 고딕"/>
                <a:sym typeface="맑은 고딕"/>
              </a:rPr>
              <a:t>웨이퍼 1장 = 다이(Die) 수백~수천 개</a:t>
            </a:r>
            <a:endParaRPr/>
          </a:p>
        </p:txBody>
      </p:sp>
      <p:sp>
        <p:nvSpPr>
          <p:cNvPr id="5009" name="TextBox 5010"/>
          <p:cNvSpPr txBox="1"/>
          <p:nvPr/>
        </p:nvSpPr>
        <p:spPr>
          <a:xfrm>
            <a:off x="1408975" y="4190000"/>
            <a:ext cx="71000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 b="1">
                <a:solidFill>
                  <a:srgbClr val="19264B"/>
                </a:solidFill>
                <a:latin typeface="맑은 고딕"/>
                <a:ea typeface="맑은 고딕"/>
                <a:cs typeface="맑은 고딕"/>
                <a:sym typeface="맑은 고딕"/>
              </a:rPr>
              <a:t>공정 중 일부 다이가 불량이 되는데, 그 불량 위치를 기록한 것이 웨이퍼 맵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1408975" y="266875"/>
            <a:ext cx="71000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반도체 웨이퍼 결함 검사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1037" name="TextBox 1038"/>
          <p:cNvSpPr txBox="1"/>
          <p:nvPr/>
        </p:nvSpPr>
        <p:spPr>
          <a:xfrm>
            <a:off x="6500000" y="200000"/>
            <a:ext cx="21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6B7280"/>
                </a:solidFill>
                <a:latin typeface="맑은 고딕"/>
                <a:ea typeface="맑은 고딕"/>
                <a:cs typeface="맑은 고딕"/>
                <a:sym typeface="맑은 고딕"/>
              </a:rPr>
              <a:t>Motivation</a:t>
            </a:r>
            <a:endParaRPr/>
          </a:p>
        </p:txBody>
      </p:sp>
      <p:sp>
        <p:nvSpPr>
          <p:cNvPr id="1031" name="TextBox 1032"/>
          <p:cNvSpPr txBox="1"/>
          <p:nvPr/>
        </p:nvSpPr>
        <p:spPr>
          <a:xfrm>
            <a:off x="1408975" y="1080000"/>
            <a:ext cx="7100000" cy="2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520"/>
              </a:spcAft>
              <a:buSzPts val="900"/>
              <a:buChar char="•"/>
            </a:pPr>
            <a:r>
              <a:rPr lang="ko" sz="15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웨이퍼 맵(Wafer Map)은 웨이퍼 위 불량 다이의 위치를 표시한 이미지</a:t>
            </a:r>
            <a:endParaRPr dirty="0"/>
          </a:p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520"/>
              </a:spcAft>
              <a:buSzPts val="900"/>
              <a:buChar char="•"/>
            </a:pPr>
            <a:r>
              <a:rPr lang="ko" sz="15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결함 패턴을 알면 어느 공정이 문제인지 역추적할 수 있음 → 수율 개선</a:t>
            </a:r>
            <a:endParaRPr dirty="0"/>
          </a:p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520"/>
              </a:spcAft>
              <a:buSzPts val="900"/>
              <a:buChar char="•"/>
            </a:pPr>
            <a:r>
              <a:rPr lang="ko" sz="15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그동안은 숙련 엔지니어의 육안 검사에 의존</a:t>
            </a:r>
            <a:endParaRPr dirty="0"/>
          </a:p>
        </p:txBody>
      </p:sp>
      <p:pic>
        <p:nvPicPr>
          <p:cNvPr id="1033" name="Picture 10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8975" y="2820000"/>
            <a:ext cx="6600000" cy="1571428"/>
          </a:xfrm>
          <a:prstGeom prst="rect">
            <a:avLst/>
          </a:prstGeom>
          <a:noFill/>
          <a:ln>
            <a:noFill/>
          </a:ln>
        </p:spPr>
      </p:pic>
      <p:sp>
        <p:nvSpPr>
          <p:cNvPr id="1035" name="TextBox 1036"/>
          <p:cNvSpPr txBox="1"/>
          <p:nvPr/>
        </p:nvSpPr>
        <p:spPr>
          <a:xfrm>
            <a:off x="1408975" y="4451428"/>
            <a:ext cx="66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6B7280"/>
                </a:solidFill>
                <a:latin typeface="맑은 고딕"/>
                <a:ea typeface="맑은 고딕"/>
                <a:cs typeface="맑은 고딕"/>
                <a:sym typeface="맑은 고딕"/>
              </a:rPr>
              <a:t>Center / Donut / edgeRing / Scratch 결함 예시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1408975" y="266875"/>
            <a:ext cx="71000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기존 연구의 한계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1043" name="TextBox 1044"/>
          <p:cNvSpPr txBox="1"/>
          <p:nvPr/>
        </p:nvSpPr>
        <p:spPr>
          <a:xfrm>
            <a:off x="6500000" y="200000"/>
            <a:ext cx="21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6B7280"/>
                </a:solidFill>
                <a:latin typeface="맑은 고딕"/>
                <a:ea typeface="맑은 고딕"/>
                <a:cs typeface="맑은 고딕"/>
                <a:sym typeface="맑은 고딕"/>
              </a:rPr>
              <a:t>Motivation</a:t>
            </a:r>
            <a:endParaRPr/>
          </a:p>
        </p:txBody>
      </p:sp>
      <p:sp>
        <p:nvSpPr>
          <p:cNvPr id="1039" name="TextBox 1040"/>
          <p:cNvSpPr txBox="1"/>
          <p:nvPr/>
        </p:nvSpPr>
        <p:spPr>
          <a:xfrm>
            <a:off x="1408975" y="1130000"/>
            <a:ext cx="7100000" cy="2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520"/>
              </a:spcAft>
              <a:buSzPts val="900"/>
              <a:buChar char="•"/>
            </a:pPr>
            <a:r>
              <a:rPr lang="ko" sz="15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분류(Classification)와 분할(Segmentation) 중 하나만 수행</a:t>
            </a:r>
            <a:endParaRPr dirty="0"/>
          </a:p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520"/>
              </a:spcAft>
              <a:buSzPts val="900"/>
              <a:buChar char="•"/>
            </a:pPr>
            <a:r>
              <a:rPr lang="ko" sz="15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Mixed-type 결함은 결함 종류마다 모델을 따로 학습 → 확장 불가</a:t>
            </a:r>
            <a:endParaRPr dirty="0"/>
          </a:p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520"/>
              </a:spcAft>
              <a:buSzPts val="900"/>
              <a:buChar char="•"/>
            </a:pPr>
            <a:r>
              <a:rPr lang="ko" sz="15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최고 성능 모델(DCNet)도 정확도 93.2%, 수렴까지 4,000 epoch</a:t>
            </a:r>
            <a:endParaRPr dirty="0"/>
          </a:p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520"/>
              </a:spcAft>
              <a:buSzPts val="900"/>
              <a:buChar char="•"/>
            </a:pPr>
            <a:r>
              <a:rPr lang="ko" sz="15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높은 정확도의 범용 모델(ResNet50)은 100MB 이상으로 무거움</a:t>
            </a:r>
            <a:endParaRPr dirty="0"/>
          </a:p>
        </p:txBody>
      </p:sp>
      <p:sp>
        <p:nvSpPr>
          <p:cNvPr id="1041" name="TextBox 1042"/>
          <p:cNvSpPr txBox="1"/>
          <p:nvPr/>
        </p:nvSpPr>
        <p:spPr>
          <a:xfrm>
            <a:off x="1408975" y="3720000"/>
            <a:ext cx="71000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 b="1" dirty="0">
                <a:solidFill>
                  <a:srgbClr val="19264B"/>
                </a:solidFill>
                <a:latin typeface="맑은 고딕"/>
                <a:ea typeface="맑은 고딕"/>
                <a:cs typeface="맑은 고딕"/>
                <a:sym typeface="맑은 고딕"/>
              </a:rPr>
              <a:t>확장성도 없고, 실시간 인라인 검사에 쓰기에는 너무 무겁다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1408975" y="266875"/>
            <a:ext cx="71000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이 논문의 질문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1047" name="TextBox 1048"/>
          <p:cNvSpPr txBox="1"/>
          <p:nvPr/>
        </p:nvSpPr>
        <p:spPr>
          <a:xfrm>
            <a:off x="6500000" y="200000"/>
            <a:ext cx="21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6B7280"/>
                </a:solidFill>
                <a:latin typeface="맑은 고딕"/>
                <a:ea typeface="맑은 고딕"/>
                <a:cs typeface="맑은 고딕"/>
                <a:sym typeface="맑은 고딕"/>
              </a:rPr>
              <a:t>Motivation</a:t>
            </a:r>
            <a:endParaRPr/>
          </a:p>
        </p:txBody>
      </p:sp>
      <p:sp>
        <p:nvSpPr>
          <p:cNvPr id="1045" name="TextBox 1046"/>
          <p:cNvSpPr txBox="1"/>
          <p:nvPr/>
        </p:nvSpPr>
        <p:spPr>
          <a:xfrm>
            <a:off x="1500000" y="2142962"/>
            <a:ext cx="71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ko" sz="2200" b="1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하나의 가벼운 모델로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200" b="1" dirty="0">
                <a:solidFill>
                  <a:srgbClr val="B3272D"/>
                </a:solidFill>
                <a:latin typeface="맑은 고딕"/>
                <a:ea typeface="맑은 고딕"/>
                <a:cs typeface="맑은 고딕"/>
                <a:sym typeface="맑은 고딕"/>
              </a:rPr>
              <a:t>분류와 분할을 동시에 할 수 없을까?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1408975" y="266875"/>
            <a:ext cx="71000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MixedWM38 Dataset</a:t>
            </a:r>
            <a:endParaRPr sz="2000" dirty="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1075" name="TextBox 1076"/>
          <p:cNvSpPr txBox="1"/>
          <p:nvPr/>
        </p:nvSpPr>
        <p:spPr>
          <a:xfrm>
            <a:off x="6500000" y="200000"/>
            <a:ext cx="21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6B7280"/>
                </a:solidFill>
                <a:latin typeface="맑은 고딕"/>
                <a:ea typeface="맑은 고딕"/>
                <a:cs typeface="맑은 고딕"/>
                <a:sym typeface="맑은 고딕"/>
              </a:rPr>
              <a:t>Background</a:t>
            </a:r>
            <a:endParaRPr/>
          </a:p>
        </p:txBody>
      </p:sp>
      <p:sp>
        <p:nvSpPr>
          <p:cNvPr id="1049" name="TextBox 1050"/>
          <p:cNvSpPr txBox="1"/>
          <p:nvPr/>
        </p:nvSpPr>
        <p:spPr>
          <a:xfrm>
            <a:off x="1408975" y="1080000"/>
            <a:ext cx="7100000" cy="1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520"/>
              </a:spcAft>
              <a:buSzPts val="900"/>
              <a:buChar char="•"/>
            </a:pPr>
            <a:r>
              <a:rPr lang="ko" sz="15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38,015장 · 52×52 크기의 wafer map</a:t>
            </a:r>
            <a:endParaRPr dirty="0"/>
          </a:p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520"/>
              </a:spcAft>
              <a:buSzPts val="900"/>
              <a:buChar char="•"/>
            </a:pPr>
            <a:r>
              <a:rPr lang="ko" sz="15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정상 1종 + 단일 결함 8종 + 혼합 결함 29종 = 총 38개 클래스</a:t>
            </a:r>
            <a:endParaRPr dirty="0"/>
          </a:p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520"/>
              </a:spcAft>
              <a:buSzPts val="900"/>
              <a:buChar char="•"/>
            </a:pPr>
            <a:r>
              <a:rPr lang="ko" sz="15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분류 라벨만 존재하고 segmentation mask는 없음</a:t>
            </a:r>
            <a:endParaRPr dirty="0"/>
          </a:p>
        </p:txBody>
      </p:sp>
      <p:sp>
        <p:nvSpPr>
          <p:cNvPr id="1051" name="Rect 1052"/>
          <p:cNvSpPr/>
          <p:nvPr/>
        </p:nvSpPr>
        <p:spPr>
          <a:xfrm>
            <a:off x="1408975" y="2760000"/>
            <a:ext cx="1300000" cy="480000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3" name="TextBox 1054"/>
          <p:cNvSpPr txBox="1"/>
          <p:nvPr/>
        </p:nvSpPr>
        <p:spPr>
          <a:xfrm>
            <a:off x="1408975" y="2870000"/>
            <a:ext cx="13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배경</a:t>
            </a:r>
            <a:endParaRPr/>
          </a:p>
        </p:txBody>
      </p:sp>
      <p:sp>
        <p:nvSpPr>
          <p:cNvPr id="1055" name="Rect 1056"/>
          <p:cNvSpPr/>
          <p:nvPr/>
        </p:nvSpPr>
        <p:spPr>
          <a:xfrm>
            <a:off x="2858975" y="2760000"/>
            <a:ext cx="1300000" cy="480000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7" name="TextBox 1058"/>
          <p:cNvSpPr txBox="1"/>
          <p:nvPr/>
        </p:nvSpPr>
        <p:spPr>
          <a:xfrm>
            <a:off x="2858975" y="2870000"/>
            <a:ext cx="13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웨이퍼 경계</a:t>
            </a:r>
            <a:endParaRPr/>
          </a:p>
        </p:txBody>
      </p:sp>
      <p:sp>
        <p:nvSpPr>
          <p:cNvPr id="1059" name="Rect 1060"/>
          <p:cNvSpPr/>
          <p:nvPr/>
        </p:nvSpPr>
        <p:spPr>
          <a:xfrm>
            <a:off x="4308975" y="2760000"/>
            <a:ext cx="1300000" cy="480000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61" name="TextBox 1062"/>
          <p:cNvSpPr txBox="1"/>
          <p:nvPr/>
        </p:nvSpPr>
        <p:spPr>
          <a:xfrm>
            <a:off x="4308975" y="2870000"/>
            <a:ext cx="13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결함</a:t>
            </a:r>
            <a:endParaRPr/>
          </a:p>
        </p:txBody>
      </p:sp>
      <p:sp>
        <p:nvSpPr>
          <p:cNvPr id="1063" name="TextBox 1064"/>
          <p:cNvSpPr txBox="1"/>
          <p:nvPr/>
        </p:nvSpPr>
        <p:spPr>
          <a:xfrm>
            <a:off x="5808975" y="28400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b="1">
                <a:solidFill>
                  <a:srgbClr val="6B7280"/>
                </a:solidFill>
                <a:latin typeface="맑은 고딕"/>
                <a:ea typeface="맑은 고딕"/>
                <a:cs typeface="맑은 고딕"/>
                <a:sym typeface="맑은 고딕"/>
              </a:rPr>
              <a:t>→</a:t>
            </a:r>
            <a:endParaRPr/>
          </a:p>
        </p:txBody>
      </p:sp>
      <p:sp>
        <p:nvSpPr>
          <p:cNvPr id="1065" name="Rect 1066"/>
          <p:cNvSpPr/>
          <p:nvPr/>
        </p:nvSpPr>
        <p:spPr>
          <a:xfrm>
            <a:off x="6358975" y="2760000"/>
            <a:ext cx="1050000" cy="480000"/>
          </a:xfrm>
          <a:prstGeom prst="roundRect">
            <a:avLst>
              <a:gd name="adj" fmla="val 8000"/>
            </a:avLst>
          </a:prstGeom>
          <a:solidFill>
            <a:srgbClr val="E8EA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67" name="TextBox 1068"/>
          <p:cNvSpPr txBox="1"/>
          <p:nvPr/>
        </p:nvSpPr>
        <p:spPr>
          <a:xfrm>
            <a:off x="6358975" y="2870000"/>
            <a:ext cx="105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rgbClr val="19264B"/>
                </a:solidFill>
                <a:latin typeface="맑은 고딕"/>
                <a:ea typeface="맑은 고딕"/>
                <a:cs typeface="맑은 고딕"/>
                <a:sym typeface="맑은 고딕"/>
              </a:rPr>
              <a:t>class 0</a:t>
            </a:r>
            <a:endParaRPr/>
          </a:p>
        </p:txBody>
      </p:sp>
      <p:sp>
        <p:nvSpPr>
          <p:cNvPr id="1069" name="Rect 1070"/>
          <p:cNvSpPr/>
          <p:nvPr/>
        </p:nvSpPr>
        <p:spPr>
          <a:xfrm>
            <a:off x="7508975" y="2760000"/>
            <a:ext cx="1050000" cy="480000"/>
          </a:xfrm>
          <a:prstGeom prst="roundRect">
            <a:avLst>
              <a:gd name="adj" fmla="val 8000"/>
            </a:avLst>
          </a:prstGeom>
          <a:solidFill>
            <a:srgbClr val="B3272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1" name="TextBox 1072"/>
          <p:cNvSpPr txBox="1"/>
          <p:nvPr/>
        </p:nvSpPr>
        <p:spPr>
          <a:xfrm>
            <a:off x="7508975" y="2870000"/>
            <a:ext cx="105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rPr>
              <a:t>class 1</a:t>
            </a:r>
            <a:endParaRPr/>
          </a:p>
        </p:txBody>
      </p:sp>
      <p:sp>
        <p:nvSpPr>
          <p:cNvPr id="1073" name="TextBox 1074"/>
          <p:cNvSpPr txBox="1"/>
          <p:nvPr/>
        </p:nvSpPr>
        <p:spPr>
          <a:xfrm>
            <a:off x="1408975" y="3700000"/>
            <a:ext cx="71000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 b="1">
                <a:solidFill>
                  <a:srgbClr val="19264B"/>
                </a:solidFill>
                <a:latin typeface="맑은 고딕"/>
                <a:ea typeface="맑은 고딕"/>
                <a:cs typeface="맑은 고딕"/>
                <a:sym typeface="맑은 고딕"/>
              </a:rPr>
              <a:t>배경 + 웨이퍼 경계 vs 결함, 2-class binary mask를 직접 생성해 사용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1408975" y="266875"/>
            <a:ext cx="71000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Multi-Task Learning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1087" name="TextBox 1088"/>
          <p:cNvSpPr txBox="1"/>
          <p:nvPr/>
        </p:nvSpPr>
        <p:spPr>
          <a:xfrm>
            <a:off x="6500000" y="200000"/>
            <a:ext cx="21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6B7280"/>
                </a:solidFill>
                <a:latin typeface="맑은 고딕"/>
                <a:ea typeface="맑은 고딕"/>
                <a:cs typeface="맑은 고딕"/>
                <a:sym typeface="맑은 고딕"/>
              </a:rPr>
              <a:t>Background</a:t>
            </a:r>
            <a:endParaRPr/>
          </a:p>
        </p:txBody>
      </p:sp>
      <p:sp>
        <p:nvSpPr>
          <p:cNvPr id="1077" name="Rect 1078"/>
          <p:cNvSpPr/>
          <p:nvPr/>
        </p:nvSpPr>
        <p:spPr>
          <a:xfrm>
            <a:off x="1408975" y="1350000"/>
            <a:ext cx="3350000" cy="145000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9" name="TextBox 1080"/>
          <p:cNvSpPr txBox="1"/>
          <p:nvPr/>
        </p:nvSpPr>
        <p:spPr>
          <a:xfrm>
            <a:off x="1658975" y="1550000"/>
            <a:ext cx="2900000" cy="11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ko" sz="1500" b="1">
                <a:solidFill>
                  <a:srgbClr val="19264B"/>
                </a:solidFill>
                <a:latin typeface="맑은 고딕"/>
                <a:ea typeface="맑은 고딕"/>
                <a:cs typeface="맑은 고딕"/>
                <a:sym typeface="맑은 고딕"/>
              </a:rPr>
              <a:t>Classification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ko" sz="130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이미지 전체를 보고 판단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>
                <a:solidFill>
                  <a:srgbClr val="B3272D"/>
                </a:solidFill>
                <a:latin typeface="맑은 고딕"/>
                <a:ea typeface="맑은 고딕"/>
                <a:cs typeface="맑은 고딕"/>
                <a:sym typeface="맑은 고딕"/>
              </a:rPr>
              <a:t>Global 정보</a:t>
            </a:r>
            <a:endParaRPr/>
          </a:p>
        </p:txBody>
      </p:sp>
      <p:sp>
        <p:nvSpPr>
          <p:cNvPr id="1081" name="Rect 1082"/>
          <p:cNvSpPr/>
          <p:nvPr/>
        </p:nvSpPr>
        <p:spPr>
          <a:xfrm>
            <a:off x="5008975" y="1350000"/>
            <a:ext cx="3350000" cy="145000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3" name="TextBox 1084"/>
          <p:cNvSpPr txBox="1"/>
          <p:nvPr/>
        </p:nvSpPr>
        <p:spPr>
          <a:xfrm>
            <a:off x="5258975" y="1550000"/>
            <a:ext cx="2900000" cy="11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ko" sz="1500" b="1">
                <a:solidFill>
                  <a:srgbClr val="19264B"/>
                </a:solidFill>
                <a:latin typeface="맑은 고딕"/>
                <a:ea typeface="맑은 고딕"/>
                <a:cs typeface="맑은 고딕"/>
                <a:sym typeface="맑은 고딕"/>
              </a:rPr>
              <a:t>Segmentation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ko" sz="130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픽셀 단위 위치를 판단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>
                <a:solidFill>
                  <a:srgbClr val="B3272D"/>
                </a:solidFill>
                <a:latin typeface="맑은 고딕"/>
                <a:ea typeface="맑은 고딕"/>
                <a:cs typeface="맑은 고딕"/>
                <a:sym typeface="맑은 고딕"/>
              </a:rPr>
              <a:t>Local 정보</a:t>
            </a:r>
            <a:endParaRPr/>
          </a:p>
        </p:txBody>
      </p:sp>
      <p:sp>
        <p:nvSpPr>
          <p:cNvPr id="1085" name="TextBox 1086"/>
          <p:cNvSpPr txBox="1"/>
          <p:nvPr/>
        </p:nvSpPr>
        <p:spPr>
          <a:xfrm>
            <a:off x="1408975" y="3150000"/>
            <a:ext cx="71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SzPts val="900"/>
              <a:buChar char="•"/>
            </a:pPr>
            <a:r>
              <a:rPr lang="ko" sz="140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Encoder 하나를 공유하면 두 정보를 함께 학습할 수 있음</a:t>
            </a:r>
            <a:endParaRPr/>
          </a:p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SzPts val="900"/>
              <a:buChar char="•"/>
            </a:pPr>
            <a:r>
              <a:rPr lang="ko" sz="140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모델이 하나이므로 end-to-end 학습이 가능하고 크기도 절반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1408975" y="266875"/>
            <a:ext cx="71000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N-pair Contrastive Loss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1093" name="TextBox 1094"/>
          <p:cNvSpPr txBox="1"/>
          <p:nvPr/>
        </p:nvSpPr>
        <p:spPr>
          <a:xfrm>
            <a:off x="6500000" y="200000"/>
            <a:ext cx="21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6B7280"/>
                </a:solidFill>
                <a:latin typeface="맑은 고딕"/>
                <a:ea typeface="맑은 고딕"/>
                <a:cs typeface="맑은 고딕"/>
                <a:sym typeface="맑은 고딕"/>
              </a:rPr>
              <a:t>Background</a:t>
            </a:r>
            <a:endParaRPr/>
          </a:p>
        </p:txBody>
      </p:sp>
      <p:sp>
        <p:nvSpPr>
          <p:cNvPr id="1089" name="TextBox 1090"/>
          <p:cNvSpPr txBox="1"/>
          <p:nvPr/>
        </p:nvSpPr>
        <p:spPr>
          <a:xfrm>
            <a:off x="1408975" y="1130000"/>
            <a:ext cx="7100000" cy="21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520"/>
              </a:spcAft>
              <a:buSzPts val="900"/>
              <a:buChar char="•"/>
            </a:pPr>
            <a:r>
              <a:rPr lang="ko-KR" altLang="en-US" sz="15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지도 학습에 사용되는 </a:t>
            </a:r>
            <a:r>
              <a:rPr lang="ko" sz="15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Cross-Entropy는 노이즈가 섞인 라벨에 취약함</a:t>
            </a:r>
            <a:endParaRPr dirty="0"/>
          </a:p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520"/>
              </a:spcAft>
              <a:buSzPts val="900"/>
              <a:buChar char="•"/>
            </a:pPr>
            <a:r>
              <a:rPr lang="ko" sz="15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Contrastive Loss는 같은 클래스 임베딩은 가깝게, 다른 클래스는 멀게 학습</a:t>
            </a:r>
            <a:endParaRPr dirty="0"/>
          </a:p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520"/>
              </a:spcAft>
              <a:buSzPts val="900"/>
              <a:buChar char="•"/>
            </a:pPr>
            <a:r>
              <a:rPr lang="ko" sz="15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N-pair는 한 번에 여러 개의 negative를 함께 비교</a:t>
            </a:r>
            <a:endParaRPr dirty="0"/>
          </a:p>
        </p:txBody>
      </p:sp>
      <p:sp>
        <p:nvSpPr>
          <p:cNvPr id="1091" name="TextBox 1092"/>
          <p:cNvSpPr txBox="1"/>
          <p:nvPr/>
        </p:nvSpPr>
        <p:spPr>
          <a:xfrm>
            <a:off x="1408975" y="3300000"/>
            <a:ext cx="71000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 b="1">
                <a:solidFill>
                  <a:srgbClr val="19264B"/>
                </a:solidFill>
                <a:latin typeface="맑은 고딕"/>
                <a:ea typeface="맑은 고딕"/>
                <a:cs typeface="맑은 고딕"/>
                <a:sym typeface="맑은 고딕"/>
              </a:rPr>
              <a:t>잘 뭉친 latent space → 분류와 분할 두 branch 모두에 도움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1408975" y="266875"/>
            <a:ext cx="71000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WaferSegClassNet 구조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1099" name="TextBox 1100"/>
          <p:cNvSpPr txBox="1"/>
          <p:nvPr/>
        </p:nvSpPr>
        <p:spPr>
          <a:xfrm>
            <a:off x="6500000" y="200000"/>
            <a:ext cx="21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6B7280"/>
                </a:solidFill>
                <a:latin typeface="맑은 고딕"/>
                <a:ea typeface="맑은 고딕"/>
                <a:cs typeface="맑은 고딕"/>
                <a:sym typeface="맑은 고딕"/>
              </a:rPr>
              <a:t>Method</a:t>
            </a:r>
            <a:endParaRPr/>
          </a:p>
        </p:txBody>
      </p:sp>
      <p:pic>
        <p:nvPicPr>
          <p:cNvPr id="1095" name="Picture 10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8975" y="980000"/>
            <a:ext cx="4168421" cy="33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7" name="TextBox 1098"/>
          <p:cNvSpPr txBox="1"/>
          <p:nvPr/>
        </p:nvSpPr>
        <p:spPr>
          <a:xfrm>
            <a:off x="5877396" y="1300000"/>
            <a:ext cx="2809404" cy="2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120"/>
              </a:spcAft>
              <a:buSzPts val="900"/>
              <a:buChar char="•"/>
            </a:pPr>
            <a:r>
              <a:rPr lang="ko" sz="1400" b="1" dirty="0">
                <a:solidFill>
                  <a:srgbClr val="19264B"/>
                </a:solidFill>
                <a:latin typeface="맑은 고딕"/>
                <a:ea typeface="맑은 고딕"/>
                <a:cs typeface="맑은 고딕"/>
                <a:sym typeface="맑은 고딕"/>
              </a:rPr>
              <a:t>Shared Encoder</a:t>
            </a:r>
            <a:endParaRPr dirty="0"/>
          </a:p>
          <a:p>
            <a:pPr marL="228600" lvl="0" indent="0" algn="l" rtl="0">
              <a:lnSpc>
                <a:spcPct val="115000"/>
              </a:lnSpc>
              <a:spcBef>
                <a:spcPts val="0"/>
              </a:spcBef>
              <a:spcAft>
                <a:spcPts val="480"/>
              </a:spcAft>
              <a:buNone/>
            </a:pPr>
            <a:r>
              <a:rPr lang="ko" sz="12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두 branch가 하나의 encoder를 공유</a:t>
            </a:r>
            <a:endParaRPr dirty="0"/>
          </a:p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120"/>
              </a:spcAft>
              <a:buSzPts val="900"/>
              <a:buChar char="•"/>
            </a:pPr>
            <a:r>
              <a:rPr lang="ko" sz="1400" b="1" dirty="0">
                <a:solidFill>
                  <a:srgbClr val="19264B"/>
                </a:solidFill>
                <a:latin typeface="맑은 고딕"/>
                <a:ea typeface="맑은 고딕"/>
                <a:cs typeface="맑은 고딕"/>
                <a:sym typeface="맑은 고딕"/>
              </a:rPr>
              <a:t>Segmentation Branch</a:t>
            </a:r>
            <a:endParaRPr dirty="0"/>
          </a:p>
          <a:p>
            <a:pPr marL="228600" lvl="0" indent="0" algn="l" rtl="0">
              <a:lnSpc>
                <a:spcPct val="115000"/>
              </a:lnSpc>
              <a:spcBef>
                <a:spcPts val="0"/>
              </a:spcBef>
              <a:spcAft>
                <a:spcPts val="480"/>
              </a:spcAft>
              <a:buNone/>
            </a:pPr>
            <a:r>
              <a:rPr lang="ko" sz="12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Transpose Conv로 mask 복원</a:t>
            </a:r>
            <a:endParaRPr dirty="0"/>
          </a:p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120"/>
              </a:spcAft>
              <a:buSzPts val="900"/>
              <a:buChar char="•"/>
            </a:pPr>
            <a:r>
              <a:rPr lang="ko" sz="1400" b="1" dirty="0">
                <a:solidFill>
                  <a:srgbClr val="19264B"/>
                </a:solidFill>
                <a:latin typeface="맑은 고딕"/>
                <a:ea typeface="맑은 고딕"/>
                <a:cs typeface="맑은 고딕"/>
                <a:sym typeface="맑은 고딕"/>
              </a:rPr>
              <a:t>Classification Branch</a:t>
            </a:r>
            <a:endParaRPr dirty="0"/>
          </a:p>
          <a:p>
            <a:pPr marL="2286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GAP → Dense → 38개 클래스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1408975" y="266875"/>
            <a:ext cx="71000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Encoder &amp; Decoder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1107" name="TextBox 1108"/>
          <p:cNvSpPr txBox="1"/>
          <p:nvPr/>
        </p:nvSpPr>
        <p:spPr>
          <a:xfrm>
            <a:off x="6500000" y="200000"/>
            <a:ext cx="21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6B7280"/>
                </a:solidFill>
                <a:latin typeface="맑은 고딕"/>
                <a:ea typeface="맑은 고딕"/>
                <a:cs typeface="맑은 고딕"/>
                <a:sym typeface="맑은 고딕"/>
              </a:rPr>
              <a:t>Method</a:t>
            </a:r>
            <a:endParaRPr/>
          </a:p>
        </p:txBody>
      </p:sp>
      <p:sp>
        <p:nvSpPr>
          <p:cNvPr id="1101" name="TextBox 1102"/>
          <p:cNvSpPr txBox="1"/>
          <p:nvPr/>
        </p:nvSpPr>
        <p:spPr>
          <a:xfrm>
            <a:off x="1408975" y="1120000"/>
            <a:ext cx="3350000" cy="2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380"/>
              </a:spcAft>
              <a:buNone/>
            </a:pPr>
            <a:r>
              <a:rPr lang="ko" sz="1600" b="1" dirty="0">
                <a:solidFill>
                  <a:srgbClr val="19264B"/>
                </a:solidFill>
                <a:latin typeface="맑은 고딕"/>
                <a:ea typeface="맑은 고딕"/>
                <a:cs typeface="맑은 고딕"/>
                <a:sym typeface="맑은 고딕"/>
              </a:rPr>
              <a:t>Encoder</a:t>
            </a:r>
            <a:endParaRPr dirty="0"/>
          </a:p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330"/>
              </a:spcAft>
              <a:buSzPts val="900"/>
              <a:buChar char="•"/>
            </a:pPr>
            <a:r>
              <a:rPr lang="ko" sz="13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3×3 Conv + Separable Conv 블록</a:t>
            </a:r>
            <a:endParaRPr dirty="0"/>
          </a:p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330"/>
              </a:spcAft>
              <a:buSzPts val="900"/>
              <a:buChar char="•"/>
            </a:pPr>
            <a:r>
              <a:rPr lang="ko" sz="13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Separable Conv로 연산량·메모리 절감</a:t>
            </a:r>
            <a:endParaRPr dirty="0"/>
          </a:p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</a:pPr>
            <a:r>
              <a:rPr lang="ko" sz="13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마지막 단은 Average Pooling</a:t>
            </a:r>
            <a:endParaRPr dirty="0"/>
          </a:p>
        </p:txBody>
      </p:sp>
      <p:sp>
        <p:nvSpPr>
          <p:cNvPr id="1103" name="TextBox 1104"/>
          <p:cNvSpPr txBox="1"/>
          <p:nvPr/>
        </p:nvSpPr>
        <p:spPr>
          <a:xfrm>
            <a:off x="5108975" y="1120000"/>
            <a:ext cx="3350000" cy="2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380"/>
              </a:spcAft>
              <a:buNone/>
            </a:pPr>
            <a:r>
              <a:rPr lang="ko" sz="1600" b="1">
                <a:solidFill>
                  <a:srgbClr val="19264B"/>
                </a:solidFill>
                <a:latin typeface="맑은 고딕"/>
                <a:ea typeface="맑은 고딕"/>
                <a:cs typeface="맑은 고딕"/>
                <a:sym typeface="맑은 고딕"/>
              </a:rPr>
              <a:t>Decoder</a:t>
            </a:r>
            <a:endParaRPr/>
          </a:p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330"/>
              </a:spcAft>
              <a:buSzPts val="900"/>
              <a:buChar char="•"/>
            </a:pPr>
            <a:r>
              <a:rPr lang="ko" sz="130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분할 : Transpose Conv 4단 + Skip Connection</a:t>
            </a:r>
            <a:endParaRPr/>
          </a:p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330"/>
              </a:spcAft>
              <a:buSzPts val="900"/>
              <a:buChar char="•"/>
            </a:pPr>
            <a:r>
              <a:rPr lang="ko" sz="130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분류 : GAP → Dense(64) → Dense(38)</a:t>
            </a:r>
            <a:endParaRPr/>
          </a:p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</a:pPr>
            <a:r>
              <a:rPr lang="ko" sz="130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GAP는 학습 파라미터가 없어 과적합에 강함</a:t>
            </a:r>
            <a:endParaRPr/>
          </a:p>
        </p:txBody>
      </p:sp>
      <p:sp>
        <p:nvSpPr>
          <p:cNvPr id="1105" name="TextBox 1106"/>
          <p:cNvSpPr txBox="1"/>
          <p:nvPr/>
        </p:nvSpPr>
        <p:spPr>
          <a:xfrm>
            <a:off x="1408975" y="3900000"/>
            <a:ext cx="71000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 b="1">
                <a:solidFill>
                  <a:srgbClr val="19264B"/>
                </a:solidFill>
                <a:latin typeface="맑은 고딕"/>
                <a:ea typeface="맑은 고딕"/>
                <a:cs typeface="맑은 고딕"/>
                <a:sym typeface="맑은 고딕"/>
              </a:rPr>
              <a:t>Separable Conv + GAP → 파라미터 0.09M, 모델 크기 0.51MB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1408975" y="266875"/>
            <a:ext cx="71000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2-Stage 학습 전략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1119" name="TextBox 1120"/>
          <p:cNvSpPr txBox="1"/>
          <p:nvPr/>
        </p:nvSpPr>
        <p:spPr>
          <a:xfrm>
            <a:off x="6500000" y="200000"/>
            <a:ext cx="21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6B7280"/>
                </a:solidFill>
                <a:latin typeface="맑은 고딕"/>
                <a:ea typeface="맑은 고딕"/>
                <a:cs typeface="맑은 고딕"/>
                <a:sym typeface="맑은 고딕"/>
              </a:rPr>
              <a:t>Method</a:t>
            </a:r>
            <a:endParaRPr/>
          </a:p>
        </p:txBody>
      </p:sp>
      <p:sp>
        <p:nvSpPr>
          <p:cNvPr id="1109" name="Rect 1110"/>
          <p:cNvSpPr/>
          <p:nvPr/>
        </p:nvSpPr>
        <p:spPr>
          <a:xfrm>
            <a:off x="1408975" y="1200000"/>
            <a:ext cx="3350000" cy="1900000"/>
          </a:xfrm>
          <a:prstGeom prst="roundRect">
            <a:avLst>
              <a:gd name="adj" fmla="val 5000"/>
            </a:avLst>
          </a:prstGeom>
          <a:solidFill>
            <a:srgbClr val="F1F3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1" name="TextBox 1112"/>
          <p:cNvSpPr txBox="1"/>
          <p:nvPr/>
        </p:nvSpPr>
        <p:spPr>
          <a:xfrm>
            <a:off x="1658975" y="1400000"/>
            <a:ext cx="2900000" cy="15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260"/>
              </a:spcAft>
              <a:buNone/>
            </a:pPr>
            <a:r>
              <a:rPr lang="ko" sz="1200" b="1">
                <a:solidFill>
                  <a:srgbClr val="B3272D"/>
                </a:solidFill>
                <a:latin typeface="맑은 고딕"/>
                <a:ea typeface="맑은 고딕"/>
                <a:cs typeface="맑은 고딕"/>
                <a:sym typeface="맑은 고딕"/>
              </a:rPr>
              <a:t>Stage 1 · 100 epoch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260"/>
              </a:spcAft>
              <a:buNone/>
            </a:pPr>
            <a:r>
              <a:rPr lang="ko" sz="1500" b="1">
                <a:solidFill>
                  <a:srgbClr val="19264B"/>
                </a:solidFill>
                <a:latin typeface="맑은 고딕"/>
                <a:ea typeface="맑은 고딕"/>
                <a:cs typeface="맑은 고딕"/>
                <a:sym typeface="맑은 고딕"/>
              </a:rPr>
              <a:t>Encoder Pretraining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ko" sz="125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N-pair Contrastive Loss로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latent space를 먼저 정리</a:t>
            </a:r>
            <a:endParaRPr/>
          </a:p>
        </p:txBody>
      </p:sp>
      <p:sp>
        <p:nvSpPr>
          <p:cNvPr id="1113" name="Rect 1114"/>
          <p:cNvSpPr/>
          <p:nvPr/>
        </p:nvSpPr>
        <p:spPr>
          <a:xfrm>
            <a:off x="5008975" y="1200000"/>
            <a:ext cx="3350000" cy="1900000"/>
          </a:xfrm>
          <a:prstGeom prst="roundRect">
            <a:avLst>
              <a:gd name="adj" fmla="val 5000"/>
            </a:avLst>
          </a:prstGeom>
          <a:solidFill>
            <a:srgbClr val="F1F3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5" name="TextBox 1116"/>
          <p:cNvSpPr txBox="1"/>
          <p:nvPr/>
        </p:nvSpPr>
        <p:spPr>
          <a:xfrm>
            <a:off x="5258975" y="1400000"/>
            <a:ext cx="2900000" cy="15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260"/>
              </a:spcAft>
              <a:buNone/>
            </a:pPr>
            <a:r>
              <a:rPr lang="ko" sz="1200" b="1">
                <a:solidFill>
                  <a:srgbClr val="B3272D"/>
                </a:solidFill>
                <a:latin typeface="맑은 고딕"/>
                <a:ea typeface="맑은 고딕"/>
                <a:cs typeface="맑은 고딕"/>
                <a:sym typeface="맑은 고딕"/>
              </a:rPr>
              <a:t>Stage 2 · 50 epoch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260"/>
              </a:spcAft>
              <a:buNone/>
            </a:pPr>
            <a:r>
              <a:rPr lang="ko" sz="1500" b="1">
                <a:solidFill>
                  <a:srgbClr val="19264B"/>
                </a:solidFill>
                <a:latin typeface="맑은 고딕"/>
                <a:ea typeface="맑은 고딕"/>
                <a:cs typeface="맑은 고딕"/>
                <a:sym typeface="맑은 고딕"/>
              </a:rPr>
              <a:t>Encoder Freeze 후 학습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ko" sz="125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분할 : BCE-Dice Loss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분류 : Categorical Cross-Entropy</a:t>
            </a:r>
            <a:endParaRPr/>
          </a:p>
        </p:txBody>
      </p:sp>
      <p:sp>
        <p:nvSpPr>
          <p:cNvPr id="1117" name="TextBox 1118"/>
          <p:cNvSpPr txBox="1"/>
          <p:nvPr/>
        </p:nvSpPr>
        <p:spPr>
          <a:xfrm>
            <a:off x="1408975" y="3450000"/>
            <a:ext cx="71000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 b="1">
                <a:solidFill>
                  <a:srgbClr val="19264B"/>
                </a:solidFill>
                <a:latin typeface="맑은 고딕"/>
                <a:ea typeface="맑은 고딕"/>
                <a:cs typeface="맑은 고딕"/>
                <a:sym typeface="맑은 고딕"/>
              </a:rPr>
              <a:t>총 150 epoch 수렴  (DCNet은 4,000 epoch 필요)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1408975" y="266875"/>
            <a:ext cx="71000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Classification 성능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1125" name="TextBox 1126"/>
          <p:cNvSpPr txBox="1"/>
          <p:nvPr/>
        </p:nvSpPr>
        <p:spPr>
          <a:xfrm>
            <a:off x="6500000" y="200000"/>
            <a:ext cx="21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6B7280"/>
                </a:solidFill>
                <a:latin typeface="맑은 고딕"/>
                <a:ea typeface="맑은 고딕"/>
                <a:cs typeface="맑은 고딕"/>
                <a:sym typeface="맑은 고딕"/>
              </a:rPr>
              <a:t>Result</a:t>
            </a:r>
            <a:endParaRPr/>
          </a:p>
        </p:txBody>
      </p:sp>
      <p:pic>
        <p:nvPicPr>
          <p:cNvPr id="1121" name="Picture 11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8975" y="1050000"/>
            <a:ext cx="6500000" cy="2256198"/>
          </a:xfrm>
          <a:prstGeom prst="rect">
            <a:avLst/>
          </a:prstGeom>
          <a:noFill/>
          <a:ln>
            <a:noFill/>
          </a:ln>
        </p:spPr>
      </p:pic>
      <p:sp>
        <p:nvSpPr>
          <p:cNvPr id="1123" name="TextBox 1124"/>
          <p:cNvSpPr txBox="1"/>
          <p:nvPr/>
        </p:nvSpPr>
        <p:spPr>
          <a:xfrm>
            <a:off x="1408975" y="3662200"/>
            <a:ext cx="7100000" cy="1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330"/>
              </a:spcAft>
              <a:buSzPts val="900"/>
              <a:buChar char="•"/>
            </a:pPr>
            <a:r>
              <a:rPr lang="ko" sz="135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정확도 98.20% — DenseNet121(98.34%)에 거의 근접</a:t>
            </a:r>
            <a:endParaRPr dirty="0"/>
          </a:p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330"/>
              </a:spcAft>
              <a:buSzPts val="900"/>
              <a:buChar char="•"/>
            </a:pPr>
            <a:r>
              <a:rPr lang="ko" sz="135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모델 크기 0.51MB — ResNet50의 1/200</a:t>
            </a:r>
            <a:endParaRPr dirty="0"/>
          </a:p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</a:pPr>
            <a:r>
              <a:rPr lang="ko" sz="135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Contrastive Loss를 BCE로 바꾸면 93.29%로 하락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1408975" y="266875"/>
            <a:ext cx="71000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Segmentation 성능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1135" name="TextBox 1136"/>
          <p:cNvSpPr txBox="1"/>
          <p:nvPr/>
        </p:nvSpPr>
        <p:spPr>
          <a:xfrm>
            <a:off x="6500000" y="200000"/>
            <a:ext cx="21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6B7280"/>
                </a:solidFill>
                <a:latin typeface="맑은 고딕"/>
                <a:ea typeface="맑은 고딕"/>
                <a:cs typeface="맑은 고딕"/>
                <a:sym typeface="맑은 고딕"/>
              </a:rPr>
              <a:t>Result</a:t>
            </a:r>
            <a:endParaRPr/>
          </a:p>
        </p:txBody>
      </p:sp>
      <p:pic>
        <p:nvPicPr>
          <p:cNvPr id="1127" name="Picture 11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8975" y="1030000"/>
            <a:ext cx="5600000" cy="1014863"/>
          </a:xfrm>
          <a:prstGeom prst="rect">
            <a:avLst/>
          </a:prstGeom>
          <a:noFill/>
          <a:ln>
            <a:noFill/>
          </a:ln>
        </p:spPr>
      </p:pic>
      <p:sp>
        <p:nvSpPr>
          <p:cNvPr id="1129" name="TextBox 1130"/>
          <p:cNvSpPr txBox="1"/>
          <p:nvPr/>
        </p:nvSpPr>
        <p:spPr>
          <a:xfrm>
            <a:off x="1408975" y="2686465"/>
            <a:ext cx="4300000" cy="1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320"/>
              </a:spcAft>
              <a:buSzPts val="900"/>
              <a:buChar char="•"/>
            </a:pPr>
            <a:r>
              <a:rPr lang="ko" sz="135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Dice · IoU 모두 0.9999</a:t>
            </a:r>
            <a:endParaRPr dirty="0"/>
          </a:p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320"/>
              </a:spcAft>
              <a:buSzPts val="900"/>
              <a:buChar char="•"/>
            </a:pPr>
            <a:r>
              <a:rPr lang="ko" sz="135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UNet과 동등한 성능, 모델 크기는 1/250</a:t>
            </a:r>
            <a:endParaRPr dirty="0"/>
          </a:p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</a:pPr>
            <a:r>
              <a:rPr lang="ko" sz="135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INT8 양자화 시 0.17MB, 성능 저하 없음</a:t>
            </a:r>
            <a:endParaRPr dirty="0"/>
          </a:p>
        </p:txBody>
      </p:sp>
      <p:pic>
        <p:nvPicPr>
          <p:cNvPr id="1131" name="Picture 11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58975" y="2100000"/>
            <a:ext cx="2900000" cy="1316465"/>
          </a:xfrm>
          <a:prstGeom prst="rect">
            <a:avLst/>
          </a:prstGeom>
          <a:noFill/>
          <a:ln>
            <a:noFill/>
          </a:ln>
        </p:spPr>
      </p:pic>
      <p:sp>
        <p:nvSpPr>
          <p:cNvPr id="1133" name="TextBox 1134"/>
          <p:cNvSpPr txBox="1"/>
          <p:nvPr/>
        </p:nvSpPr>
        <p:spPr>
          <a:xfrm>
            <a:off x="5858975" y="3486465"/>
            <a:ext cx="29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6B7280"/>
                </a:solidFill>
                <a:latin typeface="맑은 고딕"/>
                <a:ea typeface="맑은 고딕"/>
                <a:cs typeface="맑은 고딕"/>
                <a:sym typeface="맑은 고딕"/>
              </a:rPr>
              <a:t>Ground Truth와 예측 마스크가 거의 동일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1408975" y="266875"/>
            <a:ext cx="71000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오분류 분석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1141" name="TextBox 1142"/>
          <p:cNvSpPr txBox="1"/>
          <p:nvPr/>
        </p:nvSpPr>
        <p:spPr>
          <a:xfrm>
            <a:off x="6500000" y="200000"/>
            <a:ext cx="21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6B7280"/>
                </a:solidFill>
                <a:latin typeface="맑은 고딕"/>
                <a:ea typeface="맑은 고딕"/>
                <a:cs typeface="맑은 고딕"/>
                <a:sym typeface="맑은 고딕"/>
              </a:rPr>
              <a:t>Result</a:t>
            </a:r>
            <a:endParaRPr/>
          </a:p>
        </p:txBody>
      </p:sp>
      <p:pic>
        <p:nvPicPr>
          <p:cNvPr id="1137" name="Picture 11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8975" y="980000"/>
            <a:ext cx="6900000" cy="1749502"/>
          </a:xfrm>
          <a:prstGeom prst="rect">
            <a:avLst/>
          </a:prstGeom>
          <a:noFill/>
          <a:ln>
            <a:noFill/>
          </a:ln>
        </p:spPr>
      </p:pic>
      <p:sp>
        <p:nvSpPr>
          <p:cNvPr id="1139" name="TextBox 1140"/>
          <p:cNvSpPr txBox="1"/>
          <p:nvPr/>
        </p:nvSpPr>
        <p:spPr>
          <a:xfrm>
            <a:off x="1408975" y="3371408"/>
            <a:ext cx="7100000" cy="1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320"/>
              </a:spcAft>
              <a:buSzPts val="900"/>
              <a:buChar char="•"/>
            </a:pPr>
            <a:r>
              <a:rPr lang="ko" sz="135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오분류 138장 중 상당수는 정답 라벨 자체가 모호</a:t>
            </a:r>
            <a:endParaRPr dirty="0"/>
          </a:p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320"/>
              </a:spcAft>
              <a:buSzPts val="900"/>
              <a:buChar char="•"/>
            </a:pPr>
            <a:r>
              <a:rPr lang="ko" sz="135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edgeLoc과 edgeRing, Nearful과 Random은 사람도 구분이 어려움</a:t>
            </a:r>
            <a:endParaRPr dirty="0"/>
          </a:p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</a:pPr>
            <a:r>
              <a:rPr lang="ko" sz="135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모델 예측이 오히려 더 타당해 보이는 사례도 존재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1408975" y="266875"/>
            <a:ext cx="71000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Contribution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1147" name="TextBox 1148"/>
          <p:cNvSpPr txBox="1"/>
          <p:nvPr/>
        </p:nvSpPr>
        <p:spPr>
          <a:xfrm>
            <a:off x="6500000" y="200000"/>
            <a:ext cx="21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6B7280"/>
                </a:solidFill>
                <a:latin typeface="맑은 고딕"/>
                <a:ea typeface="맑은 고딕"/>
                <a:cs typeface="맑은 고딕"/>
                <a:sym typeface="맑은 고딕"/>
              </a:rPr>
              <a:t>Conclusion</a:t>
            </a:r>
            <a:endParaRPr/>
          </a:p>
        </p:txBody>
      </p:sp>
      <p:sp>
        <p:nvSpPr>
          <p:cNvPr id="1143" name="TextBox 1144"/>
          <p:cNvSpPr txBox="1"/>
          <p:nvPr/>
        </p:nvSpPr>
        <p:spPr>
          <a:xfrm>
            <a:off x="1408975" y="1130000"/>
            <a:ext cx="7100000" cy="2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520"/>
              </a:spcAft>
              <a:buSzPts val="900"/>
              <a:buChar char="•"/>
            </a:pPr>
            <a:r>
              <a:rPr lang="ko" sz="150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분류와 분할을 하나의 모델로 동시에 수행한 첫 wafer map 연구</a:t>
            </a:r>
            <a:endParaRPr/>
          </a:p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520"/>
              </a:spcAft>
              <a:buSzPts val="900"/>
              <a:buChar char="•"/>
            </a:pPr>
            <a:r>
              <a:rPr lang="ko" sz="150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MixedWM38 데이터셋에 segmentation 결과를 처음 제시</a:t>
            </a:r>
            <a:endParaRPr/>
          </a:p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520"/>
              </a:spcAft>
              <a:buSzPts val="900"/>
              <a:buChar char="•"/>
            </a:pPr>
            <a:r>
              <a:rPr lang="ko" sz="150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정확도는 유지하면서 모델 크기를 200배 축소 (0.51MB)</a:t>
            </a:r>
            <a:endParaRPr/>
          </a:p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520"/>
              </a:spcAft>
              <a:buSzPts val="900"/>
              <a:buChar char="•"/>
            </a:pPr>
            <a:r>
              <a:rPr lang="ko" sz="150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Tesla P100 기준 25 FPS — 실시간 인라인 검사 가능</a:t>
            </a:r>
            <a:endParaRPr/>
          </a:p>
        </p:txBody>
      </p:sp>
      <p:sp>
        <p:nvSpPr>
          <p:cNvPr id="1145" name="TextBox 1146"/>
          <p:cNvSpPr txBox="1"/>
          <p:nvPr/>
        </p:nvSpPr>
        <p:spPr>
          <a:xfrm>
            <a:off x="1408975" y="3720000"/>
            <a:ext cx="71000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 b="1">
                <a:solidFill>
                  <a:srgbClr val="19264B"/>
                </a:solidFill>
                <a:latin typeface="맑은 고딕"/>
                <a:ea typeface="맑은 고딕"/>
                <a:cs typeface="맑은 고딕"/>
                <a:sym typeface="맑은 고딕"/>
              </a:rPr>
              <a:t>경량 모델도 무거운 모델만큼의 성능을 낼 수 있음을 보였다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1408975" y="266875"/>
            <a:ext cx="71000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Limitation</a:t>
            </a:r>
            <a:endParaRPr sz="2000" dirty="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1153" name="TextBox 1154"/>
          <p:cNvSpPr txBox="1"/>
          <p:nvPr/>
        </p:nvSpPr>
        <p:spPr>
          <a:xfrm>
            <a:off x="6500000" y="200000"/>
            <a:ext cx="21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6B7280"/>
                </a:solidFill>
                <a:latin typeface="맑은 고딕"/>
                <a:ea typeface="맑은 고딕"/>
                <a:cs typeface="맑은 고딕"/>
                <a:sym typeface="맑은 고딕"/>
              </a:rPr>
              <a:t>Conclusion</a:t>
            </a:r>
            <a:endParaRPr/>
          </a:p>
        </p:txBody>
      </p:sp>
      <p:sp>
        <p:nvSpPr>
          <p:cNvPr id="1149" name="TextBox 1150"/>
          <p:cNvSpPr txBox="1"/>
          <p:nvPr/>
        </p:nvSpPr>
        <p:spPr>
          <a:xfrm>
            <a:off x="1408975" y="1297951"/>
            <a:ext cx="7100000" cy="1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520"/>
              </a:spcAft>
              <a:buSzPts val="900"/>
              <a:buChar char="•"/>
            </a:pPr>
            <a:r>
              <a:rPr lang="ko" sz="15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학습하지 않은 새로운 결함 클래스에는 대응 불가</a:t>
            </a:r>
            <a:endParaRPr dirty="0"/>
          </a:p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520"/>
              </a:spcAft>
              <a:buSzPts val="900"/>
              <a:buChar char="•"/>
            </a:pPr>
            <a:r>
              <a:rPr lang="ko" sz="15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비슷하게 생긴 미학습 클래스를 기존 클래스로 오판 (contrastive loss의 부작용)</a:t>
            </a:r>
            <a:endParaRPr dirty="0"/>
          </a:p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520"/>
              </a:spcAft>
              <a:buSzPts val="900"/>
              <a:buChar char="•"/>
            </a:pPr>
            <a:r>
              <a:rPr lang="ko" sz="15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  <a:sym typeface="맑은 고딕"/>
              </a:rPr>
              <a:t>Transfer learning · Unsupervised 학습이 향후 과제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64B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687" y="3081187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7"/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7"/>
          <p:cNvSpPr txBox="1"/>
          <p:nvPr/>
        </p:nvSpPr>
        <p:spPr>
          <a:xfrm>
            <a:off x="1469575" y="510025"/>
            <a:ext cx="14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7"/>
          <p:cNvSpPr txBox="1"/>
          <p:nvPr/>
        </p:nvSpPr>
        <p:spPr>
          <a:xfrm>
            <a:off x="2082300" y="2110050"/>
            <a:ext cx="4979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800">
              <a:solidFill>
                <a:schemeClr val="lt1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1155" name="TextBox 1156"/>
          <p:cNvSpPr txBox="1"/>
          <p:nvPr/>
        </p:nvSpPr>
        <p:spPr>
          <a:xfrm>
            <a:off x="2082300" y="2110050"/>
            <a:ext cx="4979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45700" bIns="457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200" b="1">
                <a:solidFill>
                  <a:srgbClr val="FFFFFF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Q &amp; A</a:t>
            </a:r>
            <a:endParaRPr/>
          </a:p>
        </p:txBody>
      </p:sp>
      <p:cxnSp>
        <p:nvCxnSpPr>
          <p:cNvPr id="2" name="Google Shape;90;p16">
            <a:extLst>
              <a:ext uri="{FF2B5EF4-FFF2-40B4-BE49-F238E27FC236}">
                <a16:creationId xmlns:a16="http://schemas.microsoft.com/office/drawing/2014/main" id="{E573B452-6515-580B-5947-7DCCCB1083EA}"/>
              </a:ext>
            </a:extLst>
          </p:cNvPr>
          <p:cNvCxnSpPr/>
          <p:nvPr/>
        </p:nvCxnSpPr>
        <p:spPr>
          <a:xfrm>
            <a:off x="182205" y="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</TotalTime>
  <Words>703</Words>
  <Application>Microsoft Macintosh PowerPoint</Application>
  <PresentationFormat>화면 슬라이드 쇼(16:9)</PresentationFormat>
  <Paragraphs>133</Paragraphs>
  <Slides>18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Arial</vt:lpstr>
      <vt:lpstr>NanumGothicExtraBold</vt:lpstr>
      <vt:lpstr>맑은 고딕</vt:lpstr>
      <vt:lpstr>NanumGothic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인선우</cp:lastModifiedBy>
  <cp:revision>12</cp:revision>
  <dcterms:modified xsi:type="dcterms:W3CDTF">2026-09-08T10:53:22Z</dcterms:modified>
</cp:coreProperties>
</file>