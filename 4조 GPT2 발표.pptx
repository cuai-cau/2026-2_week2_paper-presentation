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  <p:sldMasterId id="2147483652" r:id="rId3"/>
  </p:sldMasterIdLst>
  <p:notesMasterIdLst>
    <p:notesMasterId r:id="rId18"/>
  </p:notesMasterIdLst>
  <p:sldIdLst>
    <p:sldId id="256" r:id="rId4"/>
    <p:sldId id="257" r:id="rId5"/>
    <p:sldId id="258" r:id="rId6"/>
    <p:sldId id="259" r:id="rId7"/>
    <p:sldId id="260" r:id="rId8"/>
    <p:sldId id="261" r:id="rId9"/>
    <p:sldId id="274" r:id="rId10"/>
    <p:sldId id="272" r:id="rId11"/>
    <p:sldId id="273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12192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429" autoAdjust="0"/>
  </p:normalViewPr>
  <p:slideViewPr>
    <p:cSldViewPr snapToGrid="0">
      <p:cViewPr varScale="1">
        <p:scale>
          <a:sx n="60" d="100"/>
          <a:sy n="60" d="100"/>
        </p:scale>
        <p:origin x="152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8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9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0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C282E0B-0387-4938-A726-C95BA7DB6B6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안녕하세요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오늘은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GPT-2 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논문을 발표하겠습니다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이번 발표는 결과를 많이 나열하기보다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GPT-2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가 기존 방식에서 무엇을 바꾸었고 그 가설을 어떤 실험으로 검증했는지를 중심으로 보겠습니다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특히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절의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Generalization vs Memorization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과 그 안의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Bloom filter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도 자료구조 수준에서 짚고 넘어가겠습니다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1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4E7B60-7AEC-444D-AF77-CE02C4984B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당시 일반적인 흐름은 사전학습 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task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fine-tuning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GPT-2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fine-tuning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단계가 정말 필수인지 의심합니다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웹에는 이미 번역문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질문과 답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요약처럼 여러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task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예시가 자연어로 섞여 있기 때문에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충분히 큰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LM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이라면 이런 패턴을 예측하다가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task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수행 방식까지 배울 수 있다는 가설입니다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1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2EA0A9-2027-4810-8684-B3B2A9B9FB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GPT-2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새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loss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만든 건 아닙니다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여전히 다음 토큰 예측 하나만 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저자들은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task, input, output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도 결국 한 줄의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 sequence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표현될 수 있다고 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예를 들어 번역 지시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영어 문장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프랑스어 문장이 이어진 하나의 시퀀스입니다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그러면 같은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language modeling objective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이 전체 패턴을 학습할 수 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논리 때문에 하나의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LM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여러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task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암묵적으로 배울 수 있다는 주장이 나옵니다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1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575785-9140-4FDA-9642-CEDB69F89F5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GPT-2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단순히 데이터를 많이 모은 게 아닙니다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Common Crawl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너무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noisy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했고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반대로 특정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benchmark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비슷한 문서만 고르면 목표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task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미리 가정하게 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그래서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Reddit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 karma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이상 받은 외부 링크를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quality heuristic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으로 사용해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WebText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만들었습니다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핵심은 특정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task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데이터셋이 아니라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다양한 자연어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task demonstration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섞인 범용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corpus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구성했다는 점입니다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20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2DEF79-49AC-4D53-9BAF-7CE67353A0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입력 표현도 중요한 설계입니다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byte-level BPE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는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256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개의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byte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를 기본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symbol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로 시작하기 때문에 어떤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UTF-8 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문자열도 표현할 수 있어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OOV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가 없습니다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동시에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BPE merge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로 자주 등장하는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sequence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는 큰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token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으로 만들어 효율을 얻습니다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다만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greedy merge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가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dog, dog., dog!, dog? 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같은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punctuation 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조합에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vocab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을 낭비할 수 있어서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GPT-2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는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character category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를 가로지르는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merge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를 제한하고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space</a:t>
            </a:r>
            <a:r>
              <a:rPr lang="zh-CN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만 예외로 둡니다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23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DA2829-D95E-4075-AA30-B10E612DB9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모델은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GPT-1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계열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Transformer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그대로 크게 키우되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깊어진 모델을 안정적으로 학습하기 위한 수정이 들어갑니다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LayerNorm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각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sub-block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input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쪽으로 옮기는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pre-LN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구조를 사용하고 마지막에도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layer norm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추가합니다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residual branch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초기화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scale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over root N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만큼 줄입니다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그리고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117M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부터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1.542B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까지 네 크기를 실제로 학습해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scaling trend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26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8A9DE5-DA7E-4DEB-BED4-D96590BF03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3.1부터 3.3은 따로 세 장으로 보기보다 한 묶음으로 보는 게 자연스럽습니다. 3.1의 Table 3에 이미 CBT와 LAMBADA 결과가 함께 들어가 있고, 3.2와 3.3은 그 두 벤치마크를 따로 떼서 자세히 설명하는 절입니다. 핵심은 WebText로 학습한 같은 언어 모델을 별도의 downstream fine-tuning 없이 여러 언어 모델링 데이터셋에 그대로 평가했다는 점입니다. 가장 큰 1.5B 모델은 8개 벤치마크 중 7개에서 당시 최고 성능을 갱신했고, CBT와 LAMBADA에서도 모델이 커질수록 성능이 크게 좋아졌습니다. 즉 여기까지의 메시지는 특정 데이터셋에 맞춘 모델이 아니라, 하나의 LM이 다른 도메인과 긴 문맥 문제까지 일반화하기 시작했다는 것입니다. 1BW는 예외인데, 논문은 문장 단위 셔플 같은 강한 전처리를 원인 후보로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3.4부터는 언어 모델링과는 성격이 다른 task로 넘어갑니다. Winograd에서는 대명사가 무엇을 가리키는지 상식적으로 판단해야 합니다. GPT-2는 후보를 문장에 넣은 뒤 어느 쪽 문장이 language model 관점에서 더 자연스러운지를 비교했고, 70.7%로 당시 SOTA를 약 7%포인트 높였습니다. 3.5 CoQA에서는 문서와 이전 대화 기록, 그리고 마지막 A:를 입력으로 넣고 답을 greedy decoding으로 직접 생성했습니다. 55 F1로 supervised BERT에는 크게 못 미쳤지만, 12만 7천 개 이상의 QA pair로 학습한 기존 baseline 중 3개와 비슷하거나 더 높았습니다. 이 장의 핵심은 점수 자체보다, 별도의 task-specific fine-tuning 없이 같은 LM이 추론과 독해 행동까지 보였다는 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마지막으로 3.6부터 3.8은 생성형 task입니다. 요약에서는 기사 뒤에 TL;DR:을 붙이는 것만으로 요약 행동을 유도했고, top-k 샘플링으로 만든 첫 세 문장을 요약으로 사용했습니다. 번역에서는 English equals French 형태의 예시 몇 개를 context로 주고, 마지막 English equals 뒤를 이어 쓰게 했습니다. QA도 마찬가지로 question-answer 예시를 먼저 보여준 뒤 새로운 질문에 답하게 했습니다. 절대 성능은 좋지 않습니다. 요약은 기존 SOTA보다 낮고, 번역도 33.5 BLEU의 unsupervised SOTA와 큰 차이가 있으며, QA exact match도 4.1%에 불과합니다. 하지만 논문이 강조하는 건 task별 weight update 없이, context만 바꿔서 요약·번역·QA 같은 서로 다른 behavior를 끌어냈다는 점입니다. 이 부분은 이후 GPT-3의 in-context learning으로 이어지는 초기 신호로 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절은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절의 좋은 성능이 암기 때문인지 확인하는 절입니다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WebText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워낙 크기 때문에 평가 문장이 학습 데이터에 들어갔을 가능성을 검사해야 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저자들은 연속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단어인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8-gram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비교 단위로 씁니다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여기서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개를 하나로 줄이는 게 아니라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8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단어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window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한 칸씩 움직이기 때문에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단어 문서에서 거의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8-gram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생깁니다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그래서 이 수많은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membership query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효율적으로 처리할 자료구조가 필요합니다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41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0C0DCA-2825-4F08-9770-191388A56FF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Bloom filter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문자열 자체를 저장하지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비트 배열을 만들고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어떤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8-gram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들어오면 몇 개의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hash function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으로 위치를 정해서 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bit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켭니다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검색할 때 같은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hash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계산해서 하나라도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이면 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8-gram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확실히 없었던 겁니다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반대로 모든 위치가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이면 아마 있었던 것이지만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다른 문자열들이 우연히 같은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bit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들을 켰을 수 있어서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false positive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가능합니다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중요한 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index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안에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apple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banana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들어가는 게 아니라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단순히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흔적만 남는다는 점입니다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44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508594-9878-4349-9907-A80C83BC6B6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Bloom filter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실제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overlap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계산해 보면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WebText train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benchmark test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평균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overlap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3.2%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놀랍게도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benchmark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train split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test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평균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overlap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5.9%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더 큽니다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LAMBADA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overlap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있는 예시를 제거해도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accuracy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perplexity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변화가 매우 작습니다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또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WebText train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test perplexity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모델 크기와 함께 같이 좋아집니다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저자들은 중복 효과는 존재하지만 전체 성능을 암기로 설명할 정도는 아니고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오히려 가장 큰 모델도 아직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underfit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이라고 해석합니다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47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16ED73-0B02-40D2-B70B-BC185B623C2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정리하면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GPT-2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핵심은 모든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task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SOTA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찍었다는 게 아닙니다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WebText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하나로 다른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domain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transfer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되고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context pattern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만으로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task behavior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바뀌고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모델을 키울수록 여러 능력이 함께 좋아진다는 방향성이 중요했습니다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동시에 저자들은 실용 성능이 낮고 평가 범위도 제한적이라고 인정합니다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그래서 자연스러운 다음 질문은 방법이 틀린 게 아니라 아직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scale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부족한 것이라면 무엇이 더 나타날까였고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흐름이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GPT-3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이어집니다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50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9CB6CE-306A-4B21-90B0-35A4FFFE04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 받겠습니다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453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787EF6-0591-4392-A563-C67D4E32326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F1EB699B-0E88-4638-9018-61902098BE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U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E65EE166-6241-448C-BB12-5D05F04073F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4351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F345F"/>
          </a:solidFill>
          <a:ln w="12700">
            <a:solidFill>
              <a:srgbClr val="1F34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" y="2697480"/>
            <a:ext cx="365760" cy="91440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CUAI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835640" y="182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791A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Experiments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19672"/>
            <a:ext cx="16459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9EA8B8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510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sldNum" idx="1"/>
          </p:nvPr>
        </p:nvSpPr>
        <p:spPr>
          <a:xfrm>
            <a:off x="11475720" y="6510600"/>
            <a:ext cx="31968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9CA3A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2B21B5-8E7D-4F9E-B24F-AA403E86E419}" type="slidenum">
              <a:rPr lang="en-US" sz="800" b="0" u="none" strike="noStrike">
                <a:solidFill>
                  <a:srgbClr val="9CA3AF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19672"/>
            <a:ext cx="16459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9EA8B8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428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0"/>
          <p:cNvSpPr/>
          <p:nvPr/>
        </p:nvSpPr>
        <p:spPr>
          <a:xfrm>
            <a:off x="0" y="0"/>
            <a:ext cx="1444320" cy="6857640"/>
          </a:xfrm>
          <a:prstGeom prst="rect">
            <a:avLst/>
          </a:prstGeom>
          <a:solidFill>
            <a:srgbClr val="192A52"/>
          </a:solidFill>
          <a:ln w="12600">
            <a:solidFill>
              <a:srgbClr val="192A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1"/>
          <p:cNvSpPr/>
          <p:nvPr/>
        </p:nvSpPr>
        <p:spPr>
          <a:xfrm>
            <a:off x="164520" y="155160"/>
            <a:ext cx="360" cy="2606040"/>
          </a:xfrm>
          <a:prstGeom prst="line">
            <a:avLst/>
          </a:prstGeom>
          <a:ln w="1404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 anchorCtr="1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 rot="16200000">
            <a:off x="-45360" y="2880720"/>
            <a:ext cx="15084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 Black"/>
              </a:rPr>
              <a:t>CUAI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1874520" y="1463040"/>
            <a:ext cx="9052200" cy="150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Language Models are</a:t>
            </a:r>
            <a:endParaRPr lang="en-US" sz="2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Unsupervised Multitask Learners</a:t>
            </a:r>
            <a:endParaRPr lang="en-US" sz="2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1874520" y="318204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 dirty="0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GPT-2: “</a:t>
            </a:r>
            <a:r>
              <a:rPr lang="zh-CN" sz="190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결과”보다</a:t>
            </a:r>
            <a:r>
              <a:rPr lang="en-US" sz="1900" b="1" u="none" strike="noStrike" dirty="0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zh-CN" sz="190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무엇을 바꾸고 무엇을 검증했는가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1874520" y="387720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Radford et al., 2019  ·  12-minute paper review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6"/>
          <p:cNvSpPr/>
          <p:nvPr/>
        </p:nvSpPr>
        <p:spPr>
          <a:xfrm>
            <a:off x="8183880" y="4069080"/>
            <a:ext cx="2514240" cy="109692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600">
            <a:solidFill>
              <a:srgbClr val="D1D5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8458200" y="4279320"/>
            <a:ext cx="1965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핵심 질문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8394120" y="4553640"/>
            <a:ext cx="21027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fontScale="925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하나의 </a:t>
            </a:r>
            <a:r>
              <a:rPr lang="en-US" sz="1350" b="1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LM</a:t>
            </a:r>
            <a:r>
              <a:rPr lang="zh-CN" sz="13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이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여러 </a:t>
            </a:r>
            <a:r>
              <a:rPr lang="en-US" sz="1350" b="1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task</a:t>
            </a:r>
            <a:r>
              <a:rPr lang="zh-CN" sz="13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를 스스로 배울까</a:t>
            </a:r>
            <a:r>
              <a:rPr lang="en-US" sz="1350" b="1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?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sldNum" idx="5"/>
          </p:nvPr>
        </p:nvSpPr>
        <p:spPr>
          <a:xfrm>
            <a:off x="11631168" y="6492240"/>
            <a:ext cx="41148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9CA3A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750" b="0" u="none" strike="noStrike" dirty="0">
                <a:solidFill>
                  <a:srgbClr val="9CA3A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0"/>
          <p:cNvSpPr/>
          <p:nvPr/>
        </p:nvSpPr>
        <p:spPr>
          <a:xfrm>
            <a:off x="0" y="0"/>
            <a:ext cx="1444320" cy="6857640"/>
          </a:xfrm>
          <a:prstGeom prst="rect">
            <a:avLst/>
          </a:prstGeom>
          <a:solidFill>
            <a:srgbClr val="192A52"/>
          </a:solidFill>
          <a:ln w="12600">
            <a:solidFill>
              <a:srgbClr val="192A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"/>
          <p:cNvSpPr/>
          <p:nvPr/>
        </p:nvSpPr>
        <p:spPr>
          <a:xfrm>
            <a:off x="164520" y="155160"/>
            <a:ext cx="360" cy="2606040"/>
          </a:xfrm>
          <a:prstGeom prst="line">
            <a:avLst/>
          </a:prstGeom>
          <a:ln w="1404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 anchorCtr="1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2"/>
          <p:cNvSpPr/>
          <p:nvPr/>
        </p:nvSpPr>
        <p:spPr>
          <a:xfrm rot="16200000">
            <a:off x="-45360" y="2880720"/>
            <a:ext cx="15084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 Black"/>
              </a:rPr>
              <a:t>CUAI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3"/>
          <p:cNvSpPr/>
          <p:nvPr/>
        </p:nvSpPr>
        <p:spPr>
          <a:xfrm>
            <a:off x="1828800" y="43884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Motivation: </a:t>
            </a:r>
            <a:r>
              <a:rPr lang="ko-KR" altLang="en-US" sz="24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파인튜닝</a:t>
            </a:r>
            <a:r>
              <a:rPr lang="en-US" altLang="ko-KR" sz="24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? </a:t>
            </a:r>
            <a:r>
              <a:rPr lang="ko-KR" altLang="en-US" sz="24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안하면</a:t>
            </a:r>
            <a:r>
              <a:rPr lang="ko-KR" altLang="en-US" sz="24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안  되나</a:t>
            </a:r>
            <a:r>
              <a:rPr lang="en-US" altLang="ko-KR" sz="24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?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4"/>
          <p:cNvSpPr/>
          <p:nvPr/>
        </p:nvSpPr>
        <p:spPr>
          <a:xfrm>
            <a:off x="10469880" y="47556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Introduction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5"/>
          <p:cNvSpPr/>
          <p:nvPr/>
        </p:nvSpPr>
        <p:spPr>
          <a:xfrm>
            <a:off x="1965960" y="1051560"/>
            <a:ext cx="21942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기존 </a:t>
            </a:r>
            <a:r>
              <a:rPr lang="en-US" sz="1600" b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transfer learning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6"/>
          <p:cNvSpPr/>
          <p:nvPr/>
        </p:nvSpPr>
        <p:spPr>
          <a:xfrm>
            <a:off x="1965960" y="1645920"/>
            <a:ext cx="2057040" cy="10238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120">
            <a:solidFill>
              <a:srgbClr val="192A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7"/>
          <p:cNvSpPr/>
          <p:nvPr/>
        </p:nvSpPr>
        <p:spPr>
          <a:xfrm>
            <a:off x="2103120" y="1865520"/>
            <a:ext cx="1782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Pre-train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8"/>
          <p:cNvSpPr/>
          <p:nvPr/>
        </p:nvSpPr>
        <p:spPr>
          <a:xfrm>
            <a:off x="2075760" y="224928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대규모 </a:t>
            </a: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unlabeled text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9"/>
          <p:cNvSpPr/>
          <p:nvPr/>
        </p:nvSpPr>
        <p:spPr>
          <a:xfrm>
            <a:off x="4105440" y="2148840"/>
            <a:ext cx="292680" cy="360"/>
          </a:xfrm>
          <a:prstGeom prst="line">
            <a:avLst/>
          </a:prstGeom>
          <a:ln w="19080">
            <a:solidFill>
              <a:srgbClr val="6B72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0"/>
          <p:cNvSpPr/>
          <p:nvPr/>
        </p:nvSpPr>
        <p:spPr>
          <a:xfrm>
            <a:off x="4480560" y="1645920"/>
            <a:ext cx="2057040" cy="1023840"/>
          </a:xfrm>
          <a:prstGeom prst="roundRect">
            <a:avLst>
              <a:gd name="adj" fmla="val 7143"/>
            </a:avLst>
          </a:prstGeom>
          <a:solidFill>
            <a:srgbClr val="FFF7E6"/>
          </a:solidFill>
          <a:ln w="1512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1"/>
          <p:cNvSpPr/>
          <p:nvPr/>
        </p:nvSpPr>
        <p:spPr>
          <a:xfrm>
            <a:off x="4617720" y="1865520"/>
            <a:ext cx="1782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F59E0B"/>
                </a:solidFill>
                <a:effectLst/>
                <a:uFillTx/>
                <a:latin typeface="Arial"/>
                <a:ea typeface="Arial"/>
              </a:rPr>
              <a:t>Fine-tune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2"/>
          <p:cNvSpPr/>
          <p:nvPr/>
        </p:nvSpPr>
        <p:spPr>
          <a:xfrm>
            <a:off x="4590360" y="224928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task-specific labels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3"/>
          <p:cNvSpPr/>
          <p:nvPr/>
        </p:nvSpPr>
        <p:spPr>
          <a:xfrm>
            <a:off x="6620040" y="2148840"/>
            <a:ext cx="292680" cy="360"/>
          </a:xfrm>
          <a:prstGeom prst="line">
            <a:avLst/>
          </a:prstGeom>
          <a:ln w="19080">
            <a:solidFill>
              <a:srgbClr val="6B72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4"/>
          <p:cNvSpPr/>
          <p:nvPr/>
        </p:nvSpPr>
        <p:spPr>
          <a:xfrm>
            <a:off x="6995160" y="1645920"/>
            <a:ext cx="2057040" cy="10238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12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5"/>
          <p:cNvSpPr/>
          <p:nvPr/>
        </p:nvSpPr>
        <p:spPr>
          <a:xfrm>
            <a:off x="7132320" y="1865520"/>
            <a:ext cx="1782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B82F6"/>
                </a:solidFill>
                <a:effectLst/>
                <a:uFillTx/>
                <a:latin typeface="Arial"/>
                <a:ea typeface="Arial"/>
              </a:rPr>
              <a:t>Deploy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6"/>
          <p:cNvSpPr/>
          <p:nvPr/>
        </p:nvSpPr>
        <p:spPr>
          <a:xfrm>
            <a:off x="7104960" y="224928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task</a:t>
            </a:r>
            <a:r>
              <a:rPr lang="zh-CN" sz="105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별 모델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7"/>
          <p:cNvSpPr/>
          <p:nvPr/>
        </p:nvSpPr>
        <p:spPr>
          <a:xfrm>
            <a:off x="1965960" y="3401640"/>
            <a:ext cx="8869320" cy="1645560"/>
          </a:xfrm>
          <a:prstGeom prst="roundRect">
            <a:avLst>
              <a:gd name="adj" fmla="val 4444"/>
            </a:avLst>
          </a:prstGeom>
          <a:solidFill>
            <a:srgbClr val="192A52"/>
          </a:solidFill>
          <a:ln w="12600">
            <a:solidFill>
              <a:srgbClr val="192A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8"/>
          <p:cNvSpPr/>
          <p:nvPr/>
        </p:nvSpPr>
        <p:spPr>
          <a:xfrm>
            <a:off x="2267640" y="3675960"/>
            <a:ext cx="1416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BDD0FF"/>
                </a:solidFill>
                <a:effectLst/>
                <a:uFillTx/>
                <a:latin typeface="Arial"/>
                <a:ea typeface="Arial"/>
              </a:rPr>
              <a:t>GPT-2</a:t>
            </a:r>
            <a:r>
              <a:rPr lang="zh-CN" sz="1400" b="1" u="none" strike="noStrike">
                <a:solidFill>
                  <a:srgbClr val="BDD0FF"/>
                </a:solidFill>
                <a:effectLst/>
                <a:uFillTx/>
                <a:latin typeface="Arial"/>
                <a:ea typeface="Arial"/>
              </a:rPr>
              <a:t>의 가설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9"/>
          <p:cNvSpPr/>
          <p:nvPr/>
        </p:nvSpPr>
        <p:spPr>
          <a:xfrm>
            <a:off x="3657600" y="3584520"/>
            <a:ext cx="66747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fontScale="8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7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웹에는 번역</a:t>
            </a:r>
            <a:r>
              <a:rPr lang="en-US" sz="17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, QA, </a:t>
            </a:r>
            <a:r>
              <a:rPr lang="zh-CN" sz="17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요약 같은 </a:t>
            </a:r>
            <a:r>
              <a:rPr lang="en-US" sz="17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task </a:t>
            </a:r>
            <a:r>
              <a:rPr lang="ko-KR" altLang="en-US" sz="17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를 </a:t>
            </a:r>
            <a:r>
              <a:rPr lang="ko-KR" altLang="en-US" sz="1700" b="1" dirty="0">
                <a:solidFill>
                  <a:srgbClr val="FFFFFF"/>
                </a:solidFill>
                <a:latin typeface="Arial"/>
                <a:ea typeface="Arial"/>
              </a:rPr>
              <a:t>수행하기에 충분한 데이터가</a:t>
            </a:r>
            <a:r>
              <a:rPr lang="zh-CN" sz="17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이미 자연어로 섞여 있다</a:t>
            </a:r>
            <a:r>
              <a:rPr lang="en-US" sz="17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0"/>
          <p:cNvSpPr/>
          <p:nvPr/>
        </p:nvSpPr>
        <p:spPr>
          <a:xfrm>
            <a:off x="3657600" y="4142160"/>
            <a:ext cx="6674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E5ECFF"/>
                </a:solidFill>
                <a:effectLst/>
                <a:uFillTx/>
                <a:latin typeface="Arial"/>
                <a:ea typeface="Arial"/>
              </a:rPr>
              <a:t>→ </a:t>
            </a:r>
            <a:r>
              <a:rPr lang="en-US" sz="1500" b="1" u="none" strike="noStrike" dirty="0" err="1">
                <a:solidFill>
                  <a:srgbClr val="E5ECFF"/>
                </a:solidFill>
                <a:effectLst/>
                <a:uFillTx/>
                <a:latin typeface="Arial"/>
                <a:ea typeface="Arial"/>
              </a:rPr>
              <a:t>충분히</a:t>
            </a:r>
            <a:r>
              <a:rPr lang="en-US" sz="1500" b="1" u="none" strike="noStrike" dirty="0">
                <a:solidFill>
                  <a:srgbClr val="E5ECFF"/>
                </a:solidFill>
                <a:effectLst/>
                <a:uFillTx/>
                <a:latin typeface="Arial"/>
                <a:ea typeface="Arial"/>
              </a:rPr>
              <a:t> 큰 language model</a:t>
            </a:r>
            <a:r>
              <a:rPr lang="zh-CN" sz="1500" b="1" u="none" strike="noStrike" dirty="0">
                <a:solidFill>
                  <a:srgbClr val="E5ECFF"/>
                </a:solidFill>
                <a:effectLst/>
                <a:uFillTx/>
                <a:latin typeface="Arial"/>
                <a:ea typeface="Arial"/>
              </a:rPr>
              <a:t>이라면 </a:t>
            </a:r>
            <a:r>
              <a:rPr lang="en-US" sz="1500" b="1" u="none" strike="noStrike" dirty="0">
                <a:solidFill>
                  <a:srgbClr val="E5ECFF"/>
                </a:solidFill>
                <a:effectLst/>
                <a:uFillTx/>
                <a:latin typeface="Arial"/>
                <a:ea typeface="Arial"/>
              </a:rPr>
              <a:t>next-token prediction</a:t>
            </a:r>
            <a:r>
              <a:rPr lang="zh-CN" sz="1500" b="1" u="none" strike="noStrike" dirty="0">
                <a:solidFill>
                  <a:srgbClr val="E5ECFF"/>
                </a:solidFill>
                <a:effectLst/>
                <a:uFillTx/>
                <a:latin typeface="Arial"/>
                <a:ea typeface="Arial"/>
              </a:rPr>
              <a:t>만으로 </a:t>
            </a:r>
            <a:r>
              <a:rPr lang="ko-KR" altLang="en-US" sz="1500" b="1" u="none" strike="noStrike" dirty="0">
                <a:solidFill>
                  <a:srgbClr val="E5ECFF"/>
                </a:solidFill>
                <a:effectLst/>
                <a:uFillTx/>
                <a:latin typeface="Arial"/>
                <a:ea typeface="Arial"/>
              </a:rPr>
              <a:t>모든 자연어 </a:t>
            </a:r>
            <a:r>
              <a:rPr lang="en-US" sz="1500" b="1" u="none" strike="noStrike" dirty="0">
                <a:solidFill>
                  <a:srgbClr val="E5ECFF"/>
                </a:solidFill>
                <a:effectLst/>
                <a:uFillTx/>
                <a:latin typeface="Arial"/>
                <a:ea typeface="Arial"/>
              </a:rPr>
              <a:t>task</a:t>
            </a:r>
            <a:r>
              <a:rPr lang="ko-KR" altLang="en-US" sz="1500" b="1" u="none" strike="noStrike" dirty="0">
                <a:solidFill>
                  <a:srgbClr val="E5ECFF"/>
                </a:solidFill>
                <a:effectLst/>
                <a:uFillTx/>
                <a:latin typeface="Arial"/>
                <a:ea typeface="Arial"/>
              </a:rPr>
              <a:t>를 </a:t>
            </a:r>
            <a:r>
              <a:rPr lang="en-US" altLang="ko-KR" sz="1500" b="1" u="none" strike="noStrike" dirty="0">
                <a:solidFill>
                  <a:srgbClr val="E5ECFF"/>
                </a:solidFill>
                <a:effectLst/>
                <a:uFillTx/>
                <a:latin typeface="Arial"/>
                <a:ea typeface="Arial"/>
              </a:rPr>
              <a:t>zero - shot</a:t>
            </a:r>
            <a:r>
              <a:rPr lang="ko-KR" altLang="en-US" sz="1500" b="1" dirty="0">
                <a:solidFill>
                  <a:srgbClr val="E5ECFF"/>
                </a:solidFill>
                <a:latin typeface="Arial"/>
                <a:ea typeface="Arial"/>
              </a:rPr>
              <a:t>으로 풀 </a:t>
            </a:r>
            <a:r>
              <a:rPr lang="zh-CN" sz="1500" b="1" u="none" strike="noStrike" dirty="0">
                <a:solidFill>
                  <a:srgbClr val="E5ECFF"/>
                </a:solidFill>
                <a:effectLst/>
                <a:uFillTx/>
                <a:latin typeface="Arial"/>
                <a:ea typeface="Arial"/>
              </a:rPr>
              <a:t>수 있지 않을까</a:t>
            </a:r>
            <a:r>
              <a:rPr lang="en-US" sz="1500" b="1" u="none" strike="noStrike" dirty="0">
                <a:solidFill>
                  <a:srgbClr val="E5ECFF"/>
                </a:solidFill>
                <a:effectLst/>
                <a:uFillTx/>
                <a:latin typeface="Arial"/>
                <a:ea typeface="Arial"/>
              </a:rPr>
              <a:t>?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1"/>
          <p:cNvSpPr/>
          <p:nvPr/>
        </p:nvSpPr>
        <p:spPr>
          <a:xfrm>
            <a:off x="1965960" y="5577840"/>
            <a:ext cx="8869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핵심은 “</a:t>
            </a:r>
            <a:r>
              <a:rPr lang="en-US" sz="145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fine-tuning</a:t>
            </a:r>
            <a:r>
              <a:rPr lang="zh-CN" sz="145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을 더 잘하자”가 아니라 “</a:t>
            </a:r>
            <a:r>
              <a:rPr lang="en-US" sz="145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fine-tuning</a:t>
            </a:r>
            <a:r>
              <a:rPr lang="zh-CN" sz="145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이 꼭 필요한가</a:t>
            </a:r>
            <a:r>
              <a:rPr lang="en-US" sz="145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?”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2"/>
          <p:cNvSpPr/>
          <p:nvPr/>
        </p:nvSpPr>
        <p:spPr>
          <a:xfrm>
            <a:off x="8092440" y="6428232"/>
            <a:ext cx="3246120" cy="164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  <a:ea typeface="Arial"/>
              </a:rPr>
              <a:t>Radford et al. (2019), Sec. 1–2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sldNum" idx="6"/>
          </p:nvPr>
        </p:nvSpPr>
        <p:spPr>
          <a:xfrm>
            <a:off x="11631168" y="6492240"/>
            <a:ext cx="41148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9CA3A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0" y="0"/>
            <a:ext cx="1444320" cy="6857640"/>
          </a:xfrm>
          <a:prstGeom prst="rect">
            <a:avLst/>
          </a:prstGeom>
          <a:solidFill>
            <a:srgbClr val="192A52"/>
          </a:solidFill>
          <a:ln w="12600">
            <a:solidFill>
              <a:srgbClr val="192A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"/>
          <p:cNvSpPr/>
          <p:nvPr/>
        </p:nvSpPr>
        <p:spPr>
          <a:xfrm>
            <a:off x="164520" y="155160"/>
            <a:ext cx="360" cy="2606040"/>
          </a:xfrm>
          <a:prstGeom prst="line">
            <a:avLst/>
          </a:prstGeom>
          <a:ln w="1404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"/>
          <p:cNvSpPr/>
          <p:nvPr/>
        </p:nvSpPr>
        <p:spPr>
          <a:xfrm rot="16200000">
            <a:off x="-45360" y="2880720"/>
            <a:ext cx="15084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 Black"/>
              </a:rPr>
              <a:t>CUAI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"/>
          <p:cNvSpPr/>
          <p:nvPr/>
        </p:nvSpPr>
        <p:spPr>
          <a:xfrm>
            <a:off x="1828800" y="43884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Core Idea: task</a:t>
            </a:r>
            <a:r>
              <a:rPr lang="zh-CN" sz="24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도 결국 </a:t>
            </a:r>
            <a:r>
              <a:rPr lang="en-US" sz="24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text sequence</a:t>
            </a:r>
            <a:r>
              <a:rPr lang="zh-CN" sz="24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다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4"/>
          <p:cNvSpPr/>
          <p:nvPr/>
        </p:nvSpPr>
        <p:spPr>
          <a:xfrm>
            <a:off x="10469880" y="47556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Approach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5"/>
          <p:cNvSpPr/>
          <p:nvPr/>
        </p:nvSpPr>
        <p:spPr>
          <a:xfrm>
            <a:off x="1965960" y="1078920"/>
            <a:ext cx="3931560" cy="100548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600">
            <a:solidFill>
              <a:srgbClr val="D1D5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6"/>
          <p:cNvSpPr/>
          <p:nvPr/>
        </p:nvSpPr>
        <p:spPr>
          <a:xfrm>
            <a:off x="2240280" y="128016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Autoregressive LM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7"/>
          <p:cNvSpPr/>
          <p:nvPr/>
        </p:nvSpPr>
        <p:spPr>
          <a:xfrm>
            <a:off x="2194560" y="164592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fontScale="92500"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111827"/>
                </a:solidFill>
                <a:effectLst/>
                <a:uFillTx/>
                <a:latin typeface="Arial"/>
                <a:ea typeface="Cambria Math"/>
              </a:rPr>
              <a:t>p(x) = ∏ᵢ p(sᵢ | s₁, …, sᵢ₋₁)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8"/>
          <p:cNvSpPr/>
          <p:nvPr/>
        </p:nvSpPr>
        <p:spPr>
          <a:xfrm>
            <a:off x="6583680" y="1143000"/>
            <a:ext cx="3382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task / input / output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9"/>
          <p:cNvSpPr/>
          <p:nvPr/>
        </p:nvSpPr>
        <p:spPr>
          <a:xfrm>
            <a:off x="6492240" y="1581840"/>
            <a:ext cx="1188360" cy="347040"/>
          </a:xfrm>
          <a:prstGeom prst="roundRect">
            <a:avLst>
              <a:gd name="adj" fmla="val 15789"/>
            </a:avLst>
          </a:prstGeom>
          <a:solidFill>
            <a:srgbClr val="192A52"/>
          </a:solidFill>
          <a:ln w="12600">
            <a:solidFill>
              <a:srgbClr val="192A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0"/>
          <p:cNvSpPr/>
          <p:nvPr/>
        </p:nvSpPr>
        <p:spPr>
          <a:xfrm>
            <a:off x="6565320" y="1654920"/>
            <a:ext cx="10422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task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1"/>
          <p:cNvSpPr/>
          <p:nvPr/>
        </p:nvSpPr>
        <p:spPr>
          <a:xfrm>
            <a:off x="7936920" y="1581840"/>
            <a:ext cx="1234080" cy="347040"/>
          </a:xfrm>
          <a:prstGeom prst="roundRect">
            <a:avLst>
              <a:gd name="adj" fmla="val 15789"/>
            </a:avLst>
          </a:prstGeom>
          <a:solidFill>
            <a:srgbClr val="3B82F6"/>
          </a:solidFill>
          <a:ln w="1260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2"/>
          <p:cNvSpPr/>
          <p:nvPr/>
        </p:nvSpPr>
        <p:spPr>
          <a:xfrm>
            <a:off x="8010000" y="1654920"/>
            <a:ext cx="10879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input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3"/>
          <p:cNvSpPr/>
          <p:nvPr/>
        </p:nvSpPr>
        <p:spPr>
          <a:xfrm>
            <a:off x="9418320" y="1581840"/>
            <a:ext cx="1371240" cy="347040"/>
          </a:xfrm>
          <a:prstGeom prst="roundRect">
            <a:avLst>
              <a:gd name="adj" fmla="val 15789"/>
            </a:avLst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4"/>
          <p:cNvSpPr/>
          <p:nvPr/>
        </p:nvSpPr>
        <p:spPr>
          <a:xfrm>
            <a:off x="9491400" y="1654920"/>
            <a:ext cx="12250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output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5"/>
          <p:cNvSpPr/>
          <p:nvPr/>
        </p:nvSpPr>
        <p:spPr>
          <a:xfrm>
            <a:off x="7708320" y="1755360"/>
            <a:ext cx="173520" cy="360"/>
          </a:xfrm>
          <a:prstGeom prst="line">
            <a:avLst/>
          </a:prstGeom>
          <a:ln w="17640">
            <a:solidFill>
              <a:srgbClr val="6B72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6"/>
          <p:cNvSpPr/>
          <p:nvPr/>
        </p:nvSpPr>
        <p:spPr>
          <a:xfrm>
            <a:off x="9217080" y="1755360"/>
            <a:ext cx="155520" cy="360"/>
          </a:xfrm>
          <a:prstGeom prst="line">
            <a:avLst/>
          </a:prstGeom>
          <a:ln w="17640">
            <a:solidFill>
              <a:srgbClr val="6B72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7"/>
          <p:cNvSpPr/>
          <p:nvPr/>
        </p:nvSpPr>
        <p:spPr>
          <a:xfrm>
            <a:off x="6492240" y="2057400"/>
            <a:ext cx="4297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하나의 긴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symbol sequence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8"/>
          <p:cNvSpPr/>
          <p:nvPr/>
        </p:nvSpPr>
        <p:spPr>
          <a:xfrm>
            <a:off x="1965960" y="2788920"/>
            <a:ext cx="3108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예시</a:t>
            </a: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: translation demonstration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9"/>
          <p:cNvSpPr/>
          <p:nvPr/>
        </p:nvSpPr>
        <p:spPr>
          <a:xfrm>
            <a:off x="1965960" y="3264480"/>
            <a:ext cx="2514240" cy="804240"/>
          </a:xfrm>
          <a:prstGeom prst="roundRect">
            <a:avLst>
              <a:gd name="adj" fmla="val 9091"/>
            </a:avLst>
          </a:prstGeom>
          <a:solidFill>
            <a:srgbClr val="EEF2FF"/>
          </a:solidFill>
          <a:ln w="15120">
            <a:solidFill>
              <a:srgbClr val="192A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0"/>
          <p:cNvSpPr/>
          <p:nvPr/>
        </p:nvSpPr>
        <p:spPr>
          <a:xfrm>
            <a:off x="2057400" y="3511440"/>
            <a:ext cx="23313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translate to french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1"/>
          <p:cNvSpPr/>
          <p:nvPr/>
        </p:nvSpPr>
        <p:spPr>
          <a:xfrm>
            <a:off x="4773240" y="3264480"/>
            <a:ext cx="2742840" cy="80424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 w="1512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2"/>
          <p:cNvSpPr/>
          <p:nvPr/>
        </p:nvSpPr>
        <p:spPr>
          <a:xfrm>
            <a:off x="4864680" y="35114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B82F6"/>
                </a:solidFill>
                <a:effectLst/>
                <a:uFillTx/>
                <a:latin typeface="Arial"/>
                <a:ea typeface="Arial"/>
              </a:rPr>
              <a:t>english text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3"/>
          <p:cNvSpPr/>
          <p:nvPr/>
        </p:nvSpPr>
        <p:spPr>
          <a:xfrm>
            <a:off x="7818120" y="3264480"/>
            <a:ext cx="2971440" cy="804240"/>
          </a:xfrm>
          <a:prstGeom prst="roundRect">
            <a:avLst>
              <a:gd name="adj" fmla="val 9091"/>
            </a:avLst>
          </a:prstGeom>
          <a:solidFill>
            <a:srgbClr val="FFF7E6"/>
          </a:solidFill>
          <a:ln w="1512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4"/>
          <p:cNvSpPr/>
          <p:nvPr/>
        </p:nvSpPr>
        <p:spPr>
          <a:xfrm>
            <a:off x="7909560" y="3511440"/>
            <a:ext cx="2788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Arial"/>
                <a:ea typeface="Arial"/>
              </a:rPr>
              <a:t>french text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25"/>
          <p:cNvSpPr/>
          <p:nvPr/>
        </p:nvSpPr>
        <p:spPr>
          <a:xfrm>
            <a:off x="1965960" y="4663440"/>
            <a:ext cx="8823600" cy="914040"/>
          </a:xfrm>
          <a:prstGeom prst="roundRect">
            <a:avLst>
              <a:gd name="adj" fmla="val 8000"/>
            </a:avLst>
          </a:prstGeom>
          <a:solidFill>
            <a:srgbClr val="192A52"/>
          </a:solidFill>
          <a:ln w="12600">
            <a:solidFill>
              <a:srgbClr val="192A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6"/>
          <p:cNvSpPr/>
          <p:nvPr/>
        </p:nvSpPr>
        <p:spPr>
          <a:xfrm>
            <a:off x="2240280" y="4864680"/>
            <a:ext cx="4632468" cy="15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altLang="en-US" sz="1400" b="1" u="none" strike="noStrike" dirty="0">
                <a:solidFill>
                  <a:srgbClr val="BED0FF"/>
                </a:solidFill>
                <a:effectLst/>
                <a:uFillTx/>
                <a:latin typeface="Arial"/>
                <a:ea typeface="Arial"/>
              </a:rPr>
              <a:t>문제마다 새로운 </a:t>
            </a:r>
            <a:r>
              <a:rPr lang="en-US" altLang="ko-KR" sz="1400" b="1" u="none" strike="noStrike" dirty="0">
                <a:solidFill>
                  <a:srgbClr val="BED0FF"/>
                </a:solidFill>
                <a:effectLst/>
                <a:uFillTx/>
                <a:latin typeface="Arial"/>
                <a:ea typeface="Arial"/>
              </a:rPr>
              <a:t>loss</a:t>
            </a:r>
            <a:r>
              <a:rPr lang="ko-KR" altLang="en-US" sz="1400" b="1" u="none" strike="noStrike" dirty="0">
                <a:solidFill>
                  <a:srgbClr val="BED0FF"/>
                </a:solidFill>
                <a:effectLst/>
                <a:uFillTx/>
                <a:latin typeface="Arial"/>
                <a:ea typeface="Arial"/>
              </a:rPr>
              <a:t>를 다시 정의해서 학습하지 않는다</a:t>
            </a:r>
            <a:r>
              <a:rPr lang="en-US" altLang="ko-KR" sz="1400" b="1" u="none" strike="noStrike" dirty="0">
                <a:solidFill>
                  <a:srgbClr val="BED0FF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7"/>
          <p:cNvSpPr/>
          <p:nvPr/>
        </p:nvSpPr>
        <p:spPr>
          <a:xfrm>
            <a:off x="2194560" y="5157360"/>
            <a:ext cx="53031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7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같은 </a:t>
            </a:r>
            <a:r>
              <a:rPr lang="en-US" sz="17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next-token objective</a:t>
            </a:r>
            <a:r>
              <a:rPr lang="zh-CN" sz="17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가 </a:t>
            </a:r>
            <a:r>
              <a:rPr lang="en-US" sz="1700" b="1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task·input·output</a:t>
            </a:r>
            <a:r>
              <a:rPr lang="en-US" sz="17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zh-CN" sz="17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전체를 학습한다</a:t>
            </a:r>
            <a:r>
              <a:rPr lang="en-US" sz="17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9"/>
          <p:cNvSpPr/>
          <p:nvPr/>
        </p:nvSpPr>
        <p:spPr>
          <a:xfrm>
            <a:off x="8092440" y="6428232"/>
            <a:ext cx="3246120" cy="164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  <a:ea typeface="Arial"/>
              </a:rPr>
              <a:t>Radford et al. (2019), Sec. 2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sldNum" idx="7"/>
          </p:nvPr>
        </p:nvSpPr>
        <p:spPr>
          <a:xfrm>
            <a:off x="11631168" y="6492240"/>
            <a:ext cx="41148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9CA3A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0"/>
          <p:cNvSpPr/>
          <p:nvPr/>
        </p:nvSpPr>
        <p:spPr>
          <a:xfrm>
            <a:off x="0" y="0"/>
            <a:ext cx="1444320" cy="6857640"/>
          </a:xfrm>
          <a:prstGeom prst="rect">
            <a:avLst/>
          </a:prstGeom>
          <a:solidFill>
            <a:srgbClr val="192A52"/>
          </a:solidFill>
          <a:ln w="12600">
            <a:solidFill>
              <a:srgbClr val="192A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"/>
          <p:cNvSpPr/>
          <p:nvPr/>
        </p:nvSpPr>
        <p:spPr>
          <a:xfrm>
            <a:off x="164520" y="155160"/>
            <a:ext cx="360" cy="2606040"/>
          </a:xfrm>
          <a:prstGeom prst="line">
            <a:avLst/>
          </a:prstGeom>
          <a:ln w="1404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"/>
          <p:cNvSpPr/>
          <p:nvPr/>
        </p:nvSpPr>
        <p:spPr>
          <a:xfrm rot="16200000">
            <a:off x="-45360" y="2880720"/>
            <a:ext cx="15084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 Black"/>
              </a:rPr>
              <a:t>CUAI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3"/>
          <p:cNvSpPr/>
          <p:nvPr/>
        </p:nvSpPr>
        <p:spPr>
          <a:xfrm>
            <a:off x="1799303" y="985965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WebText</a:t>
            </a:r>
            <a:r>
              <a:rPr lang="en-US" sz="24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: “</a:t>
            </a:r>
            <a:r>
              <a:rPr lang="zh-CN" sz="24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크기”보다 “다양한 </a:t>
            </a:r>
            <a:r>
              <a:rPr lang="en-US" sz="24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task</a:t>
            </a:r>
            <a:r>
              <a:rPr lang="zh-CN" sz="24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가 자연스럽게 섞인 데이터”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4"/>
          <p:cNvSpPr/>
          <p:nvPr/>
        </p:nvSpPr>
        <p:spPr>
          <a:xfrm>
            <a:off x="10469880" y="47556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Method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5"/>
          <p:cNvSpPr/>
          <p:nvPr/>
        </p:nvSpPr>
        <p:spPr>
          <a:xfrm>
            <a:off x="1936463" y="1626045"/>
            <a:ext cx="2422800" cy="1416960"/>
          </a:xfrm>
          <a:prstGeom prst="roundRect">
            <a:avLst>
              <a:gd name="adj" fmla="val 5161"/>
            </a:avLst>
          </a:prstGeom>
          <a:solidFill>
            <a:srgbClr val="FDECEC"/>
          </a:solidFill>
          <a:ln w="14040">
            <a:solidFill>
              <a:srgbClr val="E457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6"/>
          <p:cNvSpPr/>
          <p:nvPr/>
        </p:nvSpPr>
        <p:spPr>
          <a:xfrm>
            <a:off x="2064623" y="1744845"/>
            <a:ext cx="2166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E45757"/>
                </a:solidFill>
                <a:effectLst/>
                <a:uFillTx/>
                <a:latin typeface="Arial"/>
                <a:ea typeface="Arial"/>
              </a:rPr>
              <a:t>문제 </a:t>
            </a:r>
            <a:r>
              <a:rPr lang="en-US" sz="1400" b="1" u="none" strike="noStrike">
                <a:solidFill>
                  <a:srgbClr val="E45757"/>
                </a:solidFill>
                <a:effectLst/>
                <a:uFillTx/>
                <a:latin typeface="Arial"/>
                <a:ea typeface="Arial"/>
              </a:rPr>
              <a:t>1. Common Crawl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7"/>
          <p:cNvSpPr/>
          <p:nvPr/>
        </p:nvSpPr>
        <p:spPr>
          <a:xfrm>
            <a:off x="2064623" y="2119965"/>
            <a:ext cx="216684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매우 크지만 품질이 낮고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“이해 불가능한” 문서도 많음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8"/>
          <p:cNvSpPr/>
          <p:nvPr/>
        </p:nvSpPr>
        <p:spPr>
          <a:xfrm>
            <a:off x="4542503" y="1626045"/>
            <a:ext cx="2422800" cy="1416960"/>
          </a:xfrm>
          <a:prstGeom prst="roundRect">
            <a:avLst>
              <a:gd name="adj" fmla="val 5161"/>
            </a:avLst>
          </a:prstGeom>
          <a:solidFill>
            <a:srgbClr val="FFF7E6"/>
          </a:solidFill>
          <a:ln w="1404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9"/>
          <p:cNvSpPr/>
          <p:nvPr/>
        </p:nvSpPr>
        <p:spPr>
          <a:xfrm>
            <a:off x="4670663" y="1744845"/>
            <a:ext cx="2166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F59E0B"/>
                </a:solidFill>
                <a:effectLst/>
                <a:uFillTx/>
                <a:latin typeface="Arial"/>
                <a:ea typeface="Arial"/>
              </a:rPr>
              <a:t>문제 </a:t>
            </a: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Arial"/>
                <a:ea typeface="Arial"/>
              </a:rPr>
              <a:t>2. task-specific filtering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0"/>
          <p:cNvSpPr/>
          <p:nvPr/>
        </p:nvSpPr>
        <p:spPr>
          <a:xfrm>
            <a:off x="4670663" y="2119965"/>
            <a:ext cx="216684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Winograd</a:t>
            </a:r>
            <a:r>
              <a:rPr lang="zh-CN" sz="115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와 비슷한 문서만 고르면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5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목표 </a:t>
            </a:r>
            <a:r>
              <a:rPr lang="en-US" sz="115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task</a:t>
            </a:r>
            <a:r>
              <a:rPr lang="zh-CN" sz="115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를 미리 가정하게 됨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1"/>
          <p:cNvSpPr/>
          <p:nvPr/>
        </p:nvSpPr>
        <p:spPr>
          <a:xfrm>
            <a:off x="7148543" y="1626045"/>
            <a:ext cx="2971440" cy="1416960"/>
          </a:xfrm>
          <a:prstGeom prst="roundRect">
            <a:avLst>
              <a:gd name="adj" fmla="val 5161"/>
            </a:avLst>
          </a:prstGeom>
          <a:solidFill>
            <a:srgbClr val="EEF2FF"/>
          </a:solidFill>
          <a:ln w="14040">
            <a:solidFill>
              <a:srgbClr val="192A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2"/>
          <p:cNvSpPr/>
          <p:nvPr/>
        </p:nvSpPr>
        <p:spPr>
          <a:xfrm>
            <a:off x="7276703" y="1744845"/>
            <a:ext cx="2715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GPT-2 </a:t>
            </a:r>
            <a:r>
              <a:rPr lang="zh-CN" sz="140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선택</a:t>
            </a:r>
            <a:r>
              <a:rPr lang="en-US" sz="140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: WebText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3"/>
          <p:cNvSpPr/>
          <p:nvPr/>
        </p:nvSpPr>
        <p:spPr>
          <a:xfrm>
            <a:off x="7276703" y="2119965"/>
            <a:ext cx="271548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Reddit</a:t>
            </a:r>
            <a:r>
              <a:rPr lang="zh-CN" sz="11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에서 ≥</a:t>
            </a:r>
            <a:r>
              <a:rPr lang="en-US" sz="11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3 karma</a:t>
            </a:r>
            <a:r>
              <a:rPr lang="zh-CN" sz="11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를 받은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outbound link</a:t>
            </a:r>
            <a:r>
              <a:rPr lang="zh-CN" sz="11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를 </a:t>
            </a:r>
            <a:r>
              <a:rPr lang="en-US" sz="11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quality heuristic</a:t>
            </a:r>
            <a:r>
              <a:rPr lang="zh-CN" sz="11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으로 사용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4"/>
          <p:cNvSpPr/>
          <p:nvPr/>
        </p:nvSpPr>
        <p:spPr>
          <a:xfrm>
            <a:off x="4395983" y="2339205"/>
            <a:ext cx="109800" cy="360"/>
          </a:xfrm>
          <a:prstGeom prst="line">
            <a:avLst/>
          </a:prstGeom>
          <a:ln w="17640">
            <a:solidFill>
              <a:srgbClr val="6B72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5"/>
          <p:cNvSpPr/>
          <p:nvPr/>
        </p:nvSpPr>
        <p:spPr>
          <a:xfrm>
            <a:off x="7002023" y="2339205"/>
            <a:ext cx="109800" cy="360"/>
          </a:xfrm>
          <a:prstGeom prst="line">
            <a:avLst/>
          </a:prstGeom>
          <a:ln w="17640">
            <a:solidFill>
              <a:srgbClr val="6B72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31"/>
          <p:cNvSpPr/>
          <p:nvPr/>
        </p:nvSpPr>
        <p:spPr>
          <a:xfrm>
            <a:off x="1936463" y="4317915"/>
            <a:ext cx="1828440" cy="91404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4040">
            <a:solidFill>
              <a:srgbClr val="192A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2"/>
          <p:cNvSpPr/>
          <p:nvPr/>
        </p:nvSpPr>
        <p:spPr>
          <a:xfrm>
            <a:off x="2027903" y="4409355"/>
            <a:ext cx="16455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8M+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3"/>
          <p:cNvSpPr/>
          <p:nvPr/>
        </p:nvSpPr>
        <p:spPr>
          <a:xfrm>
            <a:off x="2046263" y="4839195"/>
            <a:ext cx="1608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documents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34"/>
          <p:cNvSpPr/>
          <p:nvPr/>
        </p:nvSpPr>
        <p:spPr>
          <a:xfrm>
            <a:off x="3993863" y="4317915"/>
            <a:ext cx="1828440" cy="9140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404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35"/>
          <p:cNvSpPr/>
          <p:nvPr/>
        </p:nvSpPr>
        <p:spPr>
          <a:xfrm>
            <a:off x="4085303" y="4409355"/>
            <a:ext cx="16455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3B82F6"/>
                </a:solidFill>
                <a:effectLst/>
                <a:uFillTx/>
                <a:latin typeface="Arial"/>
                <a:ea typeface="Arial"/>
              </a:rPr>
              <a:t>40 GB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36"/>
          <p:cNvSpPr/>
          <p:nvPr/>
        </p:nvSpPr>
        <p:spPr>
          <a:xfrm>
            <a:off x="4103663" y="4839195"/>
            <a:ext cx="1608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text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37"/>
          <p:cNvSpPr/>
          <p:nvPr/>
        </p:nvSpPr>
        <p:spPr>
          <a:xfrm>
            <a:off x="6371303" y="4317915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왜 중요한가</a:t>
            </a:r>
            <a:r>
              <a:rPr lang="en-US" sz="140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8"/>
          <p:cNvSpPr/>
          <p:nvPr/>
        </p:nvSpPr>
        <p:spPr>
          <a:xfrm>
            <a:off x="6371303" y="4674675"/>
            <a:ext cx="39772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“번역 데이터셋”이 아니라, </a:t>
            </a:r>
            <a:r>
              <a:rPr lang="zh-CN" sz="13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번역</a:t>
            </a:r>
            <a:r>
              <a:rPr lang="en-US" sz="13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·QA·</a:t>
            </a:r>
            <a:r>
              <a:rPr lang="zh-CN" sz="13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설명</a:t>
            </a:r>
            <a:r>
              <a:rPr lang="en-US" sz="13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·</a:t>
            </a:r>
            <a:r>
              <a:rPr lang="zh-CN" sz="13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요약이 자연스럽게 섞인 범용 </a:t>
            </a:r>
            <a:r>
              <a:rPr lang="en-US" sz="13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corpus</a:t>
            </a:r>
            <a:r>
              <a:rPr lang="zh-CN" sz="13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를 만들려는 설계</a:t>
            </a:r>
            <a:r>
              <a:rPr lang="en-US" sz="135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39"/>
          <p:cNvSpPr/>
          <p:nvPr/>
        </p:nvSpPr>
        <p:spPr>
          <a:xfrm>
            <a:off x="8092440" y="6428232"/>
            <a:ext cx="3246120" cy="164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  <a:ea typeface="Arial"/>
              </a:rPr>
              <a:t>Radford et al. (2019), Sec. 2.1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sldNum" idx="8"/>
          </p:nvPr>
        </p:nvSpPr>
        <p:spPr>
          <a:xfrm>
            <a:off x="11631168" y="6492240"/>
            <a:ext cx="41148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9CA3A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0"/>
          <p:cNvSpPr/>
          <p:nvPr/>
        </p:nvSpPr>
        <p:spPr>
          <a:xfrm>
            <a:off x="0" y="0"/>
            <a:ext cx="1444320" cy="6857640"/>
          </a:xfrm>
          <a:prstGeom prst="rect">
            <a:avLst/>
          </a:prstGeom>
          <a:solidFill>
            <a:srgbClr val="192A52"/>
          </a:solidFill>
          <a:ln w="12600">
            <a:solidFill>
              <a:srgbClr val="192A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"/>
          <p:cNvSpPr/>
          <p:nvPr/>
        </p:nvSpPr>
        <p:spPr>
          <a:xfrm>
            <a:off x="164520" y="155160"/>
            <a:ext cx="360" cy="2606040"/>
          </a:xfrm>
          <a:prstGeom prst="line">
            <a:avLst/>
          </a:prstGeom>
          <a:ln w="1404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"/>
          <p:cNvSpPr/>
          <p:nvPr/>
        </p:nvSpPr>
        <p:spPr>
          <a:xfrm rot="16200000">
            <a:off x="-45360" y="2880720"/>
            <a:ext cx="15084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 Black"/>
              </a:rPr>
              <a:t>CUAI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3"/>
          <p:cNvSpPr/>
          <p:nvPr/>
        </p:nvSpPr>
        <p:spPr>
          <a:xfrm>
            <a:off x="1828800" y="43884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Byte-level BPE: </a:t>
            </a:r>
            <a:r>
              <a:rPr lang="zh-CN" sz="24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어떤 문자열도 다루되</a:t>
            </a:r>
            <a:r>
              <a:rPr lang="en-US" sz="24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zh-CN" sz="24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토큰 수는 줄인다</a:t>
            </a:r>
            <a:r>
              <a:rPr lang="en-US" altLang="zh-CN" sz="240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4"/>
          <p:cNvSpPr/>
          <p:nvPr/>
        </p:nvSpPr>
        <p:spPr>
          <a:xfrm>
            <a:off x="10469880" y="47556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Input Representation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5"/>
          <p:cNvSpPr/>
          <p:nvPr/>
        </p:nvSpPr>
        <p:spPr>
          <a:xfrm>
            <a:off x="1965960" y="107892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왜 </a:t>
            </a:r>
            <a:r>
              <a:rPr lang="en-US" sz="1500" b="1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byte-level</a:t>
            </a:r>
            <a:r>
              <a:rPr lang="zh-CN" sz="1500" b="1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인가</a:t>
            </a:r>
            <a:r>
              <a:rPr lang="en-US" sz="1500" b="1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?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6"/>
          <p:cNvSpPr/>
          <p:nvPr/>
        </p:nvSpPr>
        <p:spPr>
          <a:xfrm>
            <a:off x="1965960" y="2416363"/>
            <a:ext cx="72720" cy="72720"/>
          </a:xfrm>
          <a:prstGeom prst="ellipse">
            <a:avLst/>
          </a:prstGeom>
          <a:solidFill>
            <a:srgbClr val="192A52"/>
          </a:solidFill>
          <a:ln w="12600">
            <a:solidFill>
              <a:srgbClr val="192A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7"/>
          <p:cNvSpPr/>
          <p:nvPr/>
        </p:nvSpPr>
        <p:spPr>
          <a:xfrm>
            <a:off x="2130480" y="2173950"/>
            <a:ext cx="37213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35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base vocabulary</a:t>
            </a:r>
            <a:r>
              <a:rPr lang="ko-KR" altLang="en-US" sz="135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는</a:t>
            </a:r>
            <a:r>
              <a:rPr lang="zh-CN" sz="135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35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256</a:t>
            </a:r>
            <a:r>
              <a:rPr lang="zh-CN" sz="135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개 </a:t>
            </a:r>
            <a:r>
              <a:rPr lang="en-US" sz="135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byte → </a:t>
            </a:r>
            <a:r>
              <a:rPr lang="zh-CN" sz="135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임의의 </a:t>
            </a:r>
            <a:r>
              <a:rPr lang="en-US" sz="135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UTF-8 </a:t>
            </a:r>
            <a:r>
              <a:rPr lang="zh-CN" sz="135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문자열 표현 가능</a:t>
            </a:r>
            <a:r>
              <a:rPr lang="en-US" altLang="zh-CN" sz="1350" dirty="0">
                <a:solidFill>
                  <a:srgbClr val="111827"/>
                </a:solidFill>
                <a:latin typeface="Arial"/>
                <a:ea typeface="Arial"/>
              </a:rPr>
              <a:t>. </a:t>
            </a:r>
            <a:r>
              <a:rPr lang="ko-KR" altLang="en-US" sz="1350" dirty="0">
                <a:solidFill>
                  <a:srgbClr val="111827"/>
                </a:solidFill>
                <a:latin typeface="Arial"/>
                <a:ea typeface="Arial"/>
              </a:rPr>
              <a:t>반면 유니코드는</a:t>
            </a:r>
            <a:r>
              <a:rPr lang="en-US" altLang="ko-KR" sz="1350" dirty="0">
                <a:solidFill>
                  <a:srgbClr val="111827"/>
                </a:solidFill>
                <a:latin typeface="Arial"/>
                <a:ea typeface="Arial"/>
              </a:rPr>
              <a:t>? 13</a:t>
            </a:r>
            <a:r>
              <a:rPr lang="ko-KR" altLang="en-US" sz="1350" dirty="0">
                <a:solidFill>
                  <a:srgbClr val="111827"/>
                </a:solidFill>
                <a:latin typeface="Arial"/>
                <a:ea typeface="Arial"/>
              </a:rPr>
              <a:t>만개</a:t>
            </a:r>
            <a:r>
              <a:rPr lang="en-US" altLang="ko-KR" sz="1350" dirty="0">
                <a:solidFill>
                  <a:srgbClr val="111827"/>
                </a:solidFill>
                <a:latin typeface="Arial"/>
                <a:ea typeface="Arial"/>
              </a:rPr>
              <a:t>.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0"/>
          <p:cNvSpPr/>
          <p:nvPr/>
        </p:nvSpPr>
        <p:spPr>
          <a:xfrm>
            <a:off x="1965960" y="2853000"/>
            <a:ext cx="72720" cy="72720"/>
          </a:xfrm>
          <a:prstGeom prst="ellipse">
            <a:avLst/>
          </a:prstGeom>
          <a:solidFill>
            <a:srgbClr val="192A52"/>
          </a:solidFill>
          <a:ln w="12600">
            <a:solidFill>
              <a:srgbClr val="192A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1"/>
          <p:cNvSpPr/>
          <p:nvPr/>
        </p:nvSpPr>
        <p:spPr>
          <a:xfrm>
            <a:off x="2130480" y="2743200"/>
            <a:ext cx="37213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BPE merge</a:t>
            </a:r>
            <a:r>
              <a:rPr lang="zh-CN" sz="13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로 자주 나오는 </a:t>
            </a:r>
            <a:r>
              <a:rPr lang="en-US" sz="13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sequence</a:t>
            </a:r>
            <a:r>
              <a:rPr lang="zh-CN" sz="13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는 큰 </a:t>
            </a:r>
            <a:r>
              <a:rPr lang="en-US" sz="13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token</a:t>
            </a:r>
            <a:r>
              <a:rPr lang="zh-CN" sz="13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으로 압축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2"/>
          <p:cNvSpPr/>
          <p:nvPr/>
        </p:nvSpPr>
        <p:spPr>
          <a:xfrm>
            <a:off x="1965960" y="3657600"/>
            <a:ext cx="3840120" cy="141696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600">
            <a:solidFill>
              <a:srgbClr val="D1D5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3"/>
          <p:cNvSpPr/>
          <p:nvPr/>
        </p:nvSpPr>
        <p:spPr>
          <a:xfrm>
            <a:off x="2240280" y="3913560"/>
            <a:ext cx="1051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256 bytes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4"/>
          <p:cNvSpPr/>
          <p:nvPr/>
        </p:nvSpPr>
        <p:spPr>
          <a:xfrm>
            <a:off x="3429000" y="4078080"/>
            <a:ext cx="548640" cy="360"/>
          </a:xfrm>
          <a:prstGeom prst="line">
            <a:avLst/>
          </a:prstGeom>
          <a:ln w="20160">
            <a:solidFill>
              <a:srgbClr val="6B728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5"/>
          <p:cNvSpPr/>
          <p:nvPr/>
        </p:nvSpPr>
        <p:spPr>
          <a:xfrm>
            <a:off x="4041720" y="3913560"/>
            <a:ext cx="1051200" cy="269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3B82F6"/>
                </a:solidFill>
                <a:effectLst/>
                <a:uFillTx/>
                <a:latin typeface="Arial"/>
                <a:ea typeface="Arial"/>
              </a:rPr>
              <a:t>BPE merge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6"/>
          <p:cNvSpPr/>
          <p:nvPr/>
        </p:nvSpPr>
        <p:spPr>
          <a:xfrm>
            <a:off x="2240280" y="437076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rare string → byte </a:t>
            </a:r>
            <a:r>
              <a:rPr lang="zh-CN" sz="115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쪽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frequent string → word </a:t>
            </a:r>
            <a:r>
              <a:rPr lang="zh-CN" sz="115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쪽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7"/>
          <p:cNvSpPr/>
          <p:nvPr/>
        </p:nvSpPr>
        <p:spPr>
          <a:xfrm>
            <a:off x="6400800" y="107892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문제</a:t>
            </a:r>
            <a:r>
              <a:rPr lang="en-US" altLang="zh-CN" sz="1500" b="1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: </a:t>
            </a:r>
            <a:r>
              <a:rPr lang="ko-KR" altLang="en-US" sz="1500" b="1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같은 단어가 문장부호마다 다른 토큰으로 저장될 수 있음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8"/>
          <p:cNvSpPr/>
          <p:nvPr/>
        </p:nvSpPr>
        <p:spPr>
          <a:xfrm>
            <a:off x="6400800" y="1737360"/>
            <a:ext cx="914040" cy="347040"/>
          </a:xfrm>
          <a:prstGeom prst="roundRect">
            <a:avLst>
              <a:gd name="adj" fmla="val 15789"/>
            </a:avLst>
          </a:prstGeom>
          <a:solidFill>
            <a:srgbClr val="192A52"/>
          </a:solidFill>
          <a:ln w="12600">
            <a:solidFill>
              <a:srgbClr val="192A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9"/>
          <p:cNvSpPr/>
          <p:nvPr/>
        </p:nvSpPr>
        <p:spPr>
          <a:xfrm>
            <a:off x="6473880" y="1810440"/>
            <a:ext cx="767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dog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20"/>
          <p:cNvSpPr/>
          <p:nvPr/>
        </p:nvSpPr>
        <p:spPr>
          <a:xfrm>
            <a:off x="7479720" y="1737360"/>
            <a:ext cx="914040" cy="347040"/>
          </a:xfrm>
          <a:prstGeom prst="roundRect">
            <a:avLst>
              <a:gd name="adj" fmla="val 15789"/>
            </a:avLst>
          </a:prstGeom>
          <a:solidFill>
            <a:srgbClr val="E45757"/>
          </a:solidFill>
          <a:ln w="12600">
            <a:solidFill>
              <a:srgbClr val="E457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1"/>
          <p:cNvSpPr/>
          <p:nvPr/>
        </p:nvSpPr>
        <p:spPr>
          <a:xfrm>
            <a:off x="7552800" y="1810440"/>
            <a:ext cx="767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dog.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2"/>
          <p:cNvSpPr/>
          <p:nvPr/>
        </p:nvSpPr>
        <p:spPr>
          <a:xfrm>
            <a:off x="8558640" y="1737360"/>
            <a:ext cx="914040" cy="347040"/>
          </a:xfrm>
          <a:prstGeom prst="roundRect">
            <a:avLst>
              <a:gd name="adj" fmla="val 15789"/>
            </a:avLst>
          </a:prstGeom>
          <a:solidFill>
            <a:srgbClr val="E45757"/>
          </a:solidFill>
          <a:ln w="12600">
            <a:solidFill>
              <a:srgbClr val="E457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3"/>
          <p:cNvSpPr/>
          <p:nvPr/>
        </p:nvSpPr>
        <p:spPr>
          <a:xfrm>
            <a:off x="8632080" y="1810440"/>
            <a:ext cx="767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dog!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24"/>
          <p:cNvSpPr/>
          <p:nvPr/>
        </p:nvSpPr>
        <p:spPr>
          <a:xfrm>
            <a:off x="9637920" y="1737360"/>
            <a:ext cx="914040" cy="347040"/>
          </a:xfrm>
          <a:prstGeom prst="roundRect">
            <a:avLst>
              <a:gd name="adj" fmla="val 15789"/>
            </a:avLst>
          </a:prstGeom>
          <a:solidFill>
            <a:srgbClr val="E45757"/>
          </a:solidFill>
          <a:ln w="12600">
            <a:solidFill>
              <a:srgbClr val="E457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5"/>
          <p:cNvSpPr/>
          <p:nvPr/>
        </p:nvSpPr>
        <p:spPr>
          <a:xfrm>
            <a:off x="9711000" y="1810440"/>
            <a:ext cx="767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dog?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6"/>
          <p:cNvSpPr/>
          <p:nvPr/>
        </p:nvSpPr>
        <p:spPr>
          <a:xfrm>
            <a:off x="6400800" y="2286000"/>
            <a:ext cx="4023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→ </a:t>
            </a:r>
            <a:r>
              <a:rPr lang="en-US" sz="125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같은</a:t>
            </a:r>
            <a:r>
              <a:rPr lang="en-US" sz="125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word</a:t>
            </a:r>
            <a:r>
              <a:rPr lang="zh-CN" sz="125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가 </a:t>
            </a:r>
            <a:r>
              <a:rPr lang="ko-KR" altLang="en-US" sz="1250" dirty="0">
                <a:solidFill>
                  <a:srgbClr val="111827"/>
                </a:solidFill>
                <a:latin typeface="Arial"/>
                <a:ea typeface="Arial"/>
              </a:rPr>
              <a:t>부호</a:t>
            </a:r>
            <a:r>
              <a:rPr lang="zh-CN" sz="125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마다 별도</a:t>
            </a:r>
            <a:r>
              <a:rPr lang="ko-KR" altLang="en-US" sz="125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의 </a:t>
            </a:r>
            <a:r>
              <a:rPr lang="ko-KR" altLang="en-US" sz="1250" b="0" u="none" strike="noStrike" dirty="0" err="1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단어칸을</a:t>
            </a:r>
            <a:r>
              <a:rPr lang="ko-KR" altLang="en-US" sz="125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 생성해버릴 수 있음</a:t>
            </a:r>
            <a:r>
              <a:rPr lang="en-US" altLang="ko-KR" sz="125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27"/>
          <p:cNvSpPr/>
          <p:nvPr/>
        </p:nvSpPr>
        <p:spPr>
          <a:xfrm>
            <a:off x="6400800" y="3017520"/>
            <a:ext cx="4114440" cy="1992960"/>
          </a:xfrm>
          <a:prstGeom prst="roundRect">
            <a:avLst>
              <a:gd name="adj" fmla="val 3670"/>
            </a:avLst>
          </a:prstGeom>
          <a:solidFill>
            <a:srgbClr val="EEF2FF"/>
          </a:solidFill>
          <a:ln w="15120">
            <a:solidFill>
              <a:srgbClr val="192A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8"/>
          <p:cNvSpPr/>
          <p:nvPr/>
        </p:nvSpPr>
        <p:spPr>
          <a:xfrm>
            <a:off x="6656760" y="327348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GPT-2</a:t>
            </a:r>
            <a:r>
              <a:rPr lang="zh-CN" sz="140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의 수정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9"/>
          <p:cNvSpPr/>
          <p:nvPr/>
        </p:nvSpPr>
        <p:spPr>
          <a:xfrm>
            <a:off x="6656760" y="3584448"/>
            <a:ext cx="3565800" cy="7498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>
              <a:spcAft>
                <a:spcPts val="200"/>
              </a:spcAft>
              <a:tabLst>
                <a:tab pos="0" algn="l"/>
              </a:tabLst>
            </a:pPr>
            <a:r>
              <a:rPr lang="ko-KR" altLang="ko-KR" sz="1400" dirty="0"/>
              <a:t>서로 다른 종류의 </a:t>
            </a:r>
            <a:r>
              <a:rPr lang="ko-KR" altLang="ko-KR" sz="1400" dirty="0" err="1"/>
              <a:t>문자끼리는</a:t>
            </a:r>
            <a:r>
              <a:rPr lang="ko-KR" altLang="ko-KR" sz="1400" dirty="0"/>
              <a:t> 되도록 합치지 않음</a:t>
            </a:r>
            <a:r>
              <a:rPr lang="en-US" altLang="ko-KR" sz="1400" dirty="0"/>
              <a:t> </a:t>
            </a:r>
            <a:r>
              <a:rPr lang="en-US" sz="1300" b="1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(</a:t>
            </a:r>
            <a:r>
              <a:rPr lang="zh-CN" sz="1300" b="1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단</a:t>
            </a:r>
            <a:r>
              <a:rPr lang="en-US" sz="1300" b="1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, space</a:t>
            </a:r>
            <a:r>
              <a:rPr lang="zh-CN" sz="1300" b="1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는 예외</a:t>
            </a:r>
            <a:r>
              <a:rPr lang="en-US" sz="1300" b="1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0"/>
          <p:cNvSpPr/>
          <p:nvPr/>
        </p:nvSpPr>
        <p:spPr>
          <a:xfrm>
            <a:off x="6656760" y="4407408"/>
            <a:ext cx="3565800" cy="4389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80" b="0" u="none" strike="noStrike" dirty="0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결과</a:t>
            </a:r>
            <a:r>
              <a:rPr lang="en-US" sz="1080" b="0" u="none" strike="noStrike" dirty="0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: word-level</a:t>
            </a:r>
            <a:r>
              <a:rPr lang="zh-CN" sz="1080" b="0" u="none" strike="noStrike" dirty="0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의 효율성과 </a:t>
            </a:r>
            <a:r>
              <a:rPr lang="en-US" sz="1080" b="0" u="none" strike="noStrike" dirty="0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byte-level</a:t>
            </a:r>
            <a:r>
              <a:rPr lang="zh-CN" sz="1080" b="0" u="none" strike="noStrike" dirty="0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의 범용성을 같이 노림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31"/>
          <p:cNvSpPr/>
          <p:nvPr/>
        </p:nvSpPr>
        <p:spPr>
          <a:xfrm>
            <a:off x="8092440" y="6428232"/>
            <a:ext cx="3246120" cy="164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  <a:ea typeface="Arial"/>
              </a:rPr>
              <a:t>Radford et al. (2019), Sec. 2.2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1"/>
          <p:cNvSpPr>
            <a:spLocks noGrp="1"/>
          </p:cNvSpPr>
          <p:nvPr>
            <p:ph type="sldNum" idx="9"/>
          </p:nvPr>
        </p:nvSpPr>
        <p:spPr>
          <a:xfrm>
            <a:off x="11631168" y="6492240"/>
            <a:ext cx="41148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9CA3A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EAF23F32-5198-9CBC-2978-7E3D8CD68B28}"/>
              </a:ext>
            </a:extLst>
          </p:cNvPr>
          <p:cNvSpPr/>
          <p:nvPr/>
        </p:nvSpPr>
        <p:spPr>
          <a:xfrm>
            <a:off x="1970077" y="1737360"/>
            <a:ext cx="72720" cy="72720"/>
          </a:xfrm>
          <a:prstGeom prst="ellipse">
            <a:avLst/>
          </a:prstGeom>
          <a:solidFill>
            <a:srgbClr val="192A52"/>
          </a:solidFill>
          <a:ln w="12600">
            <a:solidFill>
              <a:srgbClr val="192A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6840" rIns="90000" bIns="6840" anchor="t">
            <a:noAutofit/>
          </a:bodyPr>
          <a:lstStyle/>
          <a:p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8EAFDEA-D804-B309-CFD1-773D2EE01C4A}"/>
              </a:ext>
            </a:extLst>
          </p:cNvPr>
          <p:cNvSpPr/>
          <p:nvPr/>
        </p:nvSpPr>
        <p:spPr>
          <a:xfrm>
            <a:off x="2133820" y="1583302"/>
            <a:ext cx="37213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ko-KR" sz="135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Token</a:t>
            </a:r>
            <a:r>
              <a:rPr lang="ko-KR" altLang="en-US" sz="135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이란</a:t>
            </a:r>
            <a:r>
              <a:rPr lang="en-US" altLang="ko-KR" sz="135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? 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altLang="en-US" sz="1350" b="0" u="none" strike="noStrike" dirty="0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모델이 텍스트를 나누어 처리하는 단위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0"/>
          <p:cNvSpPr/>
          <p:nvPr/>
        </p:nvSpPr>
        <p:spPr>
          <a:xfrm>
            <a:off x="0" y="0"/>
            <a:ext cx="1444320" cy="6857640"/>
          </a:xfrm>
          <a:prstGeom prst="rect">
            <a:avLst/>
          </a:prstGeom>
          <a:solidFill>
            <a:srgbClr val="192A52"/>
          </a:solidFill>
          <a:ln w="12600">
            <a:solidFill>
              <a:srgbClr val="192A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"/>
          <p:cNvSpPr/>
          <p:nvPr/>
        </p:nvSpPr>
        <p:spPr>
          <a:xfrm>
            <a:off x="164520" y="155160"/>
            <a:ext cx="360" cy="2606040"/>
          </a:xfrm>
          <a:prstGeom prst="line">
            <a:avLst/>
          </a:prstGeom>
          <a:ln w="1404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"/>
          <p:cNvSpPr/>
          <p:nvPr/>
        </p:nvSpPr>
        <p:spPr>
          <a:xfrm rot="16200000">
            <a:off x="-45360" y="2880720"/>
            <a:ext cx="15084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 Black"/>
              </a:rPr>
              <a:t>CUAI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1828800" y="43884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Model: GPT-1 </a:t>
            </a:r>
            <a:r>
              <a:rPr lang="zh-CN" sz="24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계열을 더 깊게 안정적으로 </a:t>
            </a:r>
            <a:r>
              <a:rPr lang="en-US" sz="24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scale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10469880" y="47556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Architecture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5"/>
          <p:cNvSpPr/>
          <p:nvPr/>
        </p:nvSpPr>
        <p:spPr>
          <a:xfrm>
            <a:off x="1965960" y="107892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LayerNorm </a:t>
            </a:r>
            <a:r>
              <a:rPr lang="zh-CN" sz="150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위치 변화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6"/>
          <p:cNvSpPr/>
          <p:nvPr/>
        </p:nvSpPr>
        <p:spPr>
          <a:xfrm>
            <a:off x="1965960" y="1572840"/>
            <a:ext cx="3657240" cy="137124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4040">
            <a:solidFill>
              <a:srgbClr val="6B72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7"/>
          <p:cNvSpPr/>
          <p:nvPr/>
        </p:nvSpPr>
        <p:spPr>
          <a:xfrm>
            <a:off x="2094120" y="1691640"/>
            <a:ext cx="3401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GPT-1</a:t>
            </a:r>
            <a:r>
              <a:rPr lang="zh-CN" sz="1400" b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에 가까운 </a:t>
            </a:r>
            <a:r>
              <a:rPr lang="en-US" sz="1400" b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Post-LN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8"/>
          <p:cNvSpPr/>
          <p:nvPr/>
        </p:nvSpPr>
        <p:spPr>
          <a:xfrm>
            <a:off x="2094120" y="2066400"/>
            <a:ext cx="340128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x → sublayer → + residual → LayerNorm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9"/>
          <p:cNvSpPr/>
          <p:nvPr/>
        </p:nvSpPr>
        <p:spPr>
          <a:xfrm>
            <a:off x="1965960" y="3182040"/>
            <a:ext cx="3657240" cy="1371240"/>
          </a:xfrm>
          <a:prstGeom prst="roundRect">
            <a:avLst>
              <a:gd name="adj" fmla="val 5333"/>
            </a:avLst>
          </a:prstGeom>
          <a:solidFill>
            <a:srgbClr val="EEF2FF"/>
          </a:solidFill>
          <a:ln w="14040">
            <a:solidFill>
              <a:srgbClr val="192A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0"/>
          <p:cNvSpPr/>
          <p:nvPr/>
        </p:nvSpPr>
        <p:spPr>
          <a:xfrm>
            <a:off x="2094120" y="3300840"/>
            <a:ext cx="3401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GPT-2: Pre-LN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1"/>
          <p:cNvSpPr/>
          <p:nvPr/>
        </p:nvSpPr>
        <p:spPr>
          <a:xfrm>
            <a:off x="2094120" y="3675960"/>
            <a:ext cx="340128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x → LayerNorm → sublayer → + residual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+ </a:t>
            </a:r>
            <a:r>
              <a:rPr lang="zh-CN" sz="11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마지막 </a:t>
            </a:r>
            <a:r>
              <a:rPr lang="en-US" sz="11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block </a:t>
            </a:r>
            <a:r>
              <a:rPr lang="zh-CN" sz="11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뒤 </a:t>
            </a:r>
            <a:r>
              <a:rPr lang="en-US" sz="11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final LayerNorm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5"/>
          <p:cNvSpPr/>
          <p:nvPr/>
        </p:nvSpPr>
        <p:spPr>
          <a:xfrm>
            <a:off x="6400800" y="107892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Scale sweep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6"/>
          <p:cNvSpPr/>
          <p:nvPr/>
        </p:nvSpPr>
        <p:spPr>
          <a:xfrm>
            <a:off x="6400800" y="1600200"/>
            <a:ext cx="4068720" cy="685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7"/>
          <p:cNvSpPr/>
          <p:nvPr/>
        </p:nvSpPr>
        <p:spPr>
          <a:xfrm>
            <a:off x="6565320" y="176472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117M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8"/>
          <p:cNvSpPr/>
          <p:nvPr/>
        </p:nvSpPr>
        <p:spPr>
          <a:xfrm>
            <a:off x="7818120" y="1801440"/>
            <a:ext cx="23313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layers 12L   ·   d_model 768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9"/>
          <p:cNvSpPr/>
          <p:nvPr/>
        </p:nvSpPr>
        <p:spPr>
          <a:xfrm>
            <a:off x="6400800" y="2532960"/>
            <a:ext cx="4068720" cy="685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0"/>
          <p:cNvSpPr/>
          <p:nvPr/>
        </p:nvSpPr>
        <p:spPr>
          <a:xfrm>
            <a:off x="6565320" y="269748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345M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1"/>
          <p:cNvSpPr/>
          <p:nvPr/>
        </p:nvSpPr>
        <p:spPr>
          <a:xfrm>
            <a:off x="7818120" y="2734200"/>
            <a:ext cx="23313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layers 24L   ·   d_model 1024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22"/>
          <p:cNvSpPr/>
          <p:nvPr/>
        </p:nvSpPr>
        <p:spPr>
          <a:xfrm>
            <a:off x="6400800" y="3465720"/>
            <a:ext cx="4068720" cy="685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600">
            <a:solidFill>
              <a:srgbClr val="D1D5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3"/>
          <p:cNvSpPr/>
          <p:nvPr/>
        </p:nvSpPr>
        <p:spPr>
          <a:xfrm>
            <a:off x="6565320" y="363024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762M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4"/>
          <p:cNvSpPr/>
          <p:nvPr/>
        </p:nvSpPr>
        <p:spPr>
          <a:xfrm>
            <a:off x="7818120" y="3666600"/>
            <a:ext cx="23313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layers 36L   ·   d_model 1280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25"/>
          <p:cNvSpPr/>
          <p:nvPr/>
        </p:nvSpPr>
        <p:spPr>
          <a:xfrm>
            <a:off x="6400800" y="4398120"/>
            <a:ext cx="4068720" cy="68544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7640">
            <a:solidFill>
              <a:srgbClr val="192A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6"/>
          <p:cNvSpPr/>
          <p:nvPr/>
        </p:nvSpPr>
        <p:spPr>
          <a:xfrm>
            <a:off x="6565320" y="456300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1.542B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7"/>
          <p:cNvSpPr/>
          <p:nvPr/>
        </p:nvSpPr>
        <p:spPr>
          <a:xfrm>
            <a:off x="7818120" y="4599360"/>
            <a:ext cx="23313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layers 48L   ·   d_model 1600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9"/>
          <p:cNvSpPr/>
          <p:nvPr/>
        </p:nvSpPr>
        <p:spPr>
          <a:xfrm>
            <a:off x="8092440" y="6428232"/>
            <a:ext cx="3246120" cy="164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  <a:ea typeface="Arial"/>
              </a:rPr>
              <a:t>Radford et al. (2019), Sec. 2.3, Table 2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1"/>
          <p:cNvSpPr>
            <a:spLocks noGrp="1"/>
          </p:cNvSpPr>
          <p:nvPr>
            <p:ph type="sldNum" idx="10"/>
          </p:nvPr>
        </p:nvSpPr>
        <p:spPr>
          <a:xfrm>
            <a:off x="11631168" y="6492240"/>
            <a:ext cx="41148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9CA3A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347472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61D2B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3.1–3.3  Language Modeling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9536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Table 3에 CBT·LAMBADA 결과까지 이미 포함 — 3.2·3.3은 이 결과를 자세히 해석하는 절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41248" y="1371600"/>
            <a:ext cx="841248" cy="658368"/>
          </a:xfrm>
          <a:prstGeom prst="rect">
            <a:avLst/>
          </a:prstGeom>
          <a:solidFill>
            <a:srgbClr val="EEF2F8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59536" y="1426464"/>
            <a:ext cx="80467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70" b="1" i="0" u="none" strike="noStrike" kern="1200" cap="none" spc="0" normalizeH="0" baseline="0" noProof="0" dirty="0">
                <a:ln>
                  <a:noFill/>
                </a:ln>
                <a:solidFill>
                  <a:srgbClr val="27344D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</a:t>
            </a:r>
            <a:endParaRPr kumimoji="0" lang="en-US" sz="13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682496" y="1371600"/>
            <a:ext cx="1078992" cy="658368"/>
          </a:xfrm>
          <a:prstGeom prst="rect">
            <a:avLst/>
          </a:prstGeom>
          <a:solidFill>
            <a:srgbClr val="EEF2F8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700784" y="1426464"/>
            <a:ext cx="1042416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70" b="1" i="0" u="none" strike="noStrike" kern="1200" cap="none" spc="0" normalizeH="0" baseline="0" noProof="0" dirty="0">
                <a:ln>
                  <a:noFill/>
                </a:ln>
                <a:solidFill>
                  <a:srgbClr val="27344D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LAMBADA</a:t>
            </a:r>
            <a:endParaRPr kumimoji="0" lang="en-US" sz="13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70" b="1" i="0" u="none" strike="noStrike" kern="1200" cap="none" spc="0" normalizeH="0" baseline="0" noProof="0" dirty="0">
                <a:ln>
                  <a:noFill/>
                </a:ln>
                <a:solidFill>
                  <a:srgbClr val="27344D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PPL ↓</a:t>
            </a:r>
            <a:endParaRPr kumimoji="0" lang="en-US" sz="13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61488" y="1371600"/>
            <a:ext cx="1078992" cy="658368"/>
          </a:xfrm>
          <a:prstGeom prst="rect">
            <a:avLst/>
          </a:prstGeom>
          <a:solidFill>
            <a:srgbClr val="EEF2F8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779776" y="1426464"/>
            <a:ext cx="1042416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70" b="1" i="0" u="none" strike="noStrike" kern="1200" cap="none" spc="0" normalizeH="0" baseline="0" noProof="0" dirty="0">
                <a:ln>
                  <a:noFill/>
                </a:ln>
                <a:solidFill>
                  <a:srgbClr val="27344D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LAMBADA</a:t>
            </a:r>
            <a:endParaRPr kumimoji="0" lang="en-US" sz="13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70" b="1" i="0" u="none" strike="noStrike" kern="1200" cap="none" spc="0" normalizeH="0" baseline="0" noProof="0" dirty="0">
                <a:ln>
                  <a:noFill/>
                </a:ln>
                <a:solidFill>
                  <a:srgbClr val="27344D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ACC ↑</a:t>
            </a:r>
            <a:endParaRPr kumimoji="0" lang="en-US" sz="13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840480" y="1371600"/>
            <a:ext cx="987552" cy="658368"/>
          </a:xfrm>
          <a:prstGeom prst="rect">
            <a:avLst/>
          </a:prstGeom>
          <a:solidFill>
            <a:srgbClr val="EEF2F8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858768" y="1426464"/>
            <a:ext cx="950976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70" b="1" i="0" u="none" strike="noStrike" kern="1200" cap="none" spc="0" normalizeH="0" baseline="0" noProof="0" dirty="0">
                <a:ln>
                  <a:noFill/>
                </a:ln>
                <a:solidFill>
                  <a:srgbClr val="27344D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CBT-CN</a:t>
            </a:r>
            <a:endParaRPr kumimoji="0" lang="en-US" sz="13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70" b="1" i="0" u="none" strike="noStrike" kern="1200" cap="none" spc="0" normalizeH="0" baseline="0" noProof="0" dirty="0">
                <a:ln>
                  <a:noFill/>
                </a:ln>
                <a:solidFill>
                  <a:srgbClr val="27344D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ACC ↑</a:t>
            </a:r>
            <a:endParaRPr kumimoji="0" lang="en-US" sz="13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28032" y="1371600"/>
            <a:ext cx="987552" cy="658368"/>
          </a:xfrm>
          <a:prstGeom prst="rect">
            <a:avLst/>
          </a:prstGeom>
          <a:solidFill>
            <a:srgbClr val="EEF2F8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846320" y="1426464"/>
            <a:ext cx="950976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70" b="1" i="0" u="none" strike="noStrike" kern="1200" cap="none" spc="0" normalizeH="0" baseline="0" noProof="0" dirty="0">
                <a:ln>
                  <a:noFill/>
                </a:ln>
                <a:solidFill>
                  <a:srgbClr val="27344D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CBT-NE</a:t>
            </a:r>
            <a:endParaRPr kumimoji="0" lang="en-US" sz="13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70" b="1" i="0" u="none" strike="noStrike" kern="1200" cap="none" spc="0" normalizeH="0" baseline="0" noProof="0" dirty="0">
                <a:ln>
                  <a:noFill/>
                </a:ln>
                <a:solidFill>
                  <a:srgbClr val="27344D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ACC ↑</a:t>
            </a:r>
            <a:endParaRPr kumimoji="0" lang="en-US" sz="13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815584" y="1371600"/>
            <a:ext cx="1078992" cy="658368"/>
          </a:xfrm>
          <a:prstGeom prst="rect">
            <a:avLst/>
          </a:prstGeom>
          <a:solidFill>
            <a:srgbClr val="EEF2F8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833872" y="1426464"/>
            <a:ext cx="1042416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70" b="1" i="0" u="none" strike="noStrike" kern="1200" cap="none" spc="0" normalizeH="0" baseline="0" noProof="0" dirty="0">
                <a:ln>
                  <a:noFill/>
                </a:ln>
                <a:solidFill>
                  <a:srgbClr val="27344D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WikiText2</a:t>
            </a:r>
            <a:endParaRPr kumimoji="0" lang="en-US" sz="13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70" b="1" i="0" u="none" strike="noStrike" kern="1200" cap="none" spc="0" normalizeH="0" baseline="0" noProof="0" dirty="0">
                <a:ln>
                  <a:noFill/>
                </a:ln>
                <a:solidFill>
                  <a:srgbClr val="27344D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PPL ↓</a:t>
            </a:r>
            <a:endParaRPr kumimoji="0" lang="en-US" sz="13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894576" y="1371600"/>
            <a:ext cx="841248" cy="658368"/>
          </a:xfrm>
          <a:prstGeom prst="rect">
            <a:avLst/>
          </a:prstGeom>
          <a:solidFill>
            <a:srgbClr val="EEF2F8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912864" y="1426464"/>
            <a:ext cx="80467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70" b="1" i="0" u="none" strike="noStrike" kern="1200" cap="none" spc="0" normalizeH="0" baseline="0" noProof="0" dirty="0">
                <a:ln>
                  <a:noFill/>
                </a:ln>
                <a:solidFill>
                  <a:srgbClr val="27344D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PTB</a:t>
            </a:r>
            <a:endParaRPr kumimoji="0" lang="en-US" sz="13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70" b="1" i="0" u="none" strike="noStrike" kern="1200" cap="none" spc="0" normalizeH="0" baseline="0" noProof="0" dirty="0">
                <a:ln>
                  <a:noFill/>
                </a:ln>
                <a:solidFill>
                  <a:srgbClr val="27344D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PPL ↓</a:t>
            </a:r>
            <a:endParaRPr kumimoji="0" lang="en-US" sz="13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735824" y="1371600"/>
            <a:ext cx="886968" cy="658368"/>
          </a:xfrm>
          <a:prstGeom prst="rect">
            <a:avLst/>
          </a:prstGeom>
          <a:solidFill>
            <a:srgbClr val="EEF2F8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754112" y="1426464"/>
            <a:ext cx="85039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70" b="1" i="0" u="none" strike="noStrike" kern="1200" cap="none" spc="0" normalizeH="0" baseline="0" noProof="0" dirty="0">
                <a:ln>
                  <a:noFill/>
                </a:ln>
                <a:solidFill>
                  <a:srgbClr val="27344D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enwik8</a:t>
            </a:r>
            <a:endParaRPr kumimoji="0" lang="en-US" sz="13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70" b="1" i="0" u="none" strike="noStrike" kern="1200" cap="none" spc="0" normalizeH="0" baseline="0" noProof="0" dirty="0">
                <a:ln>
                  <a:noFill/>
                </a:ln>
                <a:solidFill>
                  <a:srgbClr val="27344D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BPB ↓</a:t>
            </a:r>
            <a:endParaRPr kumimoji="0" lang="en-US" sz="13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622792" y="1371600"/>
            <a:ext cx="886968" cy="658368"/>
          </a:xfrm>
          <a:prstGeom prst="rect">
            <a:avLst/>
          </a:prstGeom>
          <a:solidFill>
            <a:srgbClr val="EEF2F8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641080" y="1426464"/>
            <a:ext cx="85039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70" b="1" i="0" u="none" strike="noStrike" kern="1200" cap="none" spc="0" normalizeH="0" baseline="0" noProof="0" dirty="0">
                <a:ln>
                  <a:noFill/>
                </a:ln>
                <a:solidFill>
                  <a:srgbClr val="27344D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text8</a:t>
            </a:r>
            <a:endParaRPr kumimoji="0" lang="en-US" sz="13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70" b="1" i="0" u="none" strike="noStrike" kern="1200" cap="none" spc="0" normalizeH="0" baseline="0" noProof="0" dirty="0">
                <a:ln>
                  <a:noFill/>
                </a:ln>
                <a:solidFill>
                  <a:srgbClr val="27344D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BPC ↓</a:t>
            </a:r>
            <a:endParaRPr kumimoji="0" lang="en-US" sz="13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509760" y="1371600"/>
            <a:ext cx="1207008" cy="658368"/>
          </a:xfrm>
          <a:prstGeom prst="rect">
            <a:avLst/>
          </a:prstGeom>
          <a:solidFill>
            <a:srgbClr val="EEF2F8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528048" y="1426464"/>
            <a:ext cx="117043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70" b="1" i="0" u="none" strike="noStrike" kern="1200" cap="none" spc="0" normalizeH="0" baseline="0" noProof="0" dirty="0">
                <a:ln>
                  <a:noFill/>
                </a:ln>
                <a:solidFill>
                  <a:srgbClr val="27344D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WikiText103</a:t>
            </a:r>
            <a:endParaRPr kumimoji="0" lang="en-US" sz="13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70" b="1" i="0" u="none" strike="noStrike" kern="1200" cap="none" spc="0" normalizeH="0" baseline="0" noProof="0" dirty="0">
                <a:ln>
                  <a:noFill/>
                </a:ln>
                <a:solidFill>
                  <a:srgbClr val="27344D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PPL ↓</a:t>
            </a:r>
            <a:endParaRPr kumimoji="0" lang="en-US" sz="13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0716768" y="1371600"/>
            <a:ext cx="886968" cy="658368"/>
          </a:xfrm>
          <a:prstGeom prst="rect">
            <a:avLst/>
          </a:prstGeom>
          <a:solidFill>
            <a:srgbClr val="EEF2F8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0735056" y="1426464"/>
            <a:ext cx="850392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70" b="1" i="0" u="none" strike="noStrike" kern="1200" cap="none" spc="0" normalizeH="0" baseline="0" noProof="0" dirty="0">
                <a:ln>
                  <a:noFill/>
                </a:ln>
                <a:solidFill>
                  <a:srgbClr val="27344D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1BW</a:t>
            </a:r>
            <a:endParaRPr kumimoji="0" lang="en-US" sz="13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70" b="1" i="0" u="none" strike="noStrike" kern="1200" cap="none" spc="0" normalizeH="0" baseline="0" noProof="0" dirty="0">
                <a:ln>
                  <a:noFill/>
                </a:ln>
                <a:solidFill>
                  <a:srgbClr val="27344D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PPL ↓</a:t>
            </a:r>
            <a:endParaRPr kumimoji="0" lang="en-US" sz="13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41248" y="2029968"/>
            <a:ext cx="841248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841248" y="2029968"/>
            <a:ext cx="84124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59536" y="2121408"/>
            <a:ext cx="8046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SOTA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682496" y="2029968"/>
            <a:ext cx="1078992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682496" y="2029968"/>
            <a:ext cx="1078992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1700784" y="2121408"/>
            <a:ext cx="1042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99.8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761488" y="2029968"/>
            <a:ext cx="1078992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2761488" y="2029968"/>
            <a:ext cx="1078992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2779776" y="2121408"/>
            <a:ext cx="1042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59.23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840480" y="2029968"/>
            <a:ext cx="987552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3840480" y="2029968"/>
            <a:ext cx="987552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3858768" y="2121408"/>
            <a:ext cx="9509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85.7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828032" y="2029968"/>
            <a:ext cx="987552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4828032" y="2029968"/>
            <a:ext cx="987552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4846320" y="2121408"/>
            <a:ext cx="9509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82.3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815584" y="2029968"/>
            <a:ext cx="1078992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5815584" y="2029968"/>
            <a:ext cx="1078992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5833872" y="2121408"/>
            <a:ext cx="1042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39.14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894576" y="2029968"/>
            <a:ext cx="841248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6894576" y="2029968"/>
            <a:ext cx="84124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6912864" y="2121408"/>
            <a:ext cx="8046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46.54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735824" y="2029968"/>
            <a:ext cx="886968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7735824" y="2029968"/>
            <a:ext cx="88696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7754112" y="2121408"/>
            <a:ext cx="8503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0.99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8622792" y="2029968"/>
            <a:ext cx="886968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8622792" y="2029968"/>
            <a:ext cx="88696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8641080" y="2121408"/>
            <a:ext cx="8503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1.08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9509760" y="2029968"/>
            <a:ext cx="1207008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9509760" y="2029968"/>
            <a:ext cx="120700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9528048" y="2121408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18.3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10716768" y="2029968"/>
            <a:ext cx="886968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0716768" y="2029968"/>
            <a:ext cx="88696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10735056" y="2121408"/>
            <a:ext cx="8503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21.8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841248" y="2660904"/>
            <a:ext cx="841248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841248" y="2660904"/>
            <a:ext cx="84124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859536" y="2752344"/>
            <a:ext cx="8046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117M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1682496" y="2660904"/>
            <a:ext cx="1078992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1682496" y="2660904"/>
            <a:ext cx="1078992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1700784" y="2752344"/>
            <a:ext cx="1042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35.13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2761488" y="2660904"/>
            <a:ext cx="1078992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2761488" y="2660904"/>
            <a:ext cx="1078992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2779776" y="2752344"/>
            <a:ext cx="1042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45.99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3840480" y="2660904"/>
            <a:ext cx="987552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3840480" y="2660904"/>
            <a:ext cx="987552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3858768" y="2752344"/>
            <a:ext cx="9509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87.65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4828032" y="2660904"/>
            <a:ext cx="987552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4828032" y="2660904"/>
            <a:ext cx="987552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4846320" y="2752344"/>
            <a:ext cx="9509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83.4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5815584" y="2660904"/>
            <a:ext cx="1078992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5815584" y="2660904"/>
            <a:ext cx="1078992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/>
          <p:nvPr/>
        </p:nvSpPr>
        <p:spPr>
          <a:xfrm>
            <a:off x="5833872" y="2752344"/>
            <a:ext cx="1042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29.41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6894576" y="2660904"/>
            <a:ext cx="841248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6894576" y="2660904"/>
            <a:ext cx="84124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/>
          <p:nvPr/>
        </p:nvSpPr>
        <p:spPr>
          <a:xfrm>
            <a:off x="6912864" y="2752344"/>
            <a:ext cx="8046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65.85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7735824" y="2660904"/>
            <a:ext cx="886968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7735824" y="2660904"/>
            <a:ext cx="88696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/>
          <p:nvPr/>
        </p:nvSpPr>
        <p:spPr>
          <a:xfrm>
            <a:off x="7754112" y="2752344"/>
            <a:ext cx="8503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1.16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8622792" y="2660904"/>
            <a:ext cx="886968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82"/>
          <p:cNvSpPr/>
          <p:nvPr/>
        </p:nvSpPr>
        <p:spPr>
          <a:xfrm>
            <a:off x="8622792" y="2660904"/>
            <a:ext cx="88696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3"/>
          <p:cNvSpPr/>
          <p:nvPr/>
        </p:nvSpPr>
        <p:spPr>
          <a:xfrm>
            <a:off x="8641080" y="2752344"/>
            <a:ext cx="8503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1.17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9509760" y="2660904"/>
            <a:ext cx="1207008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5"/>
          <p:cNvSpPr/>
          <p:nvPr/>
        </p:nvSpPr>
        <p:spPr>
          <a:xfrm>
            <a:off x="9509760" y="2660904"/>
            <a:ext cx="120700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9528048" y="2752344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37.50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10716768" y="2660904"/>
            <a:ext cx="886968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88"/>
          <p:cNvSpPr/>
          <p:nvPr/>
        </p:nvSpPr>
        <p:spPr>
          <a:xfrm>
            <a:off x="10716768" y="2660904"/>
            <a:ext cx="88696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9"/>
          <p:cNvSpPr/>
          <p:nvPr/>
        </p:nvSpPr>
        <p:spPr>
          <a:xfrm>
            <a:off x="10735056" y="2752344"/>
            <a:ext cx="8503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75.20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841248" y="3291840"/>
            <a:ext cx="841248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Shape 91"/>
          <p:cNvSpPr/>
          <p:nvPr/>
        </p:nvSpPr>
        <p:spPr>
          <a:xfrm>
            <a:off x="841248" y="3291840"/>
            <a:ext cx="84124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92"/>
          <p:cNvSpPr/>
          <p:nvPr/>
        </p:nvSpPr>
        <p:spPr>
          <a:xfrm>
            <a:off x="859536" y="3383280"/>
            <a:ext cx="8046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345M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1682496" y="3291840"/>
            <a:ext cx="1078992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Shape 94"/>
          <p:cNvSpPr/>
          <p:nvPr/>
        </p:nvSpPr>
        <p:spPr>
          <a:xfrm>
            <a:off x="1682496" y="3291840"/>
            <a:ext cx="1078992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Text 95"/>
          <p:cNvSpPr/>
          <p:nvPr/>
        </p:nvSpPr>
        <p:spPr>
          <a:xfrm>
            <a:off x="1700784" y="3383280"/>
            <a:ext cx="1042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15.60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2761488" y="3291840"/>
            <a:ext cx="1078992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Shape 97"/>
          <p:cNvSpPr/>
          <p:nvPr/>
        </p:nvSpPr>
        <p:spPr>
          <a:xfrm>
            <a:off x="2761488" y="3291840"/>
            <a:ext cx="1078992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98"/>
          <p:cNvSpPr/>
          <p:nvPr/>
        </p:nvSpPr>
        <p:spPr>
          <a:xfrm>
            <a:off x="2779776" y="3383280"/>
            <a:ext cx="1042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55.48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3840480" y="3291840"/>
            <a:ext cx="987552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Shape 100"/>
          <p:cNvSpPr/>
          <p:nvPr/>
        </p:nvSpPr>
        <p:spPr>
          <a:xfrm>
            <a:off x="3840480" y="3291840"/>
            <a:ext cx="987552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Text 101"/>
          <p:cNvSpPr/>
          <p:nvPr/>
        </p:nvSpPr>
        <p:spPr>
          <a:xfrm>
            <a:off x="3858768" y="3383280"/>
            <a:ext cx="9509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92.35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4828032" y="3291840"/>
            <a:ext cx="987552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Shape 103"/>
          <p:cNvSpPr/>
          <p:nvPr/>
        </p:nvSpPr>
        <p:spPr>
          <a:xfrm>
            <a:off x="4828032" y="3291840"/>
            <a:ext cx="987552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Text 104"/>
          <p:cNvSpPr/>
          <p:nvPr/>
        </p:nvSpPr>
        <p:spPr>
          <a:xfrm>
            <a:off x="4846320" y="3383280"/>
            <a:ext cx="9509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87.1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07" name="Shape 105"/>
          <p:cNvSpPr/>
          <p:nvPr/>
        </p:nvSpPr>
        <p:spPr>
          <a:xfrm>
            <a:off x="5815584" y="3291840"/>
            <a:ext cx="1078992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Shape 106"/>
          <p:cNvSpPr/>
          <p:nvPr/>
        </p:nvSpPr>
        <p:spPr>
          <a:xfrm>
            <a:off x="5815584" y="3291840"/>
            <a:ext cx="1078992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Text 107"/>
          <p:cNvSpPr/>
          <p:nvPr/>
        </p:nvSpPr>
        <p:spPr>
          <a:xfrm>
            <a:off x="5833872" y="3383280"/>
            <a:ext cx="1042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22.76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10" name="Shape 108"/>
          <p:cNvSpPr/>
          <p:nvPr/>
        </p:nvSpPr>
        <p:spPr>
          <a:xfrm>
            <a:off x="6894576" y="3291840"/>
            <a:ext cx="841248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Shape 109"/>
          <p:cNvSpPr/>
          <p:nvPr/>
        </p:nvSpPr>
        <p:spPr>
          <a:xfrm>
            <a:off x="6894576" y="3291840"/>
            <a:ext cx="84124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Text 110"/>
          <p:cNvSpPr/>
          <p:nvPr/>
        </p:nvSpPr>
        <p:spPr>
          <a:xfrm>
            <a:off x="6912864" y="3383280"/>
            <a:ext cx="8046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47.33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13" name="Shape 111"/>
          <p:cNvSpPr/>
          <p:nvPr/>
        </p:nvSpPr>
        <p:spPr>
          <a:xfrm>
            <a:off x="7735824" y="3291840"/>
            <a:ext cx="886968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Shape 112"/>
          <p:cNvSpPr/>
          <p:nvPr/>
        </p:nvSpPr>
        <p:spPr>
          <a:xfrm>
            <a:off x="7735824" y="3291840"/>
            <a:ext cx="88696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5" name="Text 113"/>
          <p:cNvSpPr/>
          <p:nvPr/>
        </p:nvSpPr>
        <p:spPr>
          <a:xfrm>
            <a:off x="7754112" y="3383280"/>
            <a:ext cx="8503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1.01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16" name="Shape 114"/>
          <p:cNvSpPr/>
          <p:nvPr/>
        </p:nvSpPr>
        <p:spPr>
          <a:xfrm>
            <a:off x="8622792" y="3291840"/>
            <a:ext cx="886968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7" name="Shape 115"/>
          <p:cNvSpPr/>
          <p:nvPr/>
        </p:nvSpPr>
        <p:spPr>
          <a:xfrm>
            <a:off x="8622792" y="3291840"/>
            <a:ext cx="88696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8" name="Text 116"/>
          <p:cNvSpPr/>
          <p:nvPr/>
        </p:nvSpPr>
        <p:spPr>
          <a:xfrm>
            <a:off x="8641080" y="3383280"/>
            <a:ext cx="8503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1.06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19" name="Shape 117"/>
          <p:cNvSpPr/>
          <p:nvPr/>
        </p:nvSpPr>
        <p:spPr>
          <a:xfrm>
            <a:off x="9509760" y="3291840"/>
            <a:ext cx="1207008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Shape 118"/>
          <p:cNvSpPr/>
          <p:nvPr/>
        </p:nvSpPr>
        <p:spPr>
          <a:xfrm>
            <a:off x="9509760" y="3291840"/>
            <a:ext cx="120700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Text 119"/>
          <p:cNvSpPr/>
          <p:nvPr/>
        </p:nvSpPr>
        <p:spPr>
          <a:xfrm>
            <a:off x="9528048" y="3383280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26.37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22" name="Shape 120"/>
          <p:cNvSpPr/>
          <p:nvPr/>
        </p:nvSpPr>
        <p:spPr>
          <a:xfrm>
            <a:off x="10716768" y="3291840"/>
            <a:ext cx="886968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3" name="Shape 121"/>
          <p:cNvSpPr/>
          <p:nvPr/>
        </p:nvSpPr>
        <p:spPr>
          <a:xfrm>
            <a:off x="10716768" y="3291840"/>
            <a:ext cx="88696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4" name="Text 122"/>
          <p:cNvSpPr/>
          <p:nvPr/>
        </p:nvSpPr>
        <p:spPr>
          <a:xfrm>
            <a:off x="10735056" y="3383280"/>
            <a:ext cx="8503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55.72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25" name="Shape 123"/>
          <p:cNvSpPr/>
          <p:nvPr/>
        </p:nvSpPr>
        <p:spPr>
          <a:xfrm>
            <a:off x="841248" y="3922776"/>
            <a:ext cx="841248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6" name="Shape 124"/>
          <p:cNvSpPr/>
          <p:nvPr/>
        </p:nvSpPr>
        <p:spPr>
          <a:xfrm>
            <a:off x="841248" y="3922776"/>
            <a:ext cx="84124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7" name="Text 125"/>
          <p:cNvSpPr/>
          <p:nvPr/>
        </p:nvSpPr>
        <p:spPr>
          <a:xfrm>
            <a:off x="859536" y="4014216"/>
            <a:ext cx="8046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762M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28" name="Shape 126"/>
          <p:cNvSpPr/>
          <p:nvPr/>
        </p:nvSpPr>
        <p:spPr>
          <a:xfrm>
            <a:off x="1682496" y="3922776"/>
            <a:ext cx="1078992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9" name="Shape 127"/>
          <p:cNvSpPr/>
          <p:nvPr/>
        </p:nvSpPr>
        <p:spPr>
          <a:xfrm>
            <a:off x="1682496" y="3922776"/>
            <a:ext cx="1078992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0" name="Text 128"/>
          <p:cNvSpPr/>
          <p:nvPr/>
        </p:nvSpPr>
        <p:spPr>
          <a:xfrm>
            <a:off x="1700784" y="4014216"/>
            <a:ext cx="1042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10.87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31" name="Shape 129"/>
          <p:cNvSpPr/>
          <p:nvPr/>
        </p:nvSpPr>
        <p:spPr>
          <a:xfrm>
            <a:off x="2761488" y="3922776"/>
            <a:ext cx="1078992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2" name="Shape 130"/>
          <p:cNvSpPr/>
          <p:nvPr/>
        </p:nvSpPr>
        <p:spPr>
          <a:xfrm>
            <a:off x="2761488" y="3922776"/>
            <a:ext cx="1078992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3" name="Text 131"/>
          <p:cNvSpPr/>
          <p:nvPr/>
        </p:nvSpPr>
        <p:spPr>
          <a:xfrm>
            <a:off x="2779776" y="4014216"/>
            <a:ext cx="1042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60.12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34" name="Shape 132"/>
          <p:cNvSpPr/>
          <p:nvPr/>
        </p:nvSpPr>
        <p:spPr>
          <a:xfrm>
            <a:off x="3840480" y="3922776"/>
            <a:ext cx="987552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5" name="Shape 133"/>
          <p:cNvSpPr/>
          <p:nvPr/>
        </p:nvSpPr>
        <p:spPr>
          <a:xfrm>
            <a:off x="3840480" y="3922776"/>
            <a:ext cx="987552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6" name="Text 134"/>
          <p:cNvSpPr/>
          <p:nvPr/>
        </p:nvSpPr>
        <p:spPr>
          <a:xfrm>
            <a:off x="3858768" y="4014216"/>
            <a:ext cx="9509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93.45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37" name="Shape 135"/>
          <p:cNvSpPr/>
          <p:nvPr/>
        </p:nvSpPr>
        <p:spPr>
          <a:xfrm>
            <a:off x="4828032" y="3922776"/>
            <a:ext cx="987552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8" name="Shape 136"/>
          <p:cNvSpPr/>
          <p:nvPr/>
        </p:nvSpPr>
        <p:spPr>
          <a:xfrm>
            <a:off x="4828032" y="3922776"/>
            <a:ext cx="987552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9" name="Text 137"/>
          <p:cNvSpPr/>
          <p:nvPr/>
        </p:nvSpPr>
        <p:spPr>
          <a:xfrm>
            <a:off x="4846320" y="4014216"/>
            <a:ext cx="9509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88.0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40" name="Shape 138"/>
          <p:cNvSpPr/>
          <p:nvPr/>
        </p:nvSpPr>
        <p:spPr>
          <a:xfrm>
            <a:off x="5815584" y="3922776"/>
            <a:ext cx="1078992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1" name="Shape 139"/>
          <p:cNvSpPr/>
          <p:nvPr/>
        </p:nvSpPr>
        <p:spPr>
          <a:xfrm>
            <a:off x="5815584" y="3922776"/>
            <a:ext cx="1078992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2" name="Text 140"/>
          <p:cNvSpPr/>
          <p:nvPr/>
        </p:nvSpPr>
        <p:spPr>
          <a:xfrm>
            <a:off x="5833872" y="4014216"/>
            <a:ext cx="1042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19.93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43" name="Shape 141"/>
          <p:cNvSpPr/>
          <p:nvPr/>
        </p:nvSpPr>
        <p:spPr>
          <a:xfrm>
            <a:off x="6894576" y="3922776"/>
            <a:ext cx="841248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4" name="Shape 142"/>
          <p:cNvSpPr/>
          <p:nvPr/>
        </p:nvSpPr>
        <p:spPr>
          <a:xfrm>
            <a:off x="6894576" y="3922776"/>
            <a:ext cx="84124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5" name="Text 143"/>
          <p:cNvSpPr/>
          <p:nvPr/>
        </p:nvSpPr>
        <p:spPr>
          <a:xfrm>
            <a:off x="6912864" y="4014216"/>
            <a:ext cx="8046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40.31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46" name="Shape 144"/>
          <p:cNvSpPr/>
          <p:nvPr/>
        </p:nvSpPr>
        <p:spPr>
          <a:xfrm>
            <a:off x="7735824" y="3922776"/>
            <a:ext cx="886968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7" name="Shape 145"/>
          <p:cNvSpPr/>
          <p:nvPr/>
        </p:nvSpPr>
        <p:spPr>
          <a:xfrm>
            <a:off x="7735824" y="3922776"/>
            <a:ext cx="88696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8" name="Text 146"/>
          <p:cNvSpPr/>
          <p:nvPr/>
        </p:nvSpPr>
        <p:spPr>
          <a:xfrm>
            <a:off x="7754112" y="4014216"/>
            <a:ext cx="8503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0.97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49" name="Shape 147"/>
          <p:cNvSpPr/>
          <p:nvPr/>
        </p:nvSpPr>
        <p:spPr>
          <a:xfrm>
            <a:off x="8622792" y="3922776"/>
            <a:ext cx="886968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0" name="Shape 148"/>
          <p:cNvSpPr/>
          <p:nvPr/>
        </p:nvSpPr>
        <p:spPr>
          <a:xfrm>
            <a:off x="8622792" y="3922776"/>
            <a:ext cx="88696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1" name="Text 149"/>
          <p:cNvSpPr/>
          <p:nvPr/>
        </p:nvSpPr>
        <p:spPr>
          <a:xfrm>
            <a:off x="8641080" y="4014216"/>
            <a:ext cx="8503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1.02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52" name="Shape 150"/>
          <p:cNvSpPr/>
          <p:nvPr/>
        </p:nvSpPr>
        <p:spPr>
          <a:xfrm>
            <a:off x="9509760" y="3922776"/>
            <a:ext cx="1207008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3" name="Shape 151"/>
          <p:cNvSpPr/>
          <p:nvPr/>
        </p:nvSpPr>
        <p:spPr>
          <a:xfrm>
            <a:off x="9509760" y="3922776"/>
            <a:ext cx="120700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4" name="Text 152"/>
          <p:cNvSpPr/>
          <p:nvPr/>
        </p:nvSpPr>
        <p:spPr>
          <a:xfrm>
            <a:off x="9528048" y="4014216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22.05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55" name="Shape 153"/>
          <p:cNvSpPr/>
          <p:nvPr/>
        </p:nvSpPr>
        <p:spPr>
          <a:xfrm>
            <a:off x="10716768" y="3922776"/>
            <a:ext cx="886968" cy="630936"/>
          </a:xfrm>
          <a:prstGeom prst="rect">
            <a:avLst/>
          </a:prstGeom>
          <a:solidFill>
            <a:srgbClr val="253044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6" name="Shape 154"/>
          <p:cNvSpPr/>
          <p:nvPr/>
        </p:nvSpPr>
        <p:spPr>
          <a:xfrm>
            <a:off x="10716768" y="3922776"/>
            <a:ext cx="88696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7" name="Text 155"/>
          <p:cNvSpPr/>
          <p:nvPr/>
        </p:nvSpPr>
        <p:spPr>
          <a:xfrm>
            <a:off x="10735056" y="4014216"/>
            <a:ext cx="8503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0" i="0" u="none" strike="noStrike" kern="1200" cap="none" spc="0" normalizeH="0" baseline="0" noProof="0" dirty="0">
                <a:ln>
                  <a:noFill/>
                </a:ln>
                <a:solidFill>
                  <a:srgbClr val="253044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44.575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58" name="Shape 156"/>
          <p:cNvSpPr/>
          <p:nvPr/>
        </p:nvSpPr>
        <p:spPr>
          <a:xfrm>
            <a:off x="841248" y="4553712"/>
            <a:ext cx="841248" cy="630936"/>
          </a:xfrm>
          <a:prstGeom prst="rect">
            <a:avLst/>
          </a:prstGeom>
          <a:solidFill>
            <a:srgbClr val="1E2C4D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9" name="Shape 157"/>
          <p:cNvSpPr/>
          <p:nvPr/>
        </p:nvSpPr>
        <p:spPr>
          <a:xfrm>
            <a:off x="841248" y="4553712"/>
            <a:ext cx="841248" cy="630936"/>
          </a:xfrm>
          <a:prstGeom prst="rect">
            <a:avLst/>
          </a:prstGeom>
          <a:solidFill>
            <a:srgbClr val="E9EFFA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0" name="Text 158"/>
          <p:cNvSpPr/>
          <p:nvPr/>
        </p:nvSpPr>
        <p:spPr>
          <a:xfrm>
            <a:off x="859536" y="4645152"/>
            <a:ext cx="8046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1" i="0" u="none" strike="noStrike" kern="1200" cap="none" spc="0" normalizeH="0" baseline="0" noProof="0" dirty="0">
                <a:ln>
                  <a:noFill/>
                </a:ln>
                <a:solidFill>
                  <a:srgbClr val="1E2C4D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1542M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61" name="Shape 159"/>
          <p:cNvSpPr/>
          <p:nvPr/>
        </p:nvSpPr>
        <p:spPr>
          <a:xfrm>
            <a:off x="1682496" y="4553712"/>
            <a:ext cx="1078992" cy="630936"/>
          </a:xfrm>
          <a:prstGeom prst="rect">
            <a:avLst/>
          </a:prstGeom>
          <a:solidFill>
            <a:srgbClr val="1E2C4D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2" name="Shape 160"/>
          <p:cNvSpPr/>
          <p:nvPr/>
        </p:nvSpPr>
        <p:spPr>
          <a:xfrm>
            <a:off x="1682496" y="4553712"/>
            <a:ext cx="1078992" cy="630936"/>
          </a:xfrm>
          <a:prstGeom prst="rect">
            <a:avLst/>
          </a:prstGeom>
          <a:solidFill>
            <a:srgbClr val="E9EFFA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3" name="Text 161"/>
          <p:cNvSpPr/>
          <p:nvPr/>
        </p:nvSpPr>
        <p:spPr>
          <a:xfrm>
            <a:off x="1700784" y="4645152"/>
            <a:ext cx="1042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1" i="0" u="none" strike="noStrike" kern="1200" cap="none" spc="0" normalizeH="0" baseline="0" noProof="0" dirty="0">
                <a:ln>
                  <a:noFill/>
                </a:ln>
                <a:solidFill>
                  <a:srgbClr val="1E2C4D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8.63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64" name="Shape 162"/>
          <p:cNvSpPr/>
          <p:nvPr/>
        </p:nvSpPr>
        <p:spPr>
          <a:xfrm>
            <a:off x="2761488" y="4553712"/>
            <a:ext cx="1078992" cy="630936"/>
          </a:xfrm>
          <a:prstGeom prst="rect">
            <a:avLst/>
          </a:prstGeom>
          <a:solidFill>
            <a:srgbClr val="1E2C4D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5" name="Shape 163"/>
          <p:cNvSpPr/>
          <p:nvPr/>
        </p:nvSpPr>
        <p:spPr>
          <a:xfrm>
            <a:off x="2761488" y="4553712"/>
            <a:ext cx="1078992" cy="630936"/>
          </a:xfrm>
          <a:prstGeom prst="rect">
            <a:avLst/>
          </a:prstGeom>
          <a:solidFill>
            <a:srgbClr val="E9EFFA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6" name="Text 164"/>
          <p:cNvSpPr/>
          <p:nvPr/>
        </p:nvSpPr>
        <p:spPr>
          <a:xfrm>
            <a:off x="2779776" y="4645152"/>
            <a:ext cx="1042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1" i="0" u="none" strike="noStrike" kern="1200" cap="none" spc="0" normalizeH="0" baseline="0" noProof="0" dirty="0">
                <a:ln>
                  <a:noFill/>
                </a:ln>
                <a:solidFill>
                  <a:srgbClr val="1E2C4D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63.24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67" name="Shape 165"/>
          <p:cNvSpPr/>
          <p:nvPr/>
        </p:nvSpPr>
        <p:spPr>
          <a:xfrm>
            <a:off x="3840480" y="4553712"/>
            <a:ext cx="987552" cy="630936"/>
          </a:xfrm>
          <a:prstGeom prst="rect">
            <a:avLst/>
          </a:prstGeom>
          <a:solidFill>
            <a:srgbClr val="1E2C4D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8" name="Shape 166"/>
          <p:cNvSpPr/>
          <p:nvPr/>
        </p:nvSpPr>
        <p:spPr>
          <a:xfrm>
            <a:off x="3840480" y="4553712"/>
            <a:ext cx="987552" cy="630936"/>
          </a:xfrm>
          <a:prstGeom prst="rect">
            <a:avLst/>
          </a:prstGeom>
          <a:solidFill>
            <a:srgbClr val="E9EFFA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9" name="Text 167"/>
          <p:cNvSpPr/>
          <p:nvPr/>
        </p:nvSpPr>
        <p:spPr>
          <a:xfrm>
            <a:off x="3858768" y="4645152"/>
            <a:ext cx="9509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1" i="0" u="none" strike="noStrike" kern="1200" cap="none" spc="0" normalizeH="0" baseline="0" noProof="0" dirty="0">
                <a:ln>
                  <a:noFill/>
                </a:ln>
                <a:solidFill>
                  <a:srgbClr val="1E2C4D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93.30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70" name="Shape 168"/>
          <p:cNvSpPr/>
          <p:nvPr/>
        </p:nvSpPr>
        <p:spPr>
          <a:xfrm>
            <a:off x="4828032" y="4553712"/>
            <a:ext cx="987552" cy="630936"/>
          </a:xfrm>
          <a:prstGeom prst="rect">
            <a:avLst/>
          </a:prstGeom>
          <a:solidFill>
            <a:srgbClr val="1E2C4D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1" name="Shape 169"/>
          <p:cNvSpPr/>
          <p:nvPr/>
        </p:nvSpPr>
        <p:spPr>
          <a:xfrm>
            <a:off x="4828032" y="4553712"/>
            <a:ext cx="987552" cy="630936"/>
          </a:xfrm>
          <a:prstGeom prst="rect">
            <a:avLst/>
          </a:prstGeom>
          <a:solidFill>
            <a:srgbClr val="E9EFFA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2" name="Text 170"/>
          <p:cNvSpPr/>
          <p:nvPr/>
        </p:nvSpPr>
        <p:spPr>
          <a:xfrm>
            <a:off x="4846320" y="4645152"/>
            <a:ext cx="9509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1" i="0" u="none" strike="noStrike" kern="1200" cap="none" spc="0" normalizeH="0" baseline="0" noProof="0" dirty="0">
                <a:ln>
                  <a:noFill/>
                </a:ln>
                <a:solidFill>
                  <a:srgbClr val="1E2C4D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89.05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73" name="Shape 171"/>
          <p:cNvSpPr/>
          <p:nvPr/>
        </p:nvSpPr>
        <p:spPr>
          <a:xfrm>
            <a:off x="5815584" y="4553712"/>
            <a:ext cx="1078992" cy="630936"/>
          </a:xfrm>
          <a:prstGeom prst="rect">
            <a:avLst/>
          </a:prstGeom>
          <a:solidFill>
            <a:srgbClr val="1E2C4D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4" name="Shape 172"/>
          <p:cNvSpPr/>
          <p:nvPr/>
        </p:nvSpPr>
        <p:spPr>
          <a:xfrm>
            <a:off x="5815584" y="4553712"/>
            <a:ext cx="1078992" cy="630936"/>
          </a:xfrm>
          <a:prstGeom prst="rect">
            <a:avLst/>
          </a:prstGeom>
          <a:solidFill>
            <a:srgbClr val="E9EFFA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5" name="Text 173"/>
          <p:cNvSpPr/>
          <p:nvPr/>
        </p:nvSpPr>
        <p:spPr>
          <a:xfrm>
            <a:off x="5833872" y="4645152"/>
            <a:ext cx="1042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1" i="0" u="none" strike="noStrike" kern="1200" cap="none" spc="0" normalizeH="0" baseline="0" noProof="0" dirty="0">
                <a:ln>
                  <a:noFill/>
                </a:ln>
                <a:solidFill>
                  <a:srgbClr val="1E2C4D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18.34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76" name="Shape 174"/>
          <p:cNvSpPr/>
          <p:nvPr/>
        </p:nvSpPr>
        <p:spPr>
          <a:xfrm>
            <a:off x="6894576" y="4553712"/>
            <a:ext cx="841248" cy="630936"/>
          </a:xfrm>
          <a:prstGeom prst="rect">
            <a:avLst/>
          </a:prstGeom>
          <a:solidFill>
            <a:srgbClr val="1E2C4D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7" name="Shape 175"/>
          <p:cNvSpPr/>
          <p:nvPr/>
        </p:nvSpPr>
        <p:spPr>
          <a:xfrm>
            <a:off x="6894576" y="4553712"/>
            <a:ext cx="841248" cy="630936"/>
          </a:xfrm>
          <a:prstGeom prst="rect">
            <a:avLst/>
          </a:prstGeom>
          <a:solidFill>
            <a:srgbClr val="E9EFFA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8" name="Text 176"/>
          <p:cNvSpPr/>
          <p:nvPr/>
        </p:nvSpPr>
        <p:spPr>
          <a:xfrm>
            <a:off x="6912864" y="4645152"/>
            <a:ext cx="8046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1" i="0" u="none" strike="noStrike" kern="1200" cap="none" spc="0" normalizeH="0" baseline="0" noProof="0" dirty="0">
                <a:ln>
                  <a:noFill/>
                </a:ln>
                <a:solidFill>
                  <a:srgbClr val="1E2C4D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35.76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79" name="Shape 177"/>
          <p:cNvSpPr/>
          <p:nvPr/>
        </p:nvSpPr>
        <p:spPr>
          <a:xfrm>
            <a:off x="7735824" y="4553712"/>
            <a:ext cx="886968" cy="630936"/>
          </a:xfrm>
          <a:prstGeom prst="rect">
            <a:avLst/>
          </a:prstGeom>
          <a:solidFill>
            <a:srgbClr val="1E2C4D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0" name="Shape 178"/>
          <p:cNvSpPr/>
          <p:nvPr/>
        </p:nvSpPr>
        <p:spPr>
          <a:xfrm>
            <a:off x="7735824" y="4553712"/>
            <a:ext cx="886968" cy="630936"/>
          </a:xfrm>
          <a:prstGeom prst="rect">
            <a:avLst/>
          </a:prstGeom>
          <a:solidFill>
            <a:srgbClr val="E9EFFA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1" name="Text 179"/>
          <p:cNvSpPr/>
          <p:nvPr/>
        </p:nvSpPr>
        <p:spPr>
          <a:xfrm>
            <a:off x="7754112" y="4645152"/>
            <a:ext cx="8503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1" i="0" u="none" strike="noStrike" kern="1200" cap="none" spc="0" normalizeH="0" baseline="0" noProof="0" dirty="0">
                <a:ln>
                  <a:noFill/>
                </a:ln>
                <a:solidFill>
                  <a:srgbClr val="1E2C4D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0.93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82" name="Shape 180"/>
          <p:cNvSpPr/>
          <p:nvPr/>
        </p:nvSpPr>
        <p:spPr>
          <a:xfrm>
            <a:off x="8622792" y="4553712"/>
            <a:ext cx="886968" cy="630936"/>
          </a:xfrm>
          <a:prstGeom prst="rect">
            <a:avLst/>
          </a:prstGeom>
          <a:solidFill>
            <a:srgbClr val="1E2C4D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3" name="Shape 181"/>
          <p:cNvSpPr/>
          <p:nvPr/>
        </p:nvSpPr>
        <p:spPr>
          <a:xfrm>
            <a:off x="8622792" y="4553712"/>
            <a:ext cx="886968" cy="630936"/>
          </a:xfrm>
          <a:prstGeom prst="rect">
            <a:avLst/>
          </a:prstGeom>
          <a:solidFill>
            <a:srgbClr val="E9EFFA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4" name="Text 182"/>
          <p:cNvSpPr/>
          <p:nvPr/>
        </p:nvSpPr>
        <p:spPr>
          <a:xfrm>
            <a:off x="8641080" y="4645152"/>
            <a:ext cx="8503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1" i="0" u="none" strike="noStrike" kern="1200" cap="none" spc="0" normalizeH="0" baseline="0" noProof="0" dirty="0">
                <a:ln>
                  <a:noFill/>
                </a:ln>
                <a:solidFill>
                  <a:srgbClr val="1E2C4D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0.98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85" name="Shape 183"/>
          <p:cNvSpPr/>
          <p:nvPr/>
        </p:nvSpPr>
        <p:spPr>
          <a:xfrm>
            <a:off x="9509760" y="4553712"/>
            <a:ext cx="1207008" cy="630936"/>
          </a:xfrm>
          <a:prstGeom prst="rect">
            <a:avLst/>
          </a:prstGeom>
          <a:solidFill>
            <a:srgbClr val="1E2C4D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6" name="Shape 184"/>
          <p:cNvSpPr/>
          <p:nvPr/>
        </p:nvSpPr>
        <p:spPr>
          <a:xfrm>
            <a:off x="9509760" y="4553712"/>
            <a:ext cx="1207008" cy="630936"/>
          </a:xfrm>
          <a:prstGeom prst="rect">
            <a:avLst/>
          </a:prstGeom>
          <a:solidFill>
            <a:srgbClr val="E9EFFA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7" name="Text 185"/>
          <p:cNvSpPr/>
          <p:nvPr/>
        </p:nvSpPr>
        <p:spPr>
          <a:xfrm>
            <a:off x="9528048" y="4645152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1" i="0" u="none" strike="noStrike" kern="1200" cap="none" spc="0" normalizeH="0" baseline="0" noProof="0" dirty="0">
                <a:ln>
                  <a:noFill/>
                </a:ln>
                <a:solidFill>
                  <a:srgbClr val="1E2C4D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17.48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88" name="Shape 186"/>
          <p:cNvSpPr/>
          <p:nvPr/>
        </p:nvSpPr>
        <p:spPr>
          <a:xfrm>
            <a:off x="10716768" y="4553712"/>
            <a:ext cx="886968" cy="630936"/>
          </a:xfrm>
          <a:prstGeom prst="rect">
            <a:avLst/>
          </a:prstGeom>
          <a:solidFill>
            <a:srgbClr val="B42318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9" name="Shape 187"/>
          <p:cNvSpPr/>
          <p:nvPr/>
        </p:nvSpPr>
        <p:spPr>
          <a:xfrm>
            <a:off x="10716768" y="4553712"/>
            <a:ext cx="886968" cy="630936"/>
          </a:xfrm>
          <a:prstGeom prst="rect">
            <a:avLst/>
          </a:prstGeom>
          <a:solidFill>
            <a:srgbClr val="FDECEC"/>
          </a:solidFill>
          <a:ln w="12700">
            <a:solidFill>
              <a:srgbClr val="A9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0" name="Text 188"/>
          <p:cNvSpPr/>
          <p:nvPr/>
        </p:nvSpPr>
        <p:spPr>
          <a:xfrm>
            <a:off x="10735056" y="4645152"/>
            <a:ext cx="8503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70" b="1" i="0" u="none" strike="noStrike" kern="1200" cap="none" spc="0" normalizeH="0" baseline="0" noProof="0" dirty="0">
                <a:ln>
                  <a:noFill/>
                </a:ln>
                <a:solidFill>
                  <a:srgbClr val="B42318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42.16</a:t>
            </a:r>
            <a:endParaRPr kumimoji="0" lang="en-US" sz="16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91" name="Shape 189"/>
          <p:cNvSpPr/>
          <p:nvPr/>
        </p:nvSpPr>
        <p:spPr>
          <a:xfrm>
            <a:off x="841248" y="5532120"/>
            <a:ext cx="10762488" cy="658368"/>
          </a:xfrm>
          <a:prstGeom prst="roundRect">
            <a:avLst>
              <a:gd name="adj" fmla="val 11111"/>
            </a:avLst>
          </a:prstGeom>
          <a:solidFill>
            <a:srgbClr val="1F345F"/>
          </a:solidFill>
          <a:ln w="12700">
            <a:solidFill>
              <a:srgbClr val="1F34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2" name="Text 190"/>
          <p:cNvSpPr/>
          <p:nvPr/>
        </p:nvSpPr>
        <p:spPr>
          <a:xfrm>
            <a:off x="1051560" y="5705856"/>
            <a:ext cx="10332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핵심 결과  |  fine-tuning 없이 8개 LM benchmark 중 7개에서 zero-shot SOTA  ·  1BW만 예외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93" name="Text 191"/>
          <p:cNvSpPr/>
          <p:nvPr/>
        </p:nvSpPr>
        <p:spPr>
          <a:xfrm>
            <a:off x="868680" y="632764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7E8798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PPL/BPB/BPC는 낮을수록 좋고, ACC는 높을수록 좋음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94" name="Text 192"/>
          <p:cNvSpPr/>
          <p:nvPr/>
        </p:nvSpPr>
        <p:spPr>
          <a:xfrm>
            <a:off x="8796528" y="632764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9AA3B3"/>
                </a:solidFill>
                <a:effectLst/>
                <a:uLnTx/>
                <a:uFillTx/>
                <a:latin typeface="Noto Sans" pitchFamily="34" charset="0"/>
                <a:ea typeface="Noto Sans" pitchFamily="34" charset="-122"/>
                <a:cs typeface="Noto Sans" pitchFamily="34" charset="-120"/>
              </a:rPr>
              <a:t>Radford et al. (2019), Table 3 — 수치 재구성</a:t>
            </a:r>
            <a:endParaRPr kumimoji="0" lang="en-US" sz="91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+mn-ea"/>
              <a:cs typeface="+mn-cs"/>
            </a:endParaRPr>
          </a:p>
        </p:txBody>
      </p:sp>
      <p:sp>
        <p:nvSpPr>
          <p:cNvPr id="19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19672"/>
            <a:ext cx="16459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9EA8B8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9EA8B8"/>
                </a:solidFill>
                <a:effectLst/>
                <a:uLnTx/>
                <a:uFillTx/>
                <a:latin typeface="Noto Sans"/>
                <a:ea typeface="Noto Sans"/>
                <a:cs typeface="Noto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9EA8B8"/>
              </a:solidFill>
              <a:effectLst/>
              <a:uLnTx/>
              <a:uFillTx/>
              <a:latin typeface="Noto Sans"/>
              <a:ea typeface="Noto Sans"/>
              <a:cs typeface="No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83080" y="347472"/>
            <a:ext cx="9509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3.4–3.5: Language Model을 상식 추론과 독해에 그대로 사용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287000" y="3291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Experiments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1847088" y="1024128"/>
            <a:ext cx="4160520" cy="4315968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7DC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029968" y="1207008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F4F0FF"/>
          </a:solidFill>
          <a:ln w="12700">
            <a:solidFill>
              <a:srgbClr val="F4F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084832" y="1248156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3.4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029968" y="157276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7C3AE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Winograd Schema Challenge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029968" y="19385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30" b="1" dirty="0">
                <a:solidFill>
                  <a:srgbClr val="11182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“it”이 무엇을 가리키는지 상식으로 판단</a:t>
            </a:r>
            <a:endParaRPr lang="en-US" sz="1330" dirty="0"/>
          </a:p>
        </p:txBody>
      </p:sp>
      <p:sp>
        <p:nvSpPr>
          <p:cNvPr id="9" name="Shape 7"/>
          <p:cNvSpPr/>
          <p:nvPr/>
        </p:nvSpPr>
        <p:spPr>
          <a:xfrm>
            <a:off x="2029968" y="2377440"/>
            <a:ext cx="3611880" cy="969264"/>
          </a:xfrm>
          <a:prstGeom prst="roundRect">
            <a:avLst>
              <a:gd name="adj" fmla="val 7547"/>
            </a:avLst>
          </a:prstGeom>
          <a:solidFill>
            <a:srgbClr val="F4F0FF"/>
          </a:solidFill>
          <a:ln w="12700">
            <a:solidFill>
              <a:srgbClr val="F4F0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212848" y="2523744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The trophy doesn’t fit in the suitcase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because it is too big.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57984" y="3511296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20" dirty="0">
                <a:solidFill>
                  <a:srgbClr val="6B72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trophy vs suitcase 중 어느 쪽이 더 자연스러운지</a:t>
            </a:r>
            <a:endParaRPr lang="en-US" sz="112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20" dirty="0">
                <a:solidFill>
                  <a:srgbClr val="6B72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LM probability로 비교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2286000" y="4160520"/>
            <a:ext cx="1389888" cy="694944"/>
          </a:xfrm>
          <a:prstGeom prst="roundRect">
            <a:avLst>
              <a:gd name="adj" fmla="val 10526"/>
            </a:avLst>
          </a:prstGeom>
          <a:solidFill>
            <a:srgbClr val="F4F0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395728" y="425196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accuracy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395728" y="443484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7C3AE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70.70%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813048" y="427024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7C3AE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기존 SOTA보다 약 7%p 향상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36208" y="1024128"/>
            <a:ext cx="4343400" cy="431596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D7DC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19088" y="1207008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73952" y="1248156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3B82F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3.5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19088" y="157276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3B82F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CoQA Reading Comprehension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19088" y="19385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30" b="1" dirty="0">
                <a:solidFill>
                  <a:srgbClr val="11182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문서 + 이전 대화 내용을 읽고 답을 직접 생성</a:t>
            </a:r>
            <a:endParaRPr lang="en-US" sz="1330" dirty="0"/>
          </a:p>
        </p:txBody>
      </p:sp>
      <p:sp>
        <p:nvSpPr>
          <p:cNvPr id="21" name="Shape 19"/>
          <p:cNvSpPr/>
          <p:nvPr/>
        </p:nvSpPr>
        <p:spPr>
          <a:xfrm>
            <a:off x="6419088" y="2377440"/>
            <a:ext cx="3794760" cy="969264"/>
          </a:xfrm>
          <a:prstGeom prst="roundRect">
            <a:avLst>
              <a:gd name="adj" fmla="val 7547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629400" y="2496312"/>
            <a:ext cx="336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80" dirty="0">
                <a:solidFill>
                  <a:srgbClr val="11182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Document + Q/A history + “A:”</a:t>
            </a:r>
            <a:endParaRPr lang="en-US" sz="118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80" dirty="0">
                <a:solidFill>
                  <a:srgbClr val="11182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↓</a:t>
            </a:r>
            <a:endParaRPr lang="en-US" sz="118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80" dirty="0">
                <a:solidFill>
                  <a:srgbClr val="11182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greedy decoding으로 answer 생성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6656832" y="4160520"/>
            <a:ext cx="1389888" cy="694944"/>
          </a:xfrm>
          <a:prstGeom prst="roundRect">
            <a:avLst>
              <a:gd name="adj" fmla="val 10526"/>
            </a:avLst>
          </a:prstGeom>
          <a:solidFill>
            <a:srgbClr val="EEF4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766560" y="425196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development F1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766560" y="443484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B82F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55 F1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183880" y="411480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20" b="1" dirty="0">
                <a:solidFill>
                  <a:srgbClr val="3B82F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127K+ QA pair로 학습한</a:t>
            </a:r>
            <a:endParaRPr lang="en-US" sz="102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20" b="1" dirty="0">
                <a:solidFill>
                  <a:srgbClr val="3B82F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baseline 4개 중 3개와 동급 이상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1847088" y="5577840"/>
            <a:ext cx="8732520" cy="530352"/>
          </a:xfrm>
          <a:prstGeom prst="roundRect">
            <a:avLst>
              <a:gd name="adj" fmla="val 13793"/>
            </a:avLst>
          </a:prstGeom>
          <a:solidFill>
            <a:srgbClr val="1A2A52"/>
          </a:solidFill>
          <a:ln w="12700">
            <a:solidFill>
              <a:srgbClr val="1A2A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2121408" y="5696712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여기서 중요한 건 SOTA 여부보다 “LM을 task별로 다시 학습하지 않았는데도 추론·독해 behavior가 나온다”는 점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7360920" y="642823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680" dirty="0">
                <a:solidFill>
                  <a:srgbClr val="9CA3A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Radford et al. (2019), Sec. 3.4–3.5</a:t>
            </a:r>
            <a:endParaRPr lang="en-US" sz="68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9CA3AF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32" name="Shape 0">
            <a:extLst>
              <a:ext uri="{FF2B5EF4-FFF2-40B4-BE49-F238E27FC236}">
                <a16:creationId xmlns:a16="http://schemas.microsoft.com/office/drawing/2014/main" id="{6573342A-7BB0-0AC4-E018-D398C3278F92}"/>
              </a:ext>
            </a:extLst>
          </p:cNvPr>
          <p:cNvSpPr/>
          <p:nvPr/>
        </p:nvSpPr>
        <p:spPr>
          <a:xfrm>
            <a:off x="0" y="0"/>
            <a:ext cx="1444320" cy="6857640"/>
          </a:xfrm>
          <a:prstGeom prst="rect">
            <a:avLst/>
          </a:prstGeom>
          <a:solidFill>
            <a:srgbClr val="192A52"/>
          </a:solidFill>
          <a:ln w="12600">
            <a:solidFill>
              <a:srgbClr val="192A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">
            <a:extLst>
              <a:ext uri="{FF2B5EF4-FFF2-40B4-BE49-F238E27FC236}">
                <a16:creationId xmlns:a16="http://schemas.microsoft.com/office/drawing/2014/main" id="{14A1BFD9-E31F-DE00-C91E-A7FEE2377377}"/>
              </a:ext>
            </a:extLst>
          </p:cNvPr>
          <p:cNvSpPr/>
          <p:nvPr/>
        </p:nvSpPr>
        <p:spPr>
          <a:xfrm>
            <a:off x="164520" y="155160"/>
            <a:ext cx="360" cy="2606040"/>
          </a:xfrm>
          <a:prstGeom prst="line">
            <a:avLst/>
          </a:prstGeom>
          <a:ln w="1404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">
            <a:extLst>
              <a:ext uri="{FF2B5EF4-FFF2-40B4-BE49-F238E27FC236}">
                <a16:creationId xmlns:a16="http://schemas.microsoft.com/office/drawing/2014/main" id="{175BECF4-5697-B821-463C-1ED76AB601AA}"/>
              </a:ext>
            </a:extLst>
          </p:cNvPr>
          <p:cNvSpPr/>
          <p:nvPr/>
        </p:nvSpPr>
        <p:spPr>
          <a:xfrm rot="16200000">
            <a:off x="-45360" y="2880720"/>
            <a:ext cx="15084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 Black"/>
              </a:rPr>
              <a:t>CUAI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83080" y="347472"/>
            <a:ext cx="9509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3.6–3.8: 요약·번역·QA도 “context로 task를 유도”해 수행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287000" y="3291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Experiments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1847088" y="1143000"/>
            <a:ext cx="2651760" cy="4251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7DC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011680" y="1325880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FFF7E8"/>
          </a:solidFill>
          <a:ln w="12700">
            <a:solidFill>
              <a:srgbClr val="FFF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066544" y="1367028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59E0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3.6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011680" y="167335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Summarization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2048256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60" b="1" dirty="0">
                <a:solidFill>
                  <a:srgbClr val="11182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기사 뒤에 “TL;DR:”를 붙여</a:t>
            </a:r>
            <a:endParaRPr lang="en-US" sz="126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1260" b="1" dirty="0">
                <a:solidFill>
                  <a:srgbClr val="11182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요약 behavior 유도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2011680" y="2715768"/>
            <a:ext cx="2322576" cy="795528"/>
          </a:xfrm>
          <a:prstGeom prst="roundRect">
            <a:avLst>
              <a:gd name="adj" fmla="val 9195"/>
            </a:avLst>
          </a:prstGeom>
          <a:solidFill>
            <a:srgbClr val="FFF7E8"/>
          </a:solidFill>
          <a:ln w="12700">
            <a:solidFill>
              <a:srgbClr val="FFF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121408" y="2798064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40" dirty="0">
                <a:solidFill>
                  <a:srgbClr val="11182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article + TL;DR:</a:t>
            </a:r>
            <a:endParaRPr lang="en-US" sz="104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40" dirty="0">
                <a:solidFill>
                  <a:srgbClr val="11182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 top-k (k=2)로 100 token 생성</a:t>
            </a:r>
            <a:endParaRPr lang="en-US" sz="104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40" dirty="0">
                <a:solidFill>
                  <a:srgbClr val="11182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 처음 3문장을 summary로 사용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2139696" y="3822192"/>
            <a:ext cx="1298448" cy="694944"/>
          </a:xfrm>
          <a:prstGeom prst="roundRect">
            <a:avLst>
              <a:gd name="adj" fmla="val 10526"/>
            </a:avLst>
          </a:prstGeom>
          <a:solidFill>
            <a:srgbClr val="FFF7E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9424" y="391363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ROUGE R-AVG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49424" y="409651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59E0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21.40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11296" y="3813048"/>
            <a:ext cx="804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SOTA 32.75</a:t>
            </a:r>
            <a:endParaRPr lang="en-US" sz="98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Random-3 20.98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2029968" y="4681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20" b="1" dirty="0">
                <a:solidFill>
                  <a:srgbClr val="F59E0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 요약은 되지만 품질은 아직 낮음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736592" y="1143000"/>
            <a:ext cx="2651760" cy="4251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7DC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901184" y="1325880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956048" y="1367028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3B82F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3.7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01184" y="167335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B82F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Translation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01184" y="2048256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60" b="1" dirty="0">
                <a:solidFill>
                  <a:srgbClr val="11182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번역 예시 몇 개를 context로 줘서</a:t>
            </a:r>
            <a:endParaRPr lang="en-US" sz="126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1260" b="1" dirty="0">
                <a:solidFill>
                  <a:srgbClr val="11182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패턴을 추론하게 함</a:t>
            </a:r>
            <a:endParaRPr lang="en-US" sz="1260" dirty="0"/>
          </a:p>
        </p:txBody>
      </p:sp>
      <p:sp>
        <p:nvSpPr>
          <p:cNvPr id="21" name="Shape 19"/>
          <p:cNvSpPr/>
          <p:nvPr/>
        </p:nvSpPr>
        <p:spPr>
          <a:xfrm>
            <a:off x="4901184" y="2715768"/>
            <a:ext cx="2322576" cy="795528"/>
          </a:xfrm>
          <a:prstGeom prst="roundRect">
            <a:avLst>
              <a:gd name="adj" fmla="val 9195"/>
            </a:avLst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010912" y="2807208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English = French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English = French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English =   → greedy generation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56048" y="3822192"/>
            <a:ext cx="1051560" cy="694944"/>
          </a:xfrm>
          <a:prstGeom prst="roundRect">
            <a:avLst>
              <a:gd name="adj" fmla="val 10526"/>
            </a:avLst>
          </a:prstGeom>
          <a:solidFill>
            <a:srgbClr val="EEF4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065776" y="3913632"/>
            <a:ext cx="832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En→Fr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65776" y="4096512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B82F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 BLEU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117336" y="3822192"/>
            <a:ext cx="1051560" cy="694944"/>
          </a:xfrm>
          <a:prstGeom prst="roundRect">
            <a:avLst>
              <a:gd name="adj" fmla="val 10526"/>
            </a:avLst>
          </a:prstGeom>
          <a:solidFill>
            <a:srgbClr val="EEF4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227064" y="3913632"/>
            <a:ext cx="832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Fr→En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27064" y="4096512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3B82F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11.5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919472" y="4681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20" b="1" dirty="0">
                <a:solidFill>
                  <a:srgbClr val="3B82F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unsupervised SOTA 33.5 BLEU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7626096" y="1143000"/>
            <a:ext cx="2953512" cy="4251960"/>
          </a:xfrm>
          <a:prstGeom prst="roundRect">
            <a:avLst>
              <a:gd name="adj" fmla="val 2477"/>
            </a:avLst>
          </a:prstGeom>
          <a:solidFill>
            <a:srgbClr val="FFFFFF"/>
          </a:solidFill>
          <a:ln w="12700">
            <a:solidFill>
              <a:srgbClr val="D7DC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7790688" y="1325880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ECFDF5"/>
          </a:solidFill>
          <a:ln w="12700">
            <a:solidFill>
              <a:srgbClr val="ECFD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7845552" y="1367028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3.8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790688" y="1673352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05966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Factoid Question Answering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7790688" y="2048256"/>
            <a:ext cx="2624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60" b="1" dirty="0">
                <a:solidFill>
                  <a:srgbClr val="11182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Q/A 예시를 context로 주고</a:t>
            </a:r>
            <a:endParaRPr lang="en-US" sz="126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1260" b="1" dirty="0">
                <a:solidFill>
                  <a:srgbClr val="11182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짧은 답변 형식을 추론</a:t>
            </a:r>
            <a:endParaRPr lang="en-US" sz="1260" dirty="0"/>
          </a:p>
        </p:txBody>
      </p:sp>
      <p:sp>
        <p:nvSpPr>
          <p:cNvPr id="35" name="Shape 33"/>
          <p:cNvSpPr/>
          <p:nvPr/>
        </p:nvSpPr>
        <p:spPr>
          <a:xfrm>
            <a:off x="7790688" y="2715768"/>
            <a:ext cx="2624328" cy="795528"/>
          </a:xfrm>
          <a:prstGeom prst="roundRect">
            <a:avLst>
              <a:gd name="adj" fmla="val 9195"/>
            </a:avLst>
          </a:prstGeom>
          <a:solidFill>
            <a:srgbClr val="ECFDF5"/>
          </a:solidFill>
          <a:ln w="12700">
            <a:solidFill>
              <a:srgbClr val="ECFD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7900416" y="2779776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Q: Who wrote The Origin of Species?</a:t>
            </a:r>
            <a:endParaRPr lang="en-US" sz="102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A: Charles Darwin</a:t>
            </a:r>
            <a:endParaRPr lang="en-US" sz="102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…</a:t>
            </a:r>
            <a:endParaRPr lang="en-US" sz="102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20" dirty="0">
                <a:solidFill>
                  <a:srgbClr val="111827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Q: 새로운 질문 → A: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7955280" y="3822192"/>
            <a:ext cx="1188720" cy="694944"/>
          </a:xfrm>
          <a:prstGeom prst="roundRect">
            <a:avLst>
              <a:gd name="adj" fmla="val 10526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8065008" y="3913632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exact match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065008" y="4096512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5966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4.1%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9336024" y="3822192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open-domain QA system</a:t>
            </a:r>
            <a:endParaRPr lang="en-US" sz="98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30–50%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7808976" y="4681728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20" b="1" dirty="0">
                <a:solidFill>
                  <a:srgbClr val="059669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 실용 성능은 아직 매우 낮음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1847088" y="5596128"/>
            <a:ext cx="8732520" cy="585216"/>
          </a:xfrm>
          <a:prstGeom prst="roundRect">
            <a:avLst>
              <a:gd name="adj" fmla="val 12500"/>
            </a:avLst>
          </a:prstGeom>
          <a:solidFill>
            <a:srgbClr val="1A2A52"/>
          </a:solidFill>
          <a:ln w="12700">
            <a:solidFill>
              <a:srgbClr val="1A2A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2103120" y="57058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7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공통된 실험 철학: weight update 없이 “context의 패턴”만으로 </a:t>
            </a:r>
            <a:r>
              <a:rPr lang="en-US" sz="1170" b="1" dirty="0" err="1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task를</a:t>
            </a:r>
            <a:r>
              <a:rPr lang="en-US" sz="117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en-US" sz="1170" b="1" dirty="0" err="1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알아</a:t>
            </a:r>
            <a:r>
              <a:rPr lang="ko-KR" altLang="en-US" sz="1170" b="1" dirty="0" err="1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리게</a:t>
            </a:r>
            <a:r>
              <a:rPr lang="ko-KR" altLang="en-US" sz="117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한다</a:t>
            </a:r>
            <a:r>
              <a:rPr lang="en-US" altLang="ko-KR" sz="117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.</a:t>
            </a:r>
            <a:endParaRPr lang="en-US" sz="1170" dirty="0"/>
          </a:p>
        </p:txBody>
      </p:sp>
      <p:sp>
        <p:nvSpPr>
          <p:cNvPr id="44" name="Text 42"/>
          <p:cNvSpPr/>
          <p:nvPr/>
        </p:nvSpPr>
        <p:spPr>
          <a:xfrm>
            <a:off x="7360920" y="642823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95000"/>
              </a:lnSpc>
              <a:buNone/>
            </a:pPr>
            <a:r>
              <a:rPr lang="en-US" sz="680" dirty="0">
                <a:solidFill>
                  <a:srgbClr val="9CA3A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Radford et al. (2019), Sec. 3.6–3.8, Tables 4–5</a:t>
            </a:r>
            <a:endParaRPr lang="en-US" sz="68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9CA3AF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47" name="Shape 0">
            <a:extLst>
              <a:ext uri="{FF2B5EF4-FFF2-40B4-BE49-F238E27FC236}">
                <a16:creationId xmlns:a16="http://schemas.microsoft.com/office/drawing/2014/main" id="{0A35D4B4-3CCD-2836-1703-10BBF49561B5}"/>
              </a:ext>
            </a:extLst>
          </p:cNvPr>
          <p:cNvSpPr/>
          <p:nvPr/>
        </p:nvSpPr>
        <p:spPr>
          <a:xfrm>
            <a:off x="0" y="0"/>
            <a:ext cx="1444320" cy="6857640"/>
          </a:xfrm>
          <a:prstGeom prst="rect">
            <a:avLst/>
          </a:prstGeom>
          <a:solidFill>
            <a:srgbClr val="192A52"/>
          </a:solidFill>
          <a:ln w="12600">
            <a:solidFill>
              <a:srgbClr val="192A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">
            <a:extLst>
              <a:ext uri="{FF2B5EF4-FFF2-40B4-BE49-F238E27FC236}">
                <a16:creationId xmlns:a16="http://schemas.microsoft.com/office/drawing/2014/main" id="{20C7EFBF-838B-9B8B-73B6-836ECB4C666C}"/>
              </a:ext>
            </a:extLst>
          </p:cNvPr>
          <p:cNvSpPr/>
          <p:nvPr/>
        </p:nvSpPr>
        <p:spPr>
          <a:xfrm>
            <a:off x="164520" y="155160"/>
            <a:ext cx="360" cy="2606040"/>
          </a:xfrm>
          <a:prstGeom prst="line">
            <a:avLst/>
          </a:prstGeom>
          <a:ln w="1404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">
            <a:extLst>
              <a:ext uri="{FF2B5EF4-FFF2-40B4-BE49-F238E27FC236}">
                <a16:creationId xmlns:a16="http://schemas.microsoft.com/office/drawing/2014/main" id="{78EF0968-4B9C-9A13-A7B2-31B389E40EBE}"/>
              </a:ext>
            </a:extLst>
          </p:cNvPr>
          <p:cNvSpPr/>
          <p:nvPr/>
        </p:nvSpPr>
        <p:spPr>
          <a:xfrm rot="16200000">
            <a:off x="-45360" y="2880720"/>
            <a:ext cx="15084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 Black"/>
              </a:rPr>
              <a:t>CUAI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0"/>
          <p:cNvSpPr/>
          <p:nvPr/>
        </p:nvSpPr>
        <p:spPr>
          <a:xfrm>
            <a:off x="0" y="0"/>
            <a:ext cx="1444320" cy="6857640"/>
          </a:xfrm>
          <a:prstGeom prst="rect">
            <a:avLst/>
          </a:prstGeom>
          <a:solidFill>
            <a:srgbClr val="192A52"/>
          </a:solidFill>
          <a:ln w="12600">
            <a:solidFill>
              <a:srgbClr val="192A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1"/>
          <p:cNvSpPr/>
          <p:nvPr/>
        </p:nvSpPr>
        <p:spPr>
          <a:xfrm>
            <a:off x="164520" y="155160"/>
            <a:ext cx="360" cy="2606040"/>
          </a:xfrm>
          <a:prstGeom prst="line">
            <a:avLst/>
          </a:prstGeom>
          <a:ln w="1404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2"/>
          <p:cNvSpPr/>
          <p:nvPr/>
        </p:nvSpPr>
        <p:spPr>
          <a:xfrm rot="16200000">
            <a:off x="-45360" y="2880720"/>
            <a:ext cx="15084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 Black"/>
              </a:rPr>
              <a:t>CUAI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3"/>
          <p:cNvSpPr/>
          <p:nvPr/>
        </p:nvSpPr>
        <p:spPr>
          <a:xfrm>
            <a:off x="1828800" y="43884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4. Generalization vs Memorization: </a:t>
            </a:r>
            <a:r>
              <a:rPr lang="zh-CN" sz="24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시험 문제를 이미 본 건 아닐까</a:t>
            </a:r>
            <a:r>
              <a:rPr lang="en-US" sz="24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4"/>
          <p:cNvSpPr/>
          <p:nvPr/>
        </p:nvSpPr>
        <p:spPr>
          <a:xfrm>
            <a:off x="10469880" y="47556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Analysis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6"/>
          <p:cNvSpPr/>
          <p:nvPr/>
        </p:nvSpPr>
        <p:spPr>
          <a:xfrm>
            <a:off x="1965960" y="1197792"/>
            <a:ext cx="8732160" cy="959760"/>
          </a:xfrm>
          <a:prstGeom prst="roundRect">
            <a:avLst>
              <a:gd name="adj" fmla="val 7619"/>
            </a:avLst>
          </a:prstGeom>
          <a:solidFill>
            <a:srgbClr val="FDECEC"/>
          </a:solidFill>
          <a:ln w="14040">
            <a:solidFill>
              <a:srgbClr val="E457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7"/>
          <p:cNvSpPr/>
          <p:nvPr/>
        </p:nvSpPr>
        <p:spPr>
          <a:xfrm>
            <a:off x="2286000" y="1490472"/>
            <a:ext cx="8092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E45757"/>
                </a:solidFill>
                <a:effectLst/>
                <a:uFillTx/>
                <a:latin typeface="Arial"/>
                <a:ea typeface="Arial"/>
              </a:rPr>
              <a:t>“WebText</a:t>
            </a:r>
            <a:r>
              <a:rPr lang="zh-CN" sz="1700" b="1" u="none" strike="noStrike">
                <a:solidFill>
                  <a:srgbClr val="E45757"/>
                </a:solidFill>
                <a:effectLst/>
                <a:uFillTx/>
                <a:latin typeface="Arial"/>
                <a:ea typeface="Arial"/>
              </a:rPr>
              <a:t>가 너무 크니까 </a:t>
            </a:r>
            <a:r>
              <a:rPr lang="en-US" sz="1700" b="1" u="none" strike="noStrike">
                <a:solidFill>
                  <a:srgbClr val="E45757"/>
                </a:solidFill>
                <a:effectLst/>
                <a:uFillTx/>
                <a:latin typeface="Arial"/>
                <a:ea typeface="Arial"/>
              </a:rPr>
              <a:t>benchmark test </a:t>
            </a:r>
            <a:r>
              <a:rPr lang="zh-CN" sz="1700" b="1" u="none" strike="noStrike">
                <a:solidFill>
                  <a:srgbClr val="E45757"/>
                </a:solidFill>
                <a:effectLst/>
                <a:uFillTx/>
                <a:latin typeface="Arial"/>
                <a:ea typeface="Arial"/>
              </a:rPr>
              <a:t>문장도 들어 있었고</a:t>
            </a:r>
            <a:r>
              <a:rPr lang="en-US" sz="1700" b="1" u="none" strike="noStrike">
                <a:solidFill>
                  <a:srgbClr val="E45757"/>
                </a:solidFill>
                <a:effectLst/>
                <a:uFillTx/>
                <a:latin typeface="Arial"/>
                <a:ea typeface="Arial"/>
              </a:rPr>
              <a:t>, GPT-2</a:t>
            </a:r>
            <a:r>
              <a:rPr lang="zh-CN" sz="1700" b="1" u="none" strike="noStrike">
                <a:solidFill>
                  <a:srgbClr val="E45757"/>
                </a:solidFill>
                <a:effectLst/>
                <a:uFillTx/>
                <a:latin typeface="Arial"/>
                <a:ea typeface="Arial"/>
              </a:rPr>
              <a:t>가 그냥 외운 것 아닐까</a:t>
            </a:r>
            <a:r>
              <a:rPr lang="en-US" sz="1700" b="1" u="none" strike="noStrike">
                <a:solidFill>
                  <a:srgbClr val="E45757"/>
                </a:solidFill>
                <a:effectLst/>
                <a:uFillTx/>
                <a:latin typeface="Arial"/>
                <a:ea typeface="Arial"/>
              </a:rPr>
              <a:t>?”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8"/>
          <p:cNvSpPr/>
          <p:nvPr/>
        </p:nvSpPr>
        <p:spPr>
          <a:xfrm>
            <a:off x="1965960" y="2784312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문서 전체를 </a:t>
            </a:r>
            <a:r>
              <a:rPr lang="en-US" sz="150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exact match</a:t>
            </a:r>
            <a:r>
              <a:rPr lang="zh-CN" sz="150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하기보다 </a:t>
            </a:r>
            <a:r>
              <a:rPr lang="en-US" sz="150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8-gram overlap</a:t>
            </a:r>
            <a:r>
              <a:rPr lang="zh-CN" sz="150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을 검사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9"/>
          <p:cNvSpPr/>
          <p:nvPr/>
        </p:nvSpPr>
        <p:spPr>
          <a:xfrm>
            <a:off x="1965960" y="3332952"/>
            <a:ext cx="685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문장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0"/>
          <p:cNvSpPr/>
          <p:nvPr/>
        </p:nvSpPr>
        <p:spPr>
          <a:xfrm>
            <a:off x="2606040" y="3314592"/>
            <a:ext cx="7269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the  cat  was  sitting  on  the  old  wooden  chair  yesterday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11"/>
          <p:cNvSpPr/>
          <p:nvPr/>
        </p:nvSpPr>
        <p:spPr>
          <a:xfrm>
            <a:off x="1965960" y="3973032"/>
            <a:ext cx="5943240" cy="347040"/>
          </a:xfrm>
          <a:prstGeom prst="roundRect">
            <a:avLst>
              <a:gd name="adj" fmla="val 10526"/>
            </a:avLst>
          </a:prstGeom>
          <a:solidFill>
            <a:srgbClr val="EEF2FF"/>
          </a:solidFill>
          <a:ln w="10080">
            <a:solidFill>
              <a:srgbClr val="192A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2"/>
          <p:cNvSpPr/>
          <p:nvPr/>
        </p:nvSpPr>
        <p:spPr>
          <a:xfrm>
            <a:off x="2103120" y="4055472"/>
            <a:ext cx="56689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the cat was sitting on the old wooden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13"/>
          <p:cNvSpPr/>
          <p:nvPr/>
        </p:nvSpPr>
        <p:spPr>
          <a:xfrm>
            <a:off x="2880360" y="4357152"/>
            <a:ext cx="5943240" cy="347040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008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4"/>
          <p:cNvSpPr/>
          <p:nvPr/>
        </p:nvSpPr>
        <p:spPr>
          <a:xfrm>
            <a:off x="3017520" y="4439232"/>
            <a:ext cx="56689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cat was sitting on the old wooden chair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15"/>
          <p:cNvSpPr/>
          <p:nvPr/>
        </p:nvSpPr>
        <p:spPr>
          <a:xfrm>
            <a:off x="3794760" y="4741272"/>
            <a:ext cx="5943240" cy="347040"/>
          </a:xfrm>
          <a:prstGeom prst="roundRect">
            <a:avLst>
              <a:gd name="adj" fmla="val 10526"/>
            </a:avLst>
          </a:prstGeom>
          <a:solidFill>
            <a:srgbClr val="FFF7E6"/>
          </a:solidFill>
          <a:ln w="1008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6"/>
          <p:cNvSpPr/>
          <p:nvPr/>
        </p:nvSpPr>
        <p:spPr>
          <a:xfrm>
            <a:off x="3931920" y="4823352"/>
            <a:ext cx="56689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was sitting on the old wooden chair yesterday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7"/>
          <p:cNvSpPr/>
          <p:nvPr/>
        </p:nvSpPr>
        <p:spPr>
          <a:xfrm>
            <a:off x="1965960" y="5390352"/>
            <a:ext cx="86864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8</a:t>
            </a:r>
            <a:r>
              <a:rPr lang="zh-CN" sz="125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개 단어를 하나로 “압축”하는 게 아니라</a:t>
            </a:r>
            <a:r>
              <a:rPr lang="en-US" sz="125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, 8</a:t>
            </a:r>
            <a:r>
              <a:rPr lang="zh-CN" sz="125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단어짜리 </a:t>
            </a:r>
            <a:r>
              <a:rPr lang="en-US" sz="125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window</a:t>
            </a:r>
            <a:r>
              <a:rPr lang="zh-CN" sz="125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를 한 칸씩 이동하며 거의 </a:t>
            </a:r>
            <a:r>
              <a:rPr lang="en-US" sz="125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zh-CN" sz="125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개에 가까운 </a:t>
            </a:r>
            <a:r>
              <a:rPr lang="en-US" sz="125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query</a:t>
            </a:r>
            <a:r>
              <a:rPr lang="zh-CN" sz="125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를 만든다</a:t>
            </a:r>
            <a:r>
              <a:rPr lang="en-US" sz="125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8"/>
          <p:cNvSpPr/>
          <p:nvPr/>
        </p:nvSpPr>
        <p:spPr>
          <a:xfrm>
            <a:off x="8092440" y="6428232"/>
            <a:ext cx="3246120" cy="164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  <a:ea typeface="Arial"/>
              </a:rPr>
              <a:t>Radford et al. (2019), Sec. 4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1"/>
          <p:cNvSpPr>
            <a:spLocks noGrp="1"/>
          </p:cNvSpPr>
          <p:nvPr>
            <p:ph type="sldNum" idx="15"/>
          </p:nvPr>
        </p:nvSpPr>
        <p:spPr>
          <a:xfrm>
            <a:off x="11631168" y="6492240"/>
            <a:ext cx="41148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9CA3A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0"/>
          <p:cNvSpPr/>
          <p:nvPr/>
        </p:nvSpPr>
        <p:spPr>
          <a:xfrm>
            <a:off x="0" y="0"/>
            <a:ext cx="1444320" cy="6857640"/>
          </a:xfrm>
          <a:prstGeom prst="rect">
            <a:avLst/>
          </a:prstGeom>
          <a:solidFill>
            <a:srgbClr val="192A52"/>
          </a:solidFill>
          <a:ln w="12600">
            <a:solidFill>
              <a:srgbClr val="192A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1"/>
          <p:cNvSpPr/>
          <p:nvPr/>
        </p:nvSpPr>
        <p:spPr>
          <a:xfrm>
            <a:off x="164520" y="155160"/>
            <a:ext cx="360" cy="2606040"/>
          </a:xfrm>
          <a:prstGeom prst="line">
            <a:avLst/>
          </a:prstGeom>
          <a:ln w="1404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2"/>
          <p:cNvSpPr/>
          <p:nvPr/>
        </p:nvSpPr>
        <p:spPr>
          <a:xfrm rot="16200000">
            <a:off x="-45360" y="2880720"/>
            <a:ext cx="15084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 Black"/>
              </a:rPr>
              <a:t>CUAI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3"/>
          <p:cNvSpPr/>
          <p:nvPr/>
        </p:nvSpPr>
        <p:spPr>
          <a:xfrm>
            <a:off x="1828800" y="43884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Bloom Filter: 8-gram overlap</a:t>
            </a: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을 빠르게 확인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4"/>
          <p:cNvSpPr/>
          <p:nvPr/>
        </p:nvSpPr>
        <p:spPr>
          <a:xfrm>
            <a:off x="10469880" y="475488"/>
            <a:ext cx="114300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r"/>
            <a:r>
              <a:rPr sz="850" b="0">
                <a:latin typeface="Arial"/>
              </a:rPr>
              <a:t>Analysis</a:t>
            </a:r>
          </a:p>
        </p:txBody>
      </p:sp>
      <p:sp>
        <p:nvSpPr>
          <p:cNvPr id="312" name="PlaceHolder 1"/>
          <p:cNvSpPr>
            <a:spLocks noGrp="1"/>
          </p:cNvSpPr>
          <p:nvPr>
            <p:ph type="sldNum" idx="16"/>
          </p:nvPr>
        </p:nvSpPr>
        <p:spPr>
          <a:xfrm>
            <a:off x="11631168" y="6492240"/>
            <a:ext cx="41148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9CA3A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  <a:ea typeface="Arial"/>
              </a:rPr>
              <a:t>12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Rounded Rectangle 25"/>
          <p:cNvSpPr/>
          <p:nvPr/>
        </p:nvSpPr>
        <p:spPr>
          <a:xfrm>
            <a:off x="1920240" y="1234440"/>
            <a:ext cx="2514240" cy="14169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6480">
            <a:solidFill>
              <a:srgbClr val="E5E7EB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26"/>
          <p:cNvSpPr/>
          <p:nvPr/>
        </p:nvSpPr>
        <p:spPr>
          <a:xfrm>
            <a:off x="2084760" y="1367280"/>
            <a:ext cx="319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192A52"/>
                </a:solidFill>
                <a:effectLst/>
                <a:uFillTx/>
                <a:latin typeface="Arial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27"/>
          <p:cNvSpPr/>
          <p:nvPr/>
        </p:nvSpPr>
        <p:spPr>
          <a:xfrm>
            <a:off x="2487240" y="1338480"/>
            <a:ext cx="1737000" cy="57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WebText 8-gram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Box 28"/>
          <p:cNvSpPr/>
          <p:nvPr/>
        </p:nvSpPr>
        <p:spPr>
          <a:xfrm>
            <a:off x="2212920" y="1865880"/>
            <a:ext cx="196560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Arial"/>
              </a:rPr>
              <a:t>hash → bit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Arial"/>
              </a:rPr>
              <a:t>위치를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Arial"/>
              </a:rPr>
              <a:t>1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Arial"/>
              </a:rPr>
              <a:t>로 기록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Box 29"/>
          <p:cNvSpPr/>
          <p:nvPr/>
        </p:nvSpPr>
        <p:spPr>
          <a:xfrm>
            <a:off x="4526280" y="1672200"/>
            <a:ext cx="456840" cy="48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600" b="1" u="none" strike="noStrike">
                <a:solidFill>
                  <a:srgbClr val="192A52"/>
                </a:solidFill>
                <a:effectLst/>
                <a:uFillTx/>
                <a:latin typeface="Arial"/>
              </a:rPr>
              <a:t>→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Rounded Rectangle 30"/>
          <p:cNvSpPr/>
          <p:nvPr/>
        </p:nvSpPr>
        <p:spPr>
          <a:xfrm>
            <a:off x="5010840" y="1234440"/>
            <a:ext cx="2514240" cy="14169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6480">
            <a:solidFill>
              <a:srgbClr val="E5E7EB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31"/>
          <p:cNvSpPr/>
          <p:nvPr/>
        </p:nvSpPr>
        <p:spPr>
          <a:xfrm>
            <a:off x="5175360" y="1367280"/>
            <a:ext cx="319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192A52"/>
                </a:solidFill>
                <a:effectLst/>
                <a:uFillTx/>
                <a:latin typeface="Arial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Box 32"/>
          <p:cNvSpPr/>
          <p:nvPr/>
        </p:nvSpPr>
        <p:spPr>
          <a:xfrm>
            <a:off x="5559480" y="1338480"/>
            <a:ext cx="1782720" cy="57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Benchmark 8-gram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Box 33"/>
          <p:cNvSpPr/>
          <p:nvPr/>
        </p:nvSpPr>
        <p:spPr>
          <a:xfrm>
            <a:off x="5413320" y="1856520"/>
            <a:ext cx="20570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Arial"/>
              </a:rPr>
              <a:t>같은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Arial"/>
              </a:rPr>
              <a:t>hash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Arial"/>
              </a:rPr>
              <a:t>로 조회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Rectangle 34"/>
          <p:cNvSpPr/>
          <p:nvPr/>
        </p:nvSpPr>
        <p:spPr>
          <a:xfrm>
            <a:off x="5321880" y="2075760"/>
            <a:ext cx="209880" cy="273960"/>
          </a:xfrm>
          <a:prstGeom prst="rect">
            <a:avLst/>
          </a:prstGeom>
          <a:solidFill>
            <a:srgbClr val="FFFFFF"/>
          </a:solidFill>
          <a:ln w="6480">
            <a:solidFill>
              <a:srgbClr val="192A52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35"/>
          <p:cNvSpPr/>
          <p:nvPr/>
        </p:nvSpPr>
        <p:spPr>
          <a:xfrm>
            <a:off x="5321880" y="2098800"/>
            <a:ext cx="209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900" b="1" u="none" strike="noStrike">
                <a:solidFill>
                  <a:srgbClr val="192A52"/>
                </a:solidFill>
                <a:effectLst/>
                <a:uFillTx/>
                <a:latin typeface="Arial"/>
              </a:rPr>
              <a:t>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Rectangle 36"/>
          <p:cNvSpPr/>
          <p:nvPr/>
        </p:nvSpPr>
        <p:spPr>
          <a:xfrm>
            <a:off x="5568840" y="2075760"/>
            <a:ext cx="209880" cy="273960"/>
          </a:xfrm>
          <a:prstGeom prst="rect">
            <a:avLst/>
          </a:prstGeom>
          <a:solidFill>
            <a:srgbClr val="192A52"/>
          </a:solidFill>
          <a:ln w="6480">
            <a:solidFill>
              <a:srgbClr val="192A52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37"/>
          <p:cNvSpPr/>
          <p:nvPr/>
        </p:nvSpPr>
        <p:spPr>
          <a:xfrm>
            <a:off x="5568840" y="2098800"/>
            <a:ext cx="209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Rectangle 38"/>
          <p:cNvSpPr/>
          <p:nvPr/>
        </p:nvSpPr>
        <p:spPr>
          <a:xfrm>
            <a:off x="5815440" y="2075760"/>
            <a:ext cx="209880" cy="273960"/>
          </a:xfrm>
          <a:prstGeom prst="rect">
            <a:avLst/>
          </a:prstGeom>
          <a:solidFill>
            <a:srgbClr val="FFFFFF"/>
          </a:solidFill>
          <a:ln w="6480">
            <a:solidFill>
              <a:srgbClr val="192A52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Box 39"/>
          <p:cNvSpPr/>
          <p:nvPr/>
        </p:nvSpPr>
        <p:spPr>
          <a:xfrm>
            <a:off x="5815440" y="2098800"/>
            <a:ext cx="209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900" b="1" u="none" strike="noStrike">
                <a:solidFill>
                  <a:srgbClr val="192A52"/>
                </a:solidFill>
                <a:effectLst/>
                <a:uFillTx/>
                <a:latin typeface="Arial"/>
              </a:rPr>
              <a:t>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Rectangle 40"/>
          <p:cNvSpPr/>
          <p:nvPr/>
        </p:nvSpPr>
        <p:spPr>
          <a:xfrm>
            <a:off x="6062400" y="2075760"/>
            <a:ext cx="209880" cy="273960"/>
          </a:xfrm>
          <a:prstGeom prst="rect">
            <a:avLst/>
          </a:prstGeom>
          <a:solidFill>
            <a:srgbClr val="192A52"/>
          </a:solidFill>
          <a:ln w="6480">
            <a:solidFill>
              <a:srgbClr val="192A52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Box 41"/>
          <p:cNvSpPr/>
          <p:nvPr/>
        </p:nvSpPr>
        <p:spPr>
          <a:xfrm>
            <a:off x="6062400" y="2098800"/>
            <a:ext cx="209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Rectangle 42"/>
          <p:cNvSpPr/>
          <p:nvPr/>
        </p:nvSpPr>
        <p:spPr>
          <a:xfrm>
            <a:off x="6309360" y="2075760"/>
            <a:ext cx="209880" cy="273960"/>
          </a:xfrm>
          <a:prstGeom prst="rect">
            <a:avLst/>
          </a:prstGeom>
          <a:solidFill>
            <a:srgbClr val="192A52"/>
          </a:solidFill>
          <a:ln w="6480">
            <a:solidFill>
              <a:srgbClr val="192A52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Box 43"/>
          <p:cNvSpPr/>
          <p:nvPr/>
        </p:nvSpPr>
        <p:spPr>
          <a:xfrm>
            <a:off x="6309360" y="2098800"/>
            <a:ext cx="209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Rectangle 44"/>
          <p:cNvSpPr/>
          <p:nvPr/>
        </p:nvSpPr>
        <p:spPr>
          <a:xfrm>
            <a:off x="6556320" y="2075760"/>
            <a:ext cx="209880" cy="273960"/>
          </a:xfrm>
          <a:prstGeom prst="rect">
            <a:avLst/>
          </a:prstGeom>
          <a:solidFill>
            <a:srgbClr val="FFFFFF"/>
          </a:solidFill>
          <a:ln w="6480">
            <a:solidFill>
              <a:srgbClr val="192A52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Box 45"/>
          <p:cNvSpPr/>
          <p:nvPr/>
        </p:nvSpPr>
        <p:spPr>
          <a:xfrm>
            <a:off x="6556320" y="2098800"/>
            <a:ext cx="209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900" b="1" u="none" strike="noStrike">
                <a:solidFill>
                  <a:srgbClr val="192A52"/>
                </a:solidFill>
                <a:effectLst/>
                <a:uFillTx/>
                <a:latin typeface="Arial"/>
              </a:rPr>
              <a:t>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Rectangle 46"/>
          <p:cNvSpPr/>
          <p:nvPr/>
        </p:nvSpPr>
        <p:spPr>
          <a:xfrm>
            <a:off x="6803280" y="2075760"/>
            <a:ext cx="209880" cy="273960"/>
          </a:xfrm>
          <a:prstGeom prst="rect">
            <a:avLst/>
          </a:prstGeom>
          <a:solidFill>
            <a:srgbClr val="192A52"/>
          </a:solidFill>
          <a:ln w="6480">
            <a:solidFill>
              <a:srgbClr val="192A52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Box 47"/>
          <p:cNvSpPr/>
          <p:nvPr/>
        </p:nvSpPr>
        <p:spPr>
          <a:xfrm>
            <a:off x="6803280" y="2098800"/>
            <a:ext cx="209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Rectangle 48"/>
          <p:cNvSpPr/>
          <p:nvPr/>
        </p:nvSpPr>
        <p:spPr>
          <a:xfrm>
            <a:off x="7049880" y="2075760"/>
            <a:ext cx="209880" cy="273960"/>
          </a:xfrm>
          <a:prstGeom prst="rect">
            <a:avLst/>
          </a:prstGeom>
          <a:solidFill>
            <a:srgbClr val="FFFFFF"/>
          </a:solidFill>
          <a:ln w="6480">
            <a:solidFill>
              <a:srgbClr val="192A52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Box 49"/>
          <p:cNvSpPr/>
          <p:nvPr/>
        </p:nvSpPr>
        <p:spPr>
          <a:xfrm>
            <a:off x="7049880" y="2098800"/>
            <a:ext cx="209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900" b="1" u="none" strike="noStrike">
                <a:solidFill>
                  <a:srgbClr val="192A52"/>
                </a:solidFill>
                <a:effectLst/>
                <a:uFillTx/>
                <a:latin typeface="Arial"/>
              </a:rPr>
              <a:t>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Box 50"/>
          <p:cNvSpPr/>
          <p:nvPr/>
        </p:nvSpPr>
        <p:spPr>
          <a:xfrm>
            <a:off x="7616880" y="1672200"/>
            <a:ext cx="456840" cy="48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600" b="1" u="none" strike="noStrike">
                <a:solidFill>
                  <a:srgbClr val="192A52"/>
                </a:solidFill>
                <a:effectLst/>
                <a:uFillTx/>
                <a:latin typeface="Arial"/>
              </a:rPr>
              <a:t>→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Rounded Rectangle 51"/>
          <p:cNvSpPr/>
          <p:nvPr/>
        </p:nvSpPr>
        <p:spPr>
          <a:xfrm>
            <a:off x="8101440" y="1234440"/>
            <a:ext cx="2742840" cy="14169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6480">
            <a:solidFill>
              <a:srgbClr val="E5E7EB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52"/>
          <p:cNvSpPr/>
          <p:nvPr/>
        </p:nvSpPr>
        <p:spPr>
          <a:xfrm>
            <a:off x="8266320" y="1367280"/>
            <a:ext cx="3196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192A52"/>
                </a:solidFill>
                <a:effectLst/>
                <a:uFillTx/>
                <a:latin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Box 53"/>
          <p:cNvSpPr/>
          <p:nvPr/>
        </p:nvSpPr>
        <p:spPr>
          <a:xfrm>
            <a:off x="8430840" y="1381320"/>
            <a:ext cx="233136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bit </a:t>
            </a:r>
            <a:r>
              <a:rPr lang="zh-CN" sz="15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확인 → </a:t>
            </a: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membership </a:t>
            </a:r>
            <a:r>
              <a:rPr lang="zh-CN" sz="15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판단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Box 54"/>
          <p:cNvSpPr/>
          <p:nvPr/>
        </p:nvSpPr>
        <p:spPr>
          <a:xfrm>
            <a:off x="8449200" y="1883160"/>
            <a:ext cx="201132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CN" sz="1150" b="1" u="none" strike="noStrike">
                <a:solidFill>
                  <a:srgbClr val="192A52"/>
                </a:solidFill>
                <a:effectLst/>
                <a:uFillTx/>
                <a:latin typeface="Arial"/>
              </a:rPr>
              <a:t>하나라도 </a:t>
            </a:r>
            <a:r>
              <a:rPr lang="en-US" sz="1150" b="1" u="none" strike="noStrike">
                <a:solidFill>
                  <a:srgbClr val="192A52"/>
                </a:solidFill>
                <a:effectLst/>
                <a:uFillTx/>
                <a:latin typeface="Arial"/>
              </a:rPr>
              <a:t>0  →  </a:t>
            </a:r>
            <a:r>
              <a:rPr lang="zh-CN" sz="1150" b="1" u="none" strike="noStrike">
                <a:solidFill>
                  <a:srgbClr val="192A52"/>
                </a:solidFill>
                <a:effectLst/>
                <a:uFillTx/>
                <a:latin typeface="Arial"/>
              </a:rPr>
              <a:t>확실히 없음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55"/>
          <p:cNvSpPr/>
          <p:nvPr/>
        </p:nvSpPr>
        <p:spPr>
          <a:xfrm>
            <a:off x="8449200" y="2139120"/>
            <a:ext cx="2011320" cy="2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CN" sz="1150" b="1" u="none" strike="noStrike">
                <a:solidFill>
                  <a:srgbClr val="192A52"/>
                </a:solidFill>
                <a:effectLst/>
                <a:uFillTx/>
                <a:latin typeface="Arial"/>
              </a:rPr>
              <a:t>전부 </a:t>
            </a:r>
            <a:r>
              <a:rPr lang="en-US" sz="1150" b="1" u="none" strike="noStrike">
                <a:solidFill>
                  <a:srgbClr val="192A52"/>
                </a:solidFill>
                <a:effectLst/>
                <a:uFillTx/>
                <a:latin typeface="Arial"/>
              </a:rPr>
              <a:t>1  →  </a:t>
            </a:r>
            <a:r>
              <a:rPr lang="zh-CN" sz="1150" b="1" u="none" strike="noStrike">
                <a:solidFill>
                  <a:srgbClr val="192A52"/>
                </a:solidFill>
                <a:effectLst/>
                <a:uFillTx/>
                <a:latin typeface="Arial"/>
              </a:rPr>
              <a:t>아마 있음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Rounded Rectangle 56"/>
          <p:cNvSpPr/>
          <p:nvPr/>
        </p:nvSpPr>
        <p:spPr>
          <a:xfrm>
            <a:off x="1920240" y="3063240"/>
            <a:ext cx="8924040" cy="1352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480">
            <a:solidFill>
              <a:srgbClr val="E5E7EB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Box 57"/>
          <p:cNvSpPr/>
          <p:nvPr/>
        </p:nvSpPr>
        <p:spPr>
          <a:xfrm>
            <a:off x="2176200" y="3278520"/>
            <a:ext cx="56664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CN" sz="1500" b="1" u="none" strike="noStrike">
                <a:solidFill>
                  <a:srgbClr val="192A52"/>
                </a:solidFill>
                <a:effectLst/>
                <a:uFillTx/>
                <a:latin typeface="Arial"/>
              </a:rPr>
              <a:t>핵심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58"/>
          <p:cNvSpPr/>
          <p:nvPr/>
        </p:nvSpPr>
        <p:spPr>
          <a:xfrm>
            <a:off x="2880360" y="3128760"/>
            <a:ext cx="7634880" cy="60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zh-CN" sz="17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원문 문자열을 전부 저장하는 대신</a:t>
            </a:r>
            <a:r>
              <a:rPr lang="en-US" sz="17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, “</a:t>
            </a:r>
            <a:r>
              <a:rPr lang="zh-CN" sz="17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이 </a:t>
            </a:r>
            <a:r>
              <a:rPr lang="en-US" sz="17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8-gram</a:t>
            </a:r>
            <a:r>
              <a:rPr lang="zh-CN" sz="17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을 본 적이 있는가</a:t>
            </a:r>
            <a:r>
              <a:rPr lang="en-US" sz="17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?”</a:t>
            </a:r>
            <a:r>
              <a:rPr lang="zh-CN" sz="17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라는 흔적만 비트 배열에 저장한다</a:t>
            </a:r>
            <a:r>
              <a:rPr lang="en-US" sz="1700" b="1" u="none" strike="noStrike">
                <a:solidFill>
                  <a:srgbClr val="111827"/>
                </a:solidFill>
                <a:effectLst/>
                <a:uFillTx/>
                <a:latin typeface="Arial"/>
              </a:rPr>
              <a:t>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Box 59"/>
          <p:cNvSpPr/>
          <p:nvPr/>
        </p:nvSpPr>
        <p:spPr>
          <a:xfrm>
            <a:off x="2880360" y="3742920"/>
            <a:ext cx="763488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6B7280"/>
                </a:solidFill>
                <a:effectLst/>
                <a:uFillTx/>
                <a:latin typeface="Arial"/>
              </a:rPr>
              <a:t>Bloom Filter</a:t>
            </a:r>
            <a:r>
              <a:rPr lang="zh-CN" sz="1400" b="0" u="none" strike="noStrike">
                <a:solidFill>
                  <a:srgbClr val="6B7280"/>
                </a:solidFill>
                <a:effectLst/>
                <a:uFillTx/>
                <a:latin typeface="Arial"/>
              </a:rPr>
              <a:t>는 </a:t>
            </a:r>
            <a:r>
              <a:rPr lang="en-US" sz="1400" b="0" u="none" strike="noStrike">
                <a:solidFill>
                  <a:srgbClr val="6B7280"/>
                </a:solidFill>
                <a:effectLst/>
                <a:uFillTx/>
                <a:latin typeface="Arial"/>
              </a:rPr>
              <a:t>false positive</a:t>
            </a:r>
            <a:r>
              <a:rPr lang="zh-CN" sz="1400" b="0" u="none" strike="noStrike">
                <a:solidFill>
                  <a:srgbClr val="6B7280"/>
                </a:solidFill>
                <a:effectLst/>
                <a:uFillTx/>
                <a:latin typeface="Arial"/>
              </a:rPr>
              <a:t>가 가능하지만</a:t>
            </a:r>
            <a:r>
              <a:rPr lang="en-US" sz="1400" b="0" u="none" strike="noStrike">
                <a:solidFill>
                  <a:srgbClr val="6B7280"/>
                </a:solidFill>
                <a:effectLst/>
                <a:uFillTx/>
                <a:latin typeface="Arial"/>
              </a:rPr>
              <a:t>, GPT-2 </a:t>
            </a:r>
            <a:r>
              <a:rPr lang="zh-CN" sz="1400" b="0" u="none" strike="noStrike">
                <a:solidFill>
                  <a:srgbClr val="6B7280"/>
                </a:solidFill>
                <a:effectLst/>
                <a:uFillTx/>
                <a:latin typeface="Arial"/>
              </a:rPr>
              <a:t>논문은 그 상한을 </a:t>
            </a:r>
            <a:r>
              <a:rPr lang="en-US" sz="1400" b="0" u="none" strike="noStrike">
                <a:solidFill>
                  <a:srgbClr val="6B7280"/>
                </a:solidFill>
                <a:effectLst/>
                <a:uFillTx/>
                <a:latin typeface="Arial"/>
              </a:rPr>
              <a:t>10⁻⁸</a:t>
            </a:r>
            <a:r>
              <a:rPr lang="zh-CN" sz="1400" b="0" u="none" strike="noStrike">
                <a:solidFill>
                  <a:srgbClr val="6B7280"/>
                </a:solidFill>
                <a:effectLst/>
                <a:uFillTx/>
                <a:latin typeface="Arial"/>
              </a:rPr>
              <a:t>로 매우 작게 설정했다</a:t>
            </a:r>
            <a:r>
              <a:rPr lang="en-US" sz="1400" b="0" u="none" strike="noStrike">
                <a:solidFill>
                  <a:srgbClr val="6B7280"/>
                </a:solidFill>
                <a:effectLst/>
                <a:uFillTx/>
                <a:latin typeface="Arial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Rounded Rectangle 60"/>
          <p:cNvSpPr/>
          <p:nvPr/>
        </p:nvSpPr>
        <p:spPr>
          <a:xfrm>
            <a:off x="1920240" y="4800600"/>
            <a:ext cx="8924040" cy="868320"/>
          </a:xfrm>
          <a:prstGeom prst="roundRect">
            <a:avLst>
              <a:gd name="adj" fmla="val 16667"/>
            </a:avLst>
          </a:prstGeom>
          <a:solidFill>
            <a:srgbClr val="192A52"/>
          </a:solidFill>
          <a:ln w="6480">
            <a:solidFill>
              <a:srgbClr val="192A52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61"/>
          <p:cNvSpPr/>
          <p:nvPr/>
        </p:nvSpPr>
        <p:spPr>
          <a:xfrm>
            <a:off x="2240280" y="4947120"/>
            <a:ext cx="827496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CN" sz="15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이 슬라이드에서 필요한 이해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:  “WebText</a:t>
            </a:r>
            <a:r>
              <a:rPr lang="zh-CN" sz="15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의 수많은 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8-gram</a:t>
            </a:r>
            <a:r>
              <a:rPr lang="zh-CN" sz="15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과 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benchmark 8-gram</a:t>
            </a:r>
            <a:r>
              <a:rPr lang="zh-CN" sz="15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의 중복 여부를 메모리 효율적으로 빠르게 확인한 도구”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Box 62"/>
          <p:cNvSpPr/>
          <p:nvPr/>
        </p:nvSpPr>
        <p:spPr>
          <a:xfrm>
            <a:off x="8092440" y="6428232"/>
            <a:ext cx="3246120" cy="164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750" b="0" u="none" strike="noStrike">
                <a:solidFill>
                  <a:srgbClr val="6B7280"/>
                </a:solidFill>
                <a:effectLst/>
                <a:uFillTx/>
                <a:latin typeface="Arial"/>
              </a:rPr>
              <a:t>Radford et al. (2019), Sec.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hape 0"/>
          <p:cNvSpPr/>
          <p:nvPr/>
        </p:nvSpPr>
        <p:spPr>
          <a:xfrm>
            <a:off x="0" y="0"/>
            <a:ext cx="1444320" cy="6857640"/>
          </a:xfrm>
          <a:prstGeom prst="rect">
            <a:avLst/>
          </a:prstGeom>
          <a:solidFill>
            <a:srgbClr val="192A52"/>
          </a:solidFill>
          <a:ln w="12600">
            <a:solidFill>
              <a:srgbClr val="192A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1"/>
          <p:cNvSpPr/>
          <p:nvPr/>
        </p:nvSpPr>
        <p:spPr>
          <a:xfrm>
            <a:off x="164520" y="155160"/>
            <a:ext cx="360" cy="2606040"/>
          </a:xfrm>
          <a:prstGeom prst="line">
            <a:avLst/>
          </a:prstGeom>
          <a:ln w="1404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2"/>
          <p:cNvSpPr/>
          <p:nvPr/>
        </p:nvSpPr>
        <p:spPr>
          <a:xfrm rot="16200000">
            <a:off x="-45360" y="2880720"/>
            <a:ext cx="15084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 Black"/>
              </a:rPr>
              <a:t>CUAI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3"/>
          <p:cNvSpPr/>
          <p:nvPr/>
        </p:nvSpPr>
        <p:spPr>
          <a:xfrm>
            <a:off x="1828800" y="43884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4</a:t>
            </a:r>
            <a:r>
              <a:rPr lang="zh-CN" sz="24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절 결론</a:t>
            </a:r>
            <a:r>
              <a:rPr lang="en-US" sz="24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: overlap</a:t>
            </a:r>
            <a:r>
              <a:rPr lang="zh-CN" sz="24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은 있지만</a:t>
            </a:r>
            <a:r>
              <a:rPr lang="en-US" sz="24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lang="zh-CN" sz="24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전체 성능을 “암기”로 설명하긴 어렵다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4"/>
          <p:cNvSpPr/>
          <p:nvPr/>
        </p:nvSpPr>
        <p:spPr>
          <a:xfrm>
            <a:off x="10469880" y="47556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Analysis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6" name="Image 0" descr="/mnt/data/2bea6f7a-b05d-4ca1-86a3-75686466522c.png"/>
          <p:cNvPicPr/>
          <p:nvPr/>
        </p:nvPicPr>
        <p:blipFill>
          <a:blip r:embed="rId3"/>
          <a:stretch/>
        </p:blipFill>
        <p:spPr>
          <a:xfrm>
            <a:off x="1965960" y="1078920"/>
            <a:ext cx="4800240" cy="146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7" name="Shape 5"/>
          <p:cNvSpPr/>
          <p:nvPr/>
        </p:nvSpPr>
        <p:spPr>
          <a:xfrm>
            <a:off x="1965960" y="2880360"/>
            <a:ext cx="2057040" cy="959760"/>
          </a:xfrm>
          <a:prstGeom prst="roundRect">
            <a:avLst>
              <a:gd name="adj" fmla="val 7619"/>
            </a:avLst>
          </a:prstGeom>
          <a:solidFill>
            <a:srgbClr val="EFF6FF"/>
          </a:solidFill>
          <a:ln w="1404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6"/>
          <p:cNvSpPr/>
          <p:nvPr/>
        </p:nvSpPr>
        <p:spPr>
          <a:xfrm>
            <a:off x="2057400" y="2971800"/>
            <a:ext cx="1874160" cy="40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3B82F6"/>
                </a:solidFill>
                <a:effectLst/>
                <a:uFillTx/>
                <a:latin typeface="Arial"/>
                <a:ea typeface="Arial"/>
              </a:rPr>
              <a:t>3.2%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7"/>
          <p:cNvSpPr/>
          <p:nvPr/>
        </p:nvSpPr>
        <p:spPr>
          <a:xfrm>
            <a:off x="2075760" y="3427560"/>
            <a:ext cx="1837440" cy="23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WebText train </a:t>
            </a:r>
            <a:r>
              <a:rPr lang="zh-CN" sz="103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평균 </a:t>
            </a:r>
            <a:r>
              <a:rPr lang="en-US" sz="103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overlap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8"/>
          <p:cNvSpPr/>
          <p:nvPr/>
        </p:nvSpPr>
        <p:spPr>
          <a:xfrm>
            <a:off x="4251960" y="2880360"/>
            <a:ext cx="2057040" cy="959760"/>
          </a:xfrm>
          <a:prstGeom prst="roundRect">
            <a:avLst>
              <a:gd name="adj" fmla="val 7619"/>
            </a:avLst>
          </a:prstGeom>
          <a:solidFill>
            <a:srgbClr val="EEF2FF"/>
          </a:solidFill>
          <a:ln w="14040">
            <a:solidFill>
              <a:srgbClr val="192A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9"/>
          <p:cNvSpPr/>
          <p:nvPr/>
        </p:nvSpPr>
        <p:spPr>
          <a:xfrm>
            <a:off x="4343400" y="2971800"/>
            <a:ext cx="1874160" cy="40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5.9%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0"/>
          <p:cNvSpPr/>
          <p:nvPr/>
        </p:nvSpPr>
        <p:spPr>
          <a:xfrm>
            <a:off x="4361760" y="3427560"/>
            <a:ext cx="1837440" cy="23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3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자기 </a:t>
            </a:r>
            <a:r>
              <a:rPr lang="en-US" sz="103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Dataset train </a:t>
            </a:r>
            <a:r>
              <a:rPr lang="zh-CN" sz="103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평균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11"/>
          <p:cNvSpPr/>
          <p:nvPr/>
        </p:nvSpPr>
        <p:spPr>
          <a:xfrm>
            <a:off x="1965960" y="4160520"/>
            <a:ext cx="4800240" cy="1051200"/>
          </a:xfrm>
          <a:prstGeom prst="roundRect">
            <a:avLst>
              <a:gd name="adj" fmla="val 6957"/>
            </a:avLst>
          </a:prstGeom>
          <a:solidFill>
            <a:srgbClr val="FFF7E6"/>
          </a:solidFill>
          <a:ln w="1404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12"/>
          <p:cNvSpPr/>
          <p:nvPr/>
        </p:nvSpPr>
        <p:spPr>
          <a:xfrm>
            <a:off x="2240280" y="4416480"/>
            <a:ext cx="1645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59E0B"/>
                </a:solidFill>
                <a:effectLst/>
                <a:uFillTx/>
                <a:latin typeface="Arial"/>
                <a:ea typeface="Arial"/>
              </a:rPr>
              <a:t>LAMBADA overlap </a:t>
            </a:r>
            <a:r>
              <a:rPr lang="zh-CN" sz="1300" b="1" u="none" strike="noStrike">
                <a:solidFill>
                  <a:srgbClr val="F59E0B"/>
                </a:solidFill>
                <a:effectLst/>
                <a:uFillTx/>
                <a:latin typeface="Arial"/>
                <a:ea typeface="Arial"/>
              </a:rPr>
              <a:t>제거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13"/>
          <p:cNvSpPr/>
          <p:nvPr/>
        </p:nvSpPr>
        <p:spPr>
          <a:xfrm>
            <a:off x="3794760" y="437076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ACC 63.2 → 62.9%   ·   PPL 8.6 → 8.7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6" name="Image 1" descr="/mnt/data/gpt2_assets/figure4_underfit_tight.png"/>
          <p:cNvPicPr/>
          <p:nvPr/>
        </p:nvPicPr>
        <p:blipFill>
          <a:blip r:embed="rId4"/>
          <a:stretch/>
        </p:blipFill>
        <p:spPr>
          <a:xfrm>
            <a:off x="7113960" y="1170360"/>
            <a:ext cx="3565800" cy="233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7" name="Text 14"/>
          <p:cNvSpPr/>
          <p:nvPr/>
        </p:nvSpPr>
        <p:spPr>
          <a:xfrm>
            <a:off x="7269480" y="3584520"/>
            <a:ext cx="32457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WebText train / test perplexity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15"/>
          <p:cNvSpPr/>
          <p:nvPr/>
        </p:nvSpPr>
        <p:spPr>
          <a:xfrm>
            <a:off x="6949440" y="4114800"/>
            <a:ext cx="3794400" cy="1234080"/>
          </a:xfrm>
          <a:prstGeom prst="roundRect">
            <a:avLst>
              <a:gd name="adj" fmla="val 5926"/>
            </a:avLst>
          </a:prstGeom>
          <a:solidFill>
            <a:srgbClr val="192A52"/>
          </a:solidFill>
          <a:ln w="12600">
            <a:solidFill>
              <a:srgbClr val="192A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16"/>
          <p:cNvSpPr/>
          <p:nvPr/>
        </p:nvSpPr>
        <p:spPr>
          <a:xfrm>
            <a:off x="7223760" y="4370760"/>
            <a:ext cx="639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50" b="1" u="none" strike="noStrike">
                <a:solidFill>
                  <a:srgbClr val="BED0FF"/>
                </a:solidFill>
                <a:effectLst/>
                <a:uFillTx/>
                <a:latin typeface="Arial"/>
                <a:ea typeface="Arial"/>
              </a:rPr>
              <a:t>해석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17"/>
          <p:cNvSpPr/>
          <p:nvPr/>
        </p:nvSpPr>
        <p:spPr>
          <a:xfrm>
            <a:off x="7818120" y="4142232"/>
            <a:ext cx="2605680" cy="932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fontScale="92500" lnSpcReduction="10000"/>
          </a:bodyPr>
          <a:lstStyle/>
          <a:p>
            <a:pPr defTabSz="914400">
              <a:lnSpc>
                <a:spcPct val="110000"/>
              </a:lnSpc>
              <a:spcAft>
                <a:spcPts val="200"/>
              </a:spcAft>
              <a:tabLst>
                <a:tab pos="0" algn="l"/>
              </a:tabLst>
            </a:pPr>
            <a:r>
              <a:rPr lang="zh-CN" sz="117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중복은 성능에 작은 이득을 주지만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Aft>
                <a:spcPts val="200"/>
              </a:spcAft>
              <a:tabLst>
                <a:tab pos="0" algn="l"/>
              </a:tabLst>
            </a:pPr>
            <a:r>
              <a:rPr lang="en-US" sz="117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train/test</a:t>
            </a:r>
            <a:r>
              <a:rPr lang="zh-CN" sz="117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가 함께 좋아져 가장 큰 </a:t>
            </a:r>
            <a:r>
              <a:rPr lang="en-US" sz="117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GPT-2</a:t>
            </a:r>
            <a:r>
              <a:rPr lang="zh-CN" sz="117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도 </a:t>
            </a:r>
            <a:r>
              <a:rPr lang="en-US" sz="117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underfit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Aft>
                <a:spcPts val="200"/>
              </a:spcAft>
              <a:tabLst>
                <a:tab pos="0" algn="l"/>
              </a:tabLst>
            </a:pPr>
            <a:r>
              <a:rPr lang="en-US" sz="117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→ 단순 memorization</a:t>
            </a:r>
            <a:r>
              <a:rPr lang="zh-CN" sz="117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만으로 설명하기 어려움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18"/>
          <p:cNvSpPr/>
          <p:nvPr/>
        </p:nvSpPr>
        <p:spPr>
          <a:xfrm>
            <a:off x="8092440" y="6428232"/>
            <a:ext cx="3246120" cy="164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  <a:ea typeface="Arial"/>
              </a:rPr>
              <a:t>Radford et al. (2019), Sec. 4, Table 6, Fig. 4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1"/>
          <p:cNvSpPr>
            <a:spLocks noGrp="1"/>
          </p:cNvSpPr>
          <p:nvPr>
            <p:ph type="sldNum" idx="17"/>
          </p:nvPr>
        </p:nvSpPr>
        <p:spPr>
          <a:xfrm>
            <a:off x="11631168" y="6492240"/>
            <a:ext cx="41148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9CA3A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  <a:ea typeface="Arial"/>
              </a:rPr>
              <a:t>13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Shape 0"/>
          <p:cNvSpPr/>
          <p:nvPr/>
        </p:nvSpPr>
        <p:spPr>
          <a:xfrm>
            <a:off x="0" y="0"/>
            <a:ext cx="1444320" cy="6857640"/>
          </a:xfrm>
          <a:prstGeom prst="rect">
            <a:avLst/>
          </a:prstGeom>
          <a:solidFill>
            <a:srgbClr val="192A52"/>
          </a:solidFill>
          <a:ln w="12600">
            <a:solidFill>
              <a:srgbClr val="192A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1"/>
          <p:cNvSpPr/>
          <p:nvPr/>
        </p:nvSpPr>
        <p:spPr>
          <a:xfrm>
            <a:off x="164520" y="155160"/>
            <a:ext cx="360" cy="2606040"/>
          </a:xfrm>
          <a:prstGeom prst="line">
            <a:avLst/>
          </a:prstGeom>
          <a:ln w="1404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2"/>
          <p:cNvSpPr/>
          <p:nvPr/>
        </p:nvSpPr>
        <p:spPr>
          <a:xfrm rot="16200000">
            <a:off x="-45360" y="2880720"/>
            <a:ext cx="15084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 Black"/>
              </a:rPr>
              <a:t>CUAI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3"/>
          <p:cNvSpPr/>
          <p:nvPr/>
        </p:nvSpPr>
        <p:spPr>
          <a:xfrm>
            <a:off x="1828800" y="438840"/>
            <a:ext cx="8960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Discussion &amp; Conclusion: GPT-2</a:t>
            </a:r>
            <a:r>
              <a:rPr lang="zh-CN" sz="24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가 남긴 건 “완성된 성능”보다 방향성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4"/>
          <p:cNvSpPr/>
          <p:nvPr/>
        </p:nvSpPr>
        <p:spPr>
          <a:xfrm>
            <a:off x="10469880" y="47556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B7280"/>
                </a:solidFill>
                <a:effectLst/>
                <a:uFillTx/>
                <a:latin typeface="Arial"/>
                <a:ea typeface="Arial"/>
              </a:rPr>
              <a:t>Conclusion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5"/>
          <p:cNvSpPr/>
          <p:nvPr/>
        </p:nvSpPr>
        <p:spPr>
          <a:xfrm>
            <a:off x="1965960" y="1143000"/>
            <a:ext cx="2605680" cy="1965600"/>
          </a:xfrm>
          <a:prstGeom prst="roundRect">
            <a:avLst>
              <a:gd name="adj" fmla="val 3721"/>
            </a:avLst>
          </a:prstGeom>
          <a:solidFill>
            <a:srgbClr val="EEF2FF"/>
          </a:solidFill>
          <a:ln w="14040">
            <a:solidFill>
              <a:srgbClr val="192A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6"/>
          <p:cNvSpPr/>
          <p:nvPr/>
        </p:nvSpPr>
        <p:spPr>
          <a:xfrm>
            <a:off x="2103120" y="135324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7"/>
          <p:cNvSpPr/>
          <p:nvPr/>
        </p:nvSpPr>
        <p:spPr>
          <a:xfrm>
            <a:off x="2130480" y="1828800"/>
            <a:ext cx="2276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General LM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8"/>
          <p:cNvSpPr/>
          <p:nvPr/>
        </p:nvSpPr>
        <p:spPr>
          <a:xfrm>
            <a:off x="2212848" y="2258640"/>
            <a:ext cx="2103120" cy="5303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lnSpcReduction="10000"/>
          </a:bodyPr>
          <a:lstStyle/>
          <a:p>
            <a:pPr algn="ctr">
              <a:lnSpc>
                <a:spcPct val="105000"/>
              </a:lnSpc>
            </a:pPr>
            <a:r>
              <a:rPr sz="1210">
                <a:latin typeface="Arial"/>
              </a:rPr>
              <a:t>WebText 하나로 여러 LM domain에</a:t>
            </a:r>
          </a:p>
          <a:p>
            <a:pPr algn="ctr">
              <a:lnSpc>
                <a:spcPct val="105000"/>
              </a:lnSpc>
            </a:pPr>
            <a:r>
              <a:rPr sz="1210">
                <a:latin typeface="Arial"/>
              </a:rPr>
              <a:t>zero-shot transfer</a:t>
            </a:r>
          </a:p>
        </p:txBody>
      </p:sp>
      <p:sp>
        <p:nvSpPr>
          <p:cNvPr id="382" name="Shape 9"/>
          <p:cNvSpPr/>
          <p:nvPr/>
        </p:nvSpPr>
        <p:spPr>
          <a:xfrm>
            <a:off x="4846320" y="1143000"/>
            <a:ext cx="2605680" cy="196560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14040">
            <a:solidFill>
              <a:srgbClr val="3B8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0"/>
          <p:cNvSpPr/>
          <p:nvPr/>
        </p:nvSpPr>
        <p:spPr>
          <a:xfrm>
            <a:off x="4983480" y="135324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3B82F6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11"/>
          <p:cNvSpPr/>
          <p:nvPr/>
        </p:nvSpPr>
        <p:spPr>
          <a:xfrm>
            <a:off x="5010840" y="1828800"/>
            <a:ext cx="2276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B82F6"/>
                </a:solidFill>
                <a:effectLst/>
                <a:uFillTx/>
                <a:latin typeface="Arial"/>
                <a:ea typeface="Arial"/>
              </a:rPr>
              <a:t>Task induction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12"/>
          <p:cNvSpPr/>
          <p:nvPr/>
        </p:nvSpPr>
        <p:spPr>
          <a:xfrm>
            <a:off x="5047488" y="2258640"/>
            <a:ext cx="2212848" cy="5303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</a:pPr>
            <a:r>
              <a:rPr sz="1180">
                <a:latin typeface="Arial"/>
              </a:rPr>
              <a:t>context pattern만으로</a:t>
            </a:r>
          </a:p>
          <a:p>
            <a:pPr algn="ctr">
              <a:lnSpc>
                <a:spcPct val="105000"/>
              </a:lnSpc>
            </a:pPr>
            <a:r>
              <a:rPr sz="1180">
                <a:latin typeface="Arial"/>
              </a:rPr>
              <a:t>요약·번역·QA behavior 호출</a:t>
            </a:r>
          </a:p>
        </p:txBody>
      </p:sp>
      <p:sp>
        <p:nvSpPr>
          <p:cNvPr id="386" name="Shape 13"/>
          <p:cNvSpPr/>
          <p:nvPr/>
        </p:nvSpPr>
        <p:spPr>
          <a:xfrm>
            <a:off x="7726680" y="1143000"/>
            <a:ext cx="2605680" cy="1965600"/>
          </a:xfrm>
          <a:prstGeom prst="roundRect">
            <a:avLst>
              <a:gd name="adj" fmla="val 3721"/>
            </a:avLst>
          </a:prstGeom>
          <a:solidFill>
            <a:srgbClr val="FFF7E6"/>
          </a:solidFill>
          <a:ln w="1404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14"/>
          <p:cNvSpPr/>
          <p:nvPr/>
        </p:nvSpPr>
        <p:spPr>
          <a:xfrm>
            <a:off x="7863840" y="135324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59E0B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15"/>
          <p:cNvSpPr/>
          <p:nvPr/>
        </p:nvSpPr>
        <p:spPr>
          <a:xfrm>
            <a:off x="7891200" y="1828800"/>
            <a:ext cx="2276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59E0B"/>
                </a:solidFill>
                <a:effectLst/>
                <a:uFillTx/>
                <a:latin typeface="Arial"/>
                <a:ea typeface="Arial"/>
              </a:rPr>
              <a:t>Scaling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6"/>
          <p:cNvSpPr/>
          <p:nvPr/>
        </p:nvSpPr>
        <p:spPr>
          <a:xfrm>
            <a:off x="7936992" y="2258640"/>
            <a:ext cx="2176272" cy="5303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 lnSpcReduction="10000"/>
          </a:bodyPr>
          <a:lstStyle/>
          <a:p>
            <a:pPr algn="ctr">
              <a:lnSpc>
                <a:spcPct val="105000"/>
              </a:lnSpc>
            </a:pPr>
            <a:r>
              <a:rPr sz="1180">
                <a:latin typeface="Arial"/>
              </a:rPr>
              <a:t>117M → 1.542B에서 여러 능력이</a:t>
            </a:r>
          </a:p>
          <a:p>
            <a:pPr algn="ctr">
              <a:lnSpc>
                <a:spcPct val="105000"/>
              </a:lnSpc>
            </a:pPr>
            <a:r>
              <a:rPr sz="1180">
                <a:latin typeface="Arial"/>
              </a:rPr>
              <a:t>함께 개선</a:t>
            </a:r>
          </a:p>
        </p:txBody>
      </p:sp>
      <p:sp>
        <p:nvSpPr>
          <p:cNvPr id="390" name="Text 17"/>
          <p:cNvSpPr/>
          <p:nvPr/>
        </p:nvSpPr>
        <p:spPr>
          <a:xfrm>
            <a:off x="1965960" y="356616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하지만 저자들도 인정한 것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18"/>
          <p:cNvSpPr/>
          <p:nvPr/>
        </p:nvSpPr>
        <p:spPr>
          <a:xfrm>
            <a:off x="1965960" y="4087440"/>
            <a:ext cx="72720" cy="72720"/>
          </a:xfrm>
          <a:prstGeom prst="ellipse">
            <a:avLst/>
          </a:prstGeom>
          <a:solidFill>
            <a:srgbClr val="E45757"/>
          </a:solidFill>
          <a:ln w="12600">
            <a:solidFill>
              <a:srgbClr val="E457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9"/>
          <p:cNvSpPr/>
          <p:nvPr/>
        </p:nvSpPr>
        <p:spPr>
          <a:xfrm>
            <a:off x="2130480" y="3977640"/>
            <a:ext cx="39499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요약</a:t>
            </a:r>
            <a:r>
              <a:rPr lang="en-US" sz="12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·</a:t>
            </a:r>
            <a:r>
              <a:rPr lang="zh-CN" sz="12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번역</a:t>
            </a:r>
            <a:r>
              <a:rPr lang="en-US" sz="12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·QA</a:t>
            </a:r>
            <a:r>
              <a:rPr lang="zh-CN" sz="12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의 </a:t>
            </a:r>
            <a:r>
              <a:rPr lang="en-US" sz="12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practical performance</a:t>
            </a:r>
            <a:r>
              <a:rPr lang="zh-CN" sz="12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는 아직 낮음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20"/>
          <p:cNvSpPr/>
          <p:nvPr/>
        </p:nvSpPr>
        <p:spPr>
          <a:xfrm>
            <a:off x="1965960" y="4636080"/>
            <a:ext cx="72720" cy="72720"/>
          </a:xfrm>
          <a:prstGeom prst="ellipse">
            <a:avLst/>
          </a:prstGeom>
          <a:solidFill>
            <a:srgbClr val="E45757"/>
          </a:solidFill>
          <a:ln w="12600">
            <a:solidFill>
              <a:srgbClr val="E457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21"/>
          <p:cNvSpPr/>
          <p:nvPr/>
        </p:nvSpPr>
        <p:spPr>
          <a:xfrm>
            <a:off x="2130480" y="4526280"/>
            <a:ext cx="39499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평가하지 않은 </a:t>
            </a:r>
            <a:r>
              <a:rPr lang="en-US" sz="12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task</a:t>
            </a:r>
            <a:r>
              <a:rPr lang="zh-CN" sz="12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에서 </a:t>
            </a:r>
            <a:r>
              <a:rPr lang="en-US" sz="12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random </a:t>
            </a:r>
            <a:r>
              <a:rPr lang="zh-CN" sz="12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수준일 가능성도 큼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22"/>
          <p:cNvSpPr/>
          <p:nvPr/>
        </p:nvSpPr>
        <p:spPr>
          <a:xfrm>
            <a:off x="1965960" y="5184720"/>
            <a:ext cx="72720" cy="72720"/>
          </a:xfrm>
          <a:prstGeom prst="ellipse">
            <a:avLst/>
          </a:prstGeom>
          <a:solidFill>
            <a:srgbClr val="E45757"/>
          </a:solidFill>
          <a:ln w="12600">
            <a:solidFill>
              <a:srgbClr val="E457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23"/>
          <p:cNvSpPr/>
          <p:nvPr/>
        </p:nvSpPr>
        <p:spPr>
          <a:xfrm>
            <a:off x="2130480" y="5074920"/>
            <a:ext cx="39499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BERT</a:t>
            </a:r>
            <a:r>
              <a:rPr lang="zh-CN" sz="12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의 </a:t>
            </a:r>
            <a:r>
              <a:rPr lang="en-US" sz="12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bidirectional representation </a:t>
            </a:r>
            <a:r>
              <a:rPr lang="zh-CN" sz="125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대비 한계도 불명확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24"/>
          <p:cNvSpPr/>
          <p:nvPr/>
        </p:nvSpPr>
        <p:spPr>
          <a:xfrm>
            <a:off x="6446520" y="3703320"/>
            <a:ext cx="4114440" cy="1919880"/>
          </a:xfrm>
          <a:prstGeom prst="roundRect">
            <a:avLst>
              <a:gd name="adj" fmla="val 3810"/>
            </a:avLst>
          </a:prstGeom>
          <a:solidFill>
            <a:srgbClr val="192A52"/>
          </a:solidFill>
          <a:ln w="12600">
            <a:solidFill>
              <a:srgbClr val="192A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26"/>
          <p:cNvSpPr/>
          <p:nvPr/>
        </p:nvSpPr>
        <p:spPr>
          <a:xfrm>
            <a:off x="6812280" y="4315968"/>
            <a:ext cx="3428640" cy="6949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8000"/>
              </a:lnSpc>
              <a:spcAft>
                <a:spcPts val="200"/>
              </a:spcAft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“방법이 틀린 게 아니라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8000"/>
              </a:lnSpc>
              <a:spcAft>
                <a:spcPts val="200"/>
              </a:spcAft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scale</a:t>
            </a:r>
            <a:r>
              <a:rPr lang="zh-CN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이 아직 부족한 것이라면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?”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28"/>
          <p:cNvSpPr/>
          <p:nvPr/>
        </p:nvSpPr>
        <p:spPr>
          <a:xfrm>
            <a:off x="8092440" y="6428232"/>
            <a:ext cx="3246120" cy="1645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  <a:ea typeface="Arial"/>
              </a:rPr>
              <a:t>Radford et al. (2019), Sec. 5–7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PlaceHolder 1"/>
          <p:cNvSpPr>
            <a:spLocks noGrp="1"/>
          </p:cNvSpPr>
          <p:nvPr>
            <p:ph type="sldNum" idx="18"/>
          </p:nvPr>
        </p:nvSpPr>
        <p:spPr>
          <a:xfrm>
            <a:off x="11631168" y="6492240"/>
            <a:ext cx="41148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9CA3A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  <a:ea typeface="Arial"/>
              </a:rPr>
              <a:t>14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Shape 0"/>
          <p:cNvSpPr/>
          <p:nvPr/>
        </p:nvSpPr>
        <p:spPr>
          <a:xfrm>
            <a:off x="0" y="0"/>
            <a:ext cx="1444320" cy="6857640"/>
          </a:xfrm>
          <a:prstGeom prst="rect">
            <a:avLst/>
          </a:prstGeom>
          <a:solidFill>
            <a:srgbClr val="192A52"/>
          </a:solidFill>
          <a:ln w="12600">
            <a:solidFill>
              <a:srgbClr val="192A5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1"/>
          <p:cNvSpPr/>
          <p:nvPr/>
        </p:nvSpPr>
        <p:spPr>
          <a:xfrm>
            <a:off x="164520" y="155160"/>
            <a:ext cx="360" cy="2606040"/>
          </a:xfrm>
          <a:prstGeom prst="line">
            <a:avLst/>
          </a:prstGeom>
          <a:ln w="1404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2"/>
          <p:cNvSpPr/>
          <p:nvPr/>
        </p:nvSpPr>
        <p:spPr>
          <a:xfrm rot="16200000">
            <a:off x="-45360" y="2880720"/>
            <a:ext cx="15084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 Black"/>
              </a:rPr>
              <a:t>CUAI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3"/>
          <p:cNvSpPr/>
          <p:nvPr/>
        </p:nvSpPr>
        <p:spPr>
          <a:xfrm>
            <a:off x="4572000" y="2423160"/>
            <a:ext cx="28342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0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Q &amp; A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4"/>
          <p:cNvSpPr/>
          <p:nvPr/>
        </p:nvSpPr>
        <p:spPr>
          <a:xfrm>
            <a:off x="2880360" y="3429000"/>
            <a:ext cx="64004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92A52"/>
                </a:solidFill>
                <a:effectLst/>
                <a:uFillTx/>
                <a:latin typeface="Arial"/>
                <a:ea typeface="Arial"/>
              </a:rPr>
              <a:t>Language Modeling  ·  Task Induction  ·  Bloom Filter  ·  Scaling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PlaceHolder 1"/>
          <p:cNvSpPr>
            <a:spLocks noGrp="1"/>
          </p:cNvSpPr>
          <p:nvPr>
            <p:ph type="sldNum" idx="19"/>
          </p:nvPr>
        </p:nvSpPr>
        <p:spPr>
          <a:xfrm>
            <a:off x="11631168" y="6492240"/>
            <a:ext cx="411480" cy="164592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00" b="0" u="none" strike="noStrike">
                <a:solidFill>
                  <a:srgbClr val="9CA3AF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750" b="0" u="none" strike="noStrike">
                <a:solidFill>
                  <a:srgbClr val="9CA3AF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</TotalTime>
  <Words>3670</Words>
  <Application>Microsoft Office PowerPoint</Application>
  <PresentationFormat>와이드스크린</PresentationFormat>
  <Paragraphs>370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14</vt:i4>
      </vt:variant>
    </vt:vector>
  </HeadingPairs>
  <TitlesOfParts>
    <vt:vector size="24" baseType="lpstr">
      <vt:lpstr>NanumSquare</vt:lpstr>
      <vt:lpstr>맑은 고딕</vt:lpstr>
      <vt:lpstr>Arial</vt:lpstr>
      <vt:lpstr>Noto Sans</vt:lpstr>
      <vt:lpstr>Symbol</vt:lpstr>
      <vt:lpstr>Times New Roman</vt:lpstr>
      <vt:lpstr>Wingdings</vt:lpstr>
      <vt:lpstr>Office Theme</vt:lpstr>
      <vt:lpstr>Office Theme</vt:lpstr>
      <vt:lpstr>1_Office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CUAI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경환 이</cp:lastModifiedBy>
  <cp:revision>5</cp:revision>
  <dcterms:modified xsi:type="dcterms:W3CDTF">2026-09-08T11:12:26Z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2026-09-07T13:32:24Z</dcterms:created>
  <dc:creator>OpenAI</dc:creator>
  <dc:description/>
  <dc:language>en-US</dc:language>
  <cp:lastModifiedBy>OpenAI</cp:lastModifiedBy>
  <dcterms:modified xsi:type="dcterms:W3CDTF">2026-09-07T13:32:24Z</dcterms:modified>
  <cp:revision>1</cp:revision>
  <dc:subject>GPT-2 paper presentation</dc:subject>
  <dc:title>Language Models are Unsupervised Multitask Learners - 12min Presentation v2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16</vt:r8>
  </property>
  <property fmtid="{D5CDD505-2E9C-101B-9397-08002B2CF9AE}" pid="3" name="PresentationFormat">
    <vt:lpwstr>On-screen Show (16:9)</vt:lpwstr>
  </property>
  <property fmtid="{D5CDD505-2E9C-101B-9397-08002B2CF9AE}" pid="4" name="Slides">
    <vt:r8>16</vt:r8>
  </property>
</Properties>
</file>